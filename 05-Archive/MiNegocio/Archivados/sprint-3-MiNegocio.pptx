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Presentamos el cierre del Sprint 3 de MiNegocio: resolución de deuda técnica, CI/CD completo, rediseño de frontend, dashboard de ventas, gestión de usuarios y CRUD de proveedores. Equipo de cuatro integrantes.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Sprint 3 se organizó en cinco historias de usuario: deuda técnica y CI/CD, rediseño de frontend con navegación y kanban, dashboard de ventas con estadísticas, gestión de usuarios por el administrador, y un CRUD de proveedores. Todo entregado en 17 días hábiles.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Resolvimos las vulnerabilidades críticas: contraseñas con bcrypt, JWT_SECRET por variable de entorno sin fallback, y control de acceso por rol con middleware. También limpiamos código muerto y unificamos comentarios en español.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pipeline corre en Jenkins para frontend, backend y base de datos: checkout, tests, build de imagen Docker multi-arquitectura y deploy. El deploy a producción ahora exige confirmación manual, y descubrimos y corregimos un fallo crítico donde cualquier rama podía sobrescribir producción.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Rediseñamos la navegación con NavBar y SideBar colapsable, y migramos el Kanban de columnas por nivel de stock a columnas por ubicación física, con tarjetas ricas y un modal para agregar productos. Todo con animaciones cuidadas y responsive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nuevo dashboard principal muestra KPIs clave: productos totales, ventas del día, stock bajo y productos agotados, con enlaces rápidos a las secciones principales y las últimas cinco ventas registradas.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dashboard de ventas incorpora estadísticas del período: resumen de ventas hoy y mes, ticket promedio y producto top, top de productos vendidos con barras proporcionales, y una tendencia mensual en gráfico de línea SVG. Los datos se pueden descargar como PDF o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agregó gestión de usuarios exclusiva para administradores: creación de cuentas de vendedor con validaciones, listado de usuarios existentes y opción de desactivar sin eliminar. No hay registro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Agregamos un CRUD de proveedores: nombre, RUT, email, teléfono y dirección. Al registrar un producto se puede asociar un proveedor, y si el proveedor se elimina, el producto queda sin proveedor en vez de eliminarse en cascada.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calidad, el frontend suma 88 tests con Vitest, cubriendo NavBar, SideBar, Kanban y flujos de integración de login. El backend corre SonarQube en el pipeline. Y todas las páginas revisadas cumplen validaciones y mensajes de error en español.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stack se mantiene: Vue 3 en frontend, Go con gorilla/mux en backend, PostgreSQL 16 y Docker con Jenkins, Gitea, Nginx y SonarQube en infraestructura.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 Cierre de la presentación final del Sprint 3 de MiNegocio.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415842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SISTEMA WEB DE GESTIÓN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686163" y="857250"/>
            <a:ext cx="7636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14400" y="2545110"/>
            <a:ext cx="16952976" cy="2986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685"/>
              </a:lnSpc>
              <a:buNone/>
            </a:pPr>
            <a:r>
              <a:rPr lang="en-US" sz="12900" b="1" spc="-58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MiNegocio </a:t>
            </a:r>
            <a:pPr algn="l" indent="0" marL="0">
              <a:lnSpc>
                <a:spcPct val="70685"/>
              </a:lnSpc>
              <a:buNone/>
            </a:pPr>
            <a:r>
              <a:rPr lang="en-US" sz="12900" b="1" spc="-580" kern="0" dirty="0">
                <a:solidFill>
                  <a:srgbClr val="D6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Sprint 3</a:t>
            </a:r>
            <a:endParaRPr lang="en-US" sz="12900" dirty="0"/>
          </a:p>
        </p:txBody>
      </p:sp>
      <p:sp>
        <p:nvSpPr>
          <p:cNvPr id="5" name="Text 3"/>
          <p:cNvSpPr/>
          <p:nvPr/>
        </p:nvSpPr>
        <p:spPr>
          <a:xfrm>
            <a:off x="914400" y="5913090"/>
            <a:ext cx="1059561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961"/>
              </a:lnSpc>
              <a:buNone/>
            </a:pPr>
            <a:r>
              <a:rPr lang="en-US" sz="3000" dirty="0">
                <a:solidFill>
                  <a:srgbClr val="C9C9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Deuda técnica, CI/CD, rediseño y nuevas funcionalidades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8315325"/>
            <a:ext cx="16459200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8648700"/>
            <a:ext cx="95782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0" kern="0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PRESENTAN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9058275"/>
            <a:ext cx="95782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Gabriel Flores · Ignacio Varela · Nicolás Valdés · Victor Herrera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6764000" y="8820150"/>
            <a:ext cx="609600" cy="609600"/>
          </a:xfrm>
          <a:prstGeom prst="rect">
            <a:avLst/>
          </a:prstGeom>
          <a:solidFill>
            <a:srgbClr val="D600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66825"/>
            <a:ext cx="16459200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1576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 SPRINT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506700" y="771525"/>
            <a:ext cx="20535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MiNegocio · 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19250"/>
            <a:ext cx="1810512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826"/>
              </a:lnSpc>
              <a:buNone/>
            </a:pPr>
            <a:r>
              <a:rPr lang="en-US" sz="5400" b="1" spc="-108" kern="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Cinco historias de usuario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4412159"/>
            <a:ext cx="3124200" cy="2381250"/>
          </a:xfrm>
          <a:prstGeom prst="roundRect">
            <a:avLst>
              <a:gd name="adj" fmla="val 2400"/>
            </a:avLst>
          </a:prstGeom>
          <a:ln w="9525">
            <a:solidFill>
              <a:srgbClr val="E6E6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525" y="4688384"/>
            <a:ext cx="29127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52525" y="5059859"/>
            <a:ext cx="2727389" cy="607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41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Deuda técnica y CI/CD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52525" y="5743575"/>
            <a:ext cx="2727389" cy="5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00"/>
              </a:lnSpc>
              <a:buNone/>
            </a:pPr>
            <a:r>
              <a:rPr lang="en-US" sz="1425" dirty="0">
                <a:solidFill>
                  <a:srgbClr val="6B6B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Seguridad, logs, pipelines Jenkins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4248150" y="4412159"/>
            <a:ext cx="3124200" cy="2381250"/>
          </a:xfrm>
          <a:prstGeom prst="roundRect">
            <a:avLst>
              <a:gd name="adj" fmla="val 2400"/>
            </a:avLst>
          </a:prstGeom>
          <a:ln w="9525">
            <a:solidFill>
              <a:srgbClr val="E6E6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6275" y="4688384"/>
            <a:ext cx="29127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6275" y="5059859"/>
            <a:ext cx="291274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41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Rediseño de frontend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486275" y="5458867"/>
            <a:ext cx="2727389" cy="5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00"/>
              </a:lnSpc>
              <a:buNone/>
            </a:pPr>
            <a:r>
              <a:rPr lang="en-US" sz="1425" dirty="0">
                <a:solidFill>
                  <a:srgbClr val="6B6B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Navegación, kanban, dashboard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7581900" y="4412159"/>
            <a:ext cx="3124200" cy="2381250"/>
          </a:xfrm>
          <a:prstGeom prst="roundRect">
            <a:avLst>
              <a:gd name="adj" fmla="val 2400"/>
            </a:avLst>
          </a:prstGeom>
          <a:ln w="9525">
            <a:solidFill>
              <a:srgbClr val="E6E6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20025" y="4688384"/>
            <a:ext cx="29127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20025" y="5059859"/>
            <a:ext cx="291274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41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 de ventas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820025" y="5458867"/>
            <a:ext cx="291274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00"/>
              </a:lnSpc>
              <a:buNone/>
            </a:pPr>
            <a:r>
              <a:rPr lang="en-US" sz="1425" dirty="0">
                <a:solidFill>
                  <a:srgbClr val="6B6B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Estadísticas y reportes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10915650" y="4412159"/>
            <a:ext cx="3124200" cy="2381250"/>
          </a:xfrm>
          <a:prstGeom prst="roundRect">
            <a:avLst>
              <a:gd name="adj" fmla="val 2400"/>
            </a:avLst>
          </a:prstGeom>
          <a:ln w="9525">
            <a:solidFill>
              <a:srgbClr val="E6E6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3775" y="4688384"/>
            <a:ext cx="29127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53775" y="5059859"/>
            <a:ext cx="291274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41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Gestión de usuarios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153775" y="5458867"/>
            <a:ext cx="291274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00"/>
              </a:lnSpc>
              <a:buNone/>
            </a:pPr>
            <a:r>
              <a:rPr lang="en-US" sz="1425" dirty="0">
                <a:solidFill>
                  <a:srgbClr val="6B6B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Creación por administrador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14249400" y="4412159"/>
            <a:ext cx="3124200" cy="2381250"/>
          </a:xfrm>
          <a:prstGeom prst="roundRect">
            <a:avLst>
              <a:gd name="adj" fmla="val 2400"/>
            </a:avLst>
          </a:prstGeom>
          <a:ln w="9525">
            <a:solidFill>
              <a:srgbClr val="E6E6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87525" y="4688384"/>
            <a:ext cx="29127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487525" y="5059859"/>
            <a:ext cx="291274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41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CRUD de proveedores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4487525" y="5458867"/>
            <a:ext cx="291274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00"/>
              </a:lnSpc>
              <a:buNone/>
            </a:pPr>
            <a:r>
              <a:rPr lang="en-US" sz="1425" dirty="0">
                <a:solidFill>
                  <a:srgbClr val="6B6B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Trazabilidad en productos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914400" y="8886825"/>
            <a:ext cx="16459200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9248775"/>
            <a:ext cx="11476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DURACIÓN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2138214" y="9201150"/>
            <a:ext cx="51858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 días hábiles · 23 junio → 10 julio 2026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66825"/>
            <a:ext cx="16459200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7133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HU01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506700" y="771525"/>
            <a:ext cx="20535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MiNegocio · 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19250"/>
            <a:ext cx="1810512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826"/>
              </a:lnSpc>
              <a:buNone/>
            </a:pPr>
            <a:r>
              <a:rPr lang="en-US" sz="5400" b="1" spc="-108" kern="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Deuda técnica resuelta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4045446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7" name="Text 5"/>
          <p:cNvSpPr/>
          <p:nvPr/>
        </p:nvSpPr>
        <p:spPr>
          <a:xfrm>
            <a:off x="1209675" y="3921621"/>
            <a:ext cx="781916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Contraseñas migradas a </a:t>
            </a:r>
            <a:pPr algn="l" indent="0" marL="0">
              <a:lnSpc>
                <a:spcPct val="107692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bcrypt </a:t>
            </a:r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con script de migración de usuarios existentes.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112246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9" name="Text 7"/>
          <p:cNvSpPr/>
          <p:nvPr/>
        </p:nvSpPr>
        <p:spPr>
          <a:xfrm>
            <a:off x="1209675" y="4988421"/>
            <a:ext cx="781916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JWT_SECRET </a:t>
            </a:r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variable de entorno: el servidor no arranca sin ella.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6179046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209675" y="6055221"/>
            <a:ext cx="781916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 de acceso por </a:t>
            </a:r>
            <a:pPr algn="l" indent="0" marL="0">
              <a:lnSpc>
                <a:spcPct val="107692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rol </a:t>
            </a:r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middleware valida admin/vendedor por ruta.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7245846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209675" y="7122021"/>
            <a:ext cx="781916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Limpieza de código muerto y comentarios unificados en español.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486900" y="3845719"/>
            <a:ext cx="7886700" cy="2158008"/>
          </a:xfrm>
          <a:prstGeom prst="roundRect">
            <a:avLst>
              <a:gd name="adj" fmla="val 3531"/>
            </a:avLst>
          </a:prstGeom>
          <a:solidFill>
            <a:srgbClr val="0E0E0E"/>
          </a:solidFill>
          <a:ln/>
        </p:spPr>
      </p:sp>
      <p:sp>
        <p:nvSpPr>
          <p:cNvPr id="15" name="Text 13"/>
          <p:cNvSpPr/>
          <p:nvPr/>
        </p:nvSpPr>
        <p:spPr>
          <a:xfrm>
            <a:off x="9829800" y="4169569"/>
            <a:ext cx="79209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829800" y="4560094"/>
            <a:ext cx="7416927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89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Logging estructurado a archivo con rotación diaria: peticiones HTTP, errores de BD, eventos de autenticación.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486900" y="6213277"/>
            <a:ext cx="7886700" cy="1784747"/>
          </a:xfrm>
          <a:prstGeom prst="roundRect">
            <a:avLst>
              <a:gd name="adj" fmla="val 4270"/>
            </a:avLst>
          </a:prstGeom>
          <a:solidFill>
            <a:srgbClr val="F4F4F2"/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0" y="6537127"/>
            <a:ext cx="79209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DOCUMENTACIÓN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29800" y="6927652"/>
            <a:ext cx="7416927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89"/>
              </a:lnSpc>
              <a:buNone/>
            </a:pPr>
            <a:r>
              <a:rPr lang="en-US" sz="2100" dirty="0">
                <a:solidFill>
                  <a:srgbClr val="3A3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READMEs reescritos y endpoints documentados en PDF con ejemplos de request/response.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66825"/>
            <a:ext cx="16459200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7133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HU01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506700" y="771525"/>
            <a:ext cx="20535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MiNegocio · 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19250"/>
            <a:ext cx="1810512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826"/>
              </a:lnSpc>
              <a:buNone/>
            </a:pPr>
            <a:r>
              <a:rPr lang="en-US" sz="5400" b="1" spc="-108" kern="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Pipeline CI/CD con Jenkins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4093071"/>
            <a:ext cx="3657600" cy="1876425"/>
          </a:xfrm>
          <a:prstGeom prst="roundRect">
            <a:avLst>
              <a:gd name="adj" fmla="val 4061"/>
            </a:avLst>
          </a:prstGeom>
          <a:ln w="9525">
            <a:solidFill>
              <a:srgbClr val="E6E6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1575" y="4369296"/>
            <a:ext cx="34575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71575" y="4740771"/>
            <a:ext cx="34575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Checkout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71575" y="5197971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Push a main dispara el webhook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24400" y="4093071"/>
            <a:ext cx="381000" cy="1914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6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181600" y="4093071"/>
            <a:ext cx="3657600" cy="1876425"/>
          </a:xfrm>
          <a:prstGeom prst="roundRect">
            <a:avLst>
              <a:gd name="adj" fmla="val 4061"/>
            </a:avLst>
          </a:prstGeom>
          <a:ln w="9525">
            <a:solidFill>
              <a:srgbClr val="E6E6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38775" y="4369296"/>
            <a:ext cx="34575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38775" y="4740771"/>
            <a:ext cx="34575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38775" y="5197971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 + frontend (Vitest)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91600" y="4093071"/>
            <a:ext cx="381000" cy="1914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6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448800" y="4093071"/>
            <a:ext cx="3657600" cy="1876425"/>
          </a:xfrm>
          <a:prstGeom prst="roundRect">
            <a:avLst>
              <a:gd name="adj" fmla="val 4061"/>
            </a:avLst>
          </a:prstGeom>
          <a:ln w="9525">
            <a:solidFill>
              <a:srgbClr val="E6E6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5975" y="4369296"/>
            <a:ext cx="34575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705975" y="4740771"/>
            <a:ext cx="34575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Docker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705975" y="5197971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Multi-arquitectura (amd64)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0" y="4093071"/>
            <a:ext cx="381000" cy="1914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6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3716000" y="4093071"/>
            <a:ext cx="3657600" cy="1876425"/>
          </a:xfrm>
          <a:prstGeom prst="roundRect">
            <a:avLst>
              <a:gd name="adj" fmla="val 4061"/>
            </a:avLst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973175" y="4369296"/>
            <a:ext cx="34575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973175" y="4740771"/>
            <a:ext cx="34575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Deploy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973175" y="5197971"/>
            <a:ext cx="323754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Confirmación manual + gate a main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6350496"/>
            <a:ext cx="5359301" cy="1400175"/>
          </a:xfrm>
          <a:prstGeom prst="roundRect">
            <a:avLst>
              <a:gd name="adj" fmla="val 5442"/>
            </a:avLst>
          </a:prstGeom>
          <a:solidFill>
            <a:srgbClr val="F4F4F2"/>
          </a:solidFill>
          <a:ln/>
        </p:spPr>
      </p:sp>
      <p:sp>
        <p:nvSpPr>
          <p:cNvPr id="26" name="Text 24"/>
          <p:cNvSpPr/>
          <p:nvPr/>
        </p:nvSpPr>
        <p:spPr>
          <a:xfrm>
            <a:off x="1181100" y="6598146"/>
            <a:ext cx="53084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Usuario dedicado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1100" y="6969621"/>
            <a:ext cx="497067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PostgreSQL y Jenkins con permisos mínimos, sin sudo.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64201" y="6350496"/>
            <a:ext cx="5359450" cy="1400175"/>
          </a:xfrm>
          <a:prstGeom prst="roundRect">
            <a:avLst>
              <a:gd name="adj" fmla="val 5442"/>
            </a:avLst>
          </a:prstGeom>
          <a:solidFill>
            <a:srgbClr val="F4F4F2"/>
          </a:solidFill>
          <a:ln/>
        </p:spPr>
      </p:sp>
      <p:sp>
        <p:nvSpPr>
          <p:cNvPr id="29" name="Text 27"/>
          <p:cNvSpPr/>
          <p:nvPr/>
        </p:nvSpPr>
        <p:spPr>
          <a:xfrm>
            <a:off x="6730901" y="6598146"/>
            <a:ext cx="53086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Gate crítico corregido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30901" y="6969621"/>
            <a:ext cx="53086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Deploy a prod ya no se ejecuta desde ramas WIP.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2014150" y="6350496"/>
            <a:ext cx="5359450" cy="1400175"/>
          </a:xfrm>
          <a:prstGeom prst="roundRect">
            <a:avLst>
              <a:gd name="adj" fmla="val 5442"/>
            </a:avLst>
          </a:prstGeom>
          <a:solidFill>
            <a:srgbClr val="F4F4F2"/>
          </a:solidFill>
          <a:ln/>
        </p:spPr>
      </p:sp>
      <p:sp>
        <p:nvSpPr>
          <p:cNvPr id="32" name="Text 30"/>
          <p:cNvSpPr/>
          <p:nvPr/>
        </p:nvSpPr>
        <p:spPr>
          <a:xfrm>
            <a:off x="12280850" y="6598146"/>
            <a:ext cx="53086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SonarQube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280850" y="6969621"/>
            <a:ext cx="53086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Análisis estático integrado al pipeline.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66825"/>
            <a:ext cx="16459200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7133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HU02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506700" y="771525"/>
            <a:ext cx="20535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MiNegocio · 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19250"/>
            <a:ext cx="1810512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826"/>
              </a:lnSpc>
              <a:buNone/>
            </a:pPr>
            <a:r>
              <a:rPr lang="en-US" sz="5400" b="1" spc="-108" kern="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Navegación y Kanban rediseñados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4127599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7" name="Text 5"/>
          <p:cNvSpPr/>
          <p:nvPr/>
        </p:nvSpPr>
        <p:spPr>
          <a:xfrm>
            <a:off x="1209675" y="4003774"/>
            <a:ext cx="781916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Sidebar </a:t>
            </a:r>
            <a:pPr algn="l" indent="0" marL="0">
              <a:lnSpc>
                <a:spcPct val="109730"/>
              </a:lnSpc>
              <a:buNone/>
            </a:pPr>
            <a:r>
              <a:rPr lang="en-US" sz="2175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colapsable </a:t>
            </a:r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 animación de despliegue y breakpoints responsivos.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14400" y="5148560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9" name="Text 7"/>
          <p:cNvSpPr/>
          <p:nvPr/>
        </p:nvSpPr>
        <p:spPr>
          <a:xfrm>
            <a:off x="1209675" y="5024735"/>
            <a:ext cx="781916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Kanban migrado a columnas por </a:t>
            </a:r>
            <a:pPr algn="l" indent="0" marL="0">
              <a:lnSpc>
                <a:spcPct val="109730"/>
              </a:lnSpc>
              <a:buNone/>
            </a:pPr>
            <a:r>
              <a:rPr lang="en-US" sz="2175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ubicación física </a:t>
            </a:r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(antes, por nivel de stock).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14400" y="6169521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209675" y="6045696"/>
            <a:ext cx="781916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Tarjetas ricas: imagen, código de barras, categoría, precio y badge de stock.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14400" y="7190482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209675" y="7066657"/>
            <a:ext cx="781916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Modal para agregar productos a una ubicación, con búsqueda local.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486900" y="5221784"/>
            <a:ext cx="2527250" cy="1400175"/>
          </a:xfrm>
          <a:prstGeom prst="roundRect">
            <a:avLst>
              <a:gd name="adj" fmla="val 5442"/>
            </a:avLst>
          </a:prstGeom>
          <a:solidFill>
            <a:srgbClr val="F4F4F2"/>
          </a:solidFill>
          <a:ln/>
        </p:spPr>
      </p:sp>
      <p:sp>
        <p:nvSpPr>
          <p:cNvPr id="15" name="Text 13"/>
          <p:cNvSpPr/>
          <p:nvPr/>
        </p:nvSpPr>
        <p:spPr>
          <a:xfrm>
            <a:off x="9677400" y="5412284"/>
            <a:ext cx="23608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Pasillo 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77400" y="5698034"/>
            <a:ext cx="2146250" cy="73342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791700" y="5812334"/>
            <a:ext cx="210941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Café 250g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791700" y="6088559"/>
            <a:ext cx="350639" cy="228600"/>
          </a:xfrm>
          <a:prstGeom prst="roundRect">
            <a:avLst>
              <a:gd name="adj" fmla="val 50000"/>
            </a:avLst>
          </a:prstGeom>
          <a:solidFill>
            <a:srgbClr val="1F8A4C"/>
          </a:solidFill>
          <a:ln/>
        </p:spPr>
      </p:sp>
      <p:sp>
        <p:nvSpPr>
          <p:cNvPr id="19" name="Text 17"/>
          <p:cNvSpPr/>
          <p:nvPr/>
        </p:nvSpPr>
        <p:spPr>
          <a:xfrm>
            <a:off x="9886950" y="6117134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2166550" y="5221784"/>
            <a:ext cx="2527250" cy="1400175"/>
          </a:xfrm>
          <a:prstGeom prst="roundRect">
            <a:avLst>
              <a:gd name="adj" fmla="val 5442"/>
            </a:avLst>
          </a:prstGeom>
          <a:solidFill>
            <a:srgbClr val="F4F4F2"/>
          </a:solidFill>
          <a:ln/>
        </p:spPr>
      </p:sp>
      <p:sp>
        <p:nvSpPr>
          <p:cNvPr id="21" name="Text 19"/>
          <p:cNvSpPr/>
          <p:nvPr/>
        </p:nvSpPr>
        <p:spPr>
          <a:xfrm>
            <a:off x="12357050" y="5412284"/>
            <a:ext cx="23608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Bodega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357050" y="5698034"/>
            <a:ext cx="2146250" cy="73342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471350" y="5812334"/>
            <a:ext cx="210941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Azúcar 1kg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2471350" y="6088559"/>
            <a:ext cx="270570" cy="22860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25" name="Text 23"/>
          <p:cNvSpPr/>
          <p:nvPr/>
        </p:nvSpPr>
        <p:spPr>
          <a:xfrm>
            <a:off x="12566600" y="6117134"/>
            <a:ext cx="1562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4846201" y="5221784"/>
            <a:ext cx="2527399" cy="1400175"/>
          </a:xfrm>
          <a:prstGeom prst="roundRect">
            <a:avLst>
              <a:gd name="adj" fmla="val 5442"/>
            </a:avLst>
          </a:prstGeom>
          <a:solidFill>
            <a:srgbClr val="F4F4F2"/>
          </a:solidFill>
          <a:ln/>
        </p:spPr>
      </p:sp>
      <p:sp>
        <p:nvSpPr>
          <p:cNvPr id="27" name="Text 25"/>
          <p:cNvSpPr/>
          <p:nvPr/>
        </p:nvSpPr>
        <p:spPr>
          <a:xfrm>
            <a:off x="15036701" y="5412284"/>
            <a:ext cx="23610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Vitrina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5036701" y="5698034"/>
            <a:ext cx="2146399" cy="73342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5151001" y="5812334"/>
            <a:ext cx="21095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Galletas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5151001" y="6088559"/>
            <a:ext cx="270570" cy="228600"/>
          </a:xfrm>
          <a:prstGeom prst="ellipse">
            <a:avLst/>
          </a:prstGeom>
          <a:solidFill>
            <a:srgbClr val="D6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15246251" y="6117134"/>
            <a:ext cx="1562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66825"/>
            <a:ext cx="16459200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7133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HU02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506700" y="771525"/>
            <a:ext cx="20535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MiNegocio · 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19250"/>
            <a:ext cx="1810512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826"/>
              </a:lnSpc>
              <a:buNone/>
            </a:pPr>
            <a:r>
              <a:rPr lang="en-US" sz="5400" b="1" spc="-108" kern="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 principal con KPIs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4593134"/>
            <a:ext cx="3957638" cy="1714500"/>
          </a:xfrm>
          <a:prstGeom prst="roundRect">
            <a:avLst>
              <a:gd name="adj" fmla="val 4444"/>
            </a:avLst>
          </a:prstGeom>
          <a:solidFill>
            <a:srgbClr val="0E0E0E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4897934"/>
            <a:ext cx="37247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Productos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00150" y="5269409"/>
            <a:ext cx="3724751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D6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248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5081588" y="4593134"/>
            <a:ext cx="3957638" cy="1714500"/>
          </a:xfrm>
          <a:prstGeom prst="roundRect">
            <a:avLst>
              <a:gd name="adj" fmla="val 4444"/>
            </a:avLst>
          </a:prstGeom>
          <a:solidFill>
            <a:srgbClr val="F4F4F2"/>
          </a:solidFill>
          <a:ln/>
        </p:spPr>
      </p:sp>
      <p:sp>
        <p:nvSpPr>
          <p:cNvPr id="10" name="Text 8"/>
          <p:cNvSpPr/>
          <p:nvPr/>
        </p:nvSpPr>
        <p:spPr>
          <a:xfrm>
            <a:off x="5367338" y="4897934"/>
            <a:ext cx="37247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Ventas hoy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67338" y="5269409"/>
            <a:ext cx="3724751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36</a:t>
            </a:r>
            <a:endParaRPr lang="en-US" sz="4500" dirty="0"/>
          </a:p>
        </p:txBody>
      </p:sp>
      <p:sp>
        <p:nvSpPr>
          <p:cNvPr id="12" name="Shape 10"/>
          <p:cNvSpPr/>
          <p:nvPr/>
        </p:nvSpPr>
        <p:spPr>
          <a:xfrm>
            <a:off x="9248775" y="4593134"/>
            <a:ext cx="3957638" cy="1714500"/>
          </a:xfrm>
          <a:prstGeom prst="roundRect">
            <a:avLst>
              <a:gd name="adj" fmla="val 4444"/>
            </a:avLst>
          </a:prstGeom>
          <a:solidFill>
            <a:srgbClr val="F4F4F2"/>
          </a:solidFill>
          <a:ln/>
        </p:spPr>
      </p:sp>
      <p:sp>
        <p:nvSpPr>
          <p:cNvPr id="13" name="Text 11"/>
          <p:cNvSpPr/>
          <p:nvPr/>
        </p:nvSpPr>
        <p:spPr>
          <a:xfrm>
            <a:off x="9534525" y="4897934"/>
            <a:ext cx="37247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Stock bajo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534525" y="5269409"/>
            <a:ext cx="3724751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08A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13415963" y="4593134"/>
            <a:ext cx="3957638" cy="1714500"/>
          </a:xfrm>
          <a:prstGeom prst="roundRect">
            <a:avLst>
              <a:gd name="adj" fmla="val 4444"/>
            </a:avLst>
          </a:prstGeom>
          <a:solidFill>
            <a:srgbClr val="F4F4F2"/>
          </a:solidFill>
          <a:ln/>
        </p:spPr>
      </p:sp>
      <p:sp>
        <p:nvSpPr>
          <p:cNvPr id="16" name="Text 14"/>
          <p:cNvSpPr/>
          <p:nvPr/>
        </p:nvSpPr>
        <p:spPr>
          <a:xfrm>
            <a:off x="13701713" y="4897934"/>
            <a:ext cx="37247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Agotados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3701713" y="5269409"/>
            <a:ext cx="3724751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D6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4500" dirty="0"/>
          </a:p>
        </p:txBody>
      </p:sp>
      <p:sp>
        <p:nvSpPr>
          <p:cNvPr id="18" name="Shape 16"/>
          <p:cNvSpPr/>
          <p:nvPr/>
        </p:nvSpPr>
        <p:spPr>
          <a:xfrm>
            <a:off x="914400" y="6650534"/>
            <a:ext cx="16459200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6926759"/>
            <a:ext cx="169529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A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Enlaces rápidos a Galería, Ventas e Inventario, más las </a:t>
            </a:r>
            <a:pPr algn="l" indent="0" marL="0">
              <a:buNone/>
            </a:pPr>
            <a:r>
              <a:rPr lang="en-US" sz="195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últimas 5 ventas </a:t>
            </a:r>
            <a:pPr algn="l" indent="0" marL="0">
              <a:buNone/>
            </a:pPr>
            <a:r>
              <a:rPr lang="en-US" sz="1950" dirty="0">
                <a:solidFill>
                  <a:srgbClr val="5A5A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registradas — todo con CSS nativo, sin librerías externas.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66825"/>
            <a:ext cx="16459200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7133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HU03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506700" y="771525"/>
            <a:ext cx="20535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MiNegocio · 07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19250"/>
            <a:ext cx="1810512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826"/>
              </a:lnSpc>
              <a:buNone/>
            </a:pPr>
            <a:r>
              <a:rPr lang="en-US" sz="5400" b="1" spc="-108" kern="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 de ventas y reportes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4127599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7" name="Text 5"/>
          <p:cNvSpPr/>
          <p:nvPr/>
        </p:nvSpPr>
        <p:spPr>
          <a:xfrm>
            <a:off x="1209675" y="4003774"/>
            <a:ext cx="748560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Resumen: ventas del día/mes, </a:t>
            </a:r>
            <a:pPr algn="l" indent="0" marL="0">
              <a:lnSpc>
                <a:spcPct val="109730"/>
              </a:lnSpc>
              <a:buNone/>
            </a:pPr>
            <a:r>
              <a:rPr lang="en-US" sz="2175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ticket promedio </a:t>
            </a:r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producto top.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14400" y="5148560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9" name="Text 7"/>
          <p:cNvSpPr/>
          <p:nvPr/>
        </p:nvSpPr>
        <p:spPr>
          <a:xfrm>
            <a:off x="1209675" y="5024735"/>
            <a:ext cx="748560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de productos con barras proporcionales al % de ventas.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14400" y="6169521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209675" y="6045696"/>
            <a:ext cx="748560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Tendencia mensual en gráfico de línea SVG con variación %.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14400" y="7190482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209675" y="7066657"/>
            <a:ext cx="748560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Reportes descargables en </a:t>
            </a:r>
            <a:pPr algn="l" indent="0" marL="0">
              <a:lnSpc>
                <a:spcPct val="109730"/>
              </a:lnSpc>
              <a:buNone/>
            </a:pPr>
            <a:r>
              <a:rPr lang="en-US" sz="2175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PDF y Excel </a:t>
            </a:r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rango de fechas.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163050" y="4288334"/>
            <a:ext cx="8210550" cy="3267075"/>
          </a:xfrm>
          <a:prstGeom prst="roundRect">
            <a:avLst>
              <a:gd name="adj" fmla="val 2332"/>
            </a:avLst>
          </a:prstGeom>
          <a:solidFill>
            <a:srgbClr val="0E0E0E"/>
          </a:solidFill>
          <a:ln/>
        </p:spPr>
      </p:sp>
      <p:sp>
        <p:nvSpPr>
          <p:cNvPr id="15" name="Text 13"/>
          <p:cNvSpPr/>
          <p:nvPr/>
        </p:nvSpPr>
        <p:spPr>
          <a:xfrm>
            <a:off x="9486900" y="4631234"/>
            <a:ext cx="100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Café 250g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6741080" y="4631234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38%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486900" y="5021759"/>
            <a:ext cx="7562850" cy="152400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18" name="Shape 16"/>
          <p:cNvSpPr/>
          <p:nvPr/>
        </p:nvSpPr>
        <p:spPr>
          <a:xfrm>
            <a:off x="9486900" y="5021759"/>
            <a:ext cx="2873871" cy="152400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9486900" y="5345609"/>
            <a:ext cx="8992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Galletas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741080" y="5345609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24%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486900" y="5736134"/>
            <a:ext cx="7562850" cy="152400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22" name="Shape 20"/>
          <p:cNvSpPr/>
          <p:nvPr/>
        </p:nvSpPr>
        <p:spPr>
          <a:xfrm>
            <a:off x="9486900" y="5736134"/>
            <a:ext cx="1814959" cy="152400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9486900" y="6059984"/>
            <a:ext cx="1104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Azúcar 1kg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6741080" y="6059984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17%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486900" y="6450509"/>
            <a:ext cx="7562850" cy="152400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26" name="Shape 24"/>
          <p:cNvSpPr/>
          <p:nvPr/>
        </p:nvSpPr>
        <p:spPr>
          <a:xfrm>
            <a:off x="9486900" y="6450509"/>
            <a:ext cx="1285577" cy="152400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9486900" y="6831509"/>
            <a:ext cx="727770" cy="381000"/>
          </a:xfrm>
          <a:prstGeom prst="roundRect">
            <a:avLst>
              <a:gd name="adj" fmla="val 10000"/>
            </a:avLst>
          </a:prstGeom>
          <a:ln w="9525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67875" y="6926759"/>
            <a:ext cx="4420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.pdf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348020" y="6831509"/>
            <a:ext cx="819299" cy="381000"/>
          </a:xfrm>
          <a:prstGeom prst="roundRect">
            <a:avLst>
              <a:gd name="adj" fmla="val 10000"/>
            </a:avLst>
          </a:prstGeom>
          <a:ln w="9525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28995" y="6926759"/>
            <a:ext cx="5335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.xlsx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66825"/>
            <a:ext cx="16459200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7133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HU04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506700" y="771525"/>
            <a:ext cx="20535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MiNegocio · 08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19250"/>
            <a:ext cx="1810512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826"/>
              </a:lnSpc>
              <a:buNone/>
            </a:pPr>
            <a:r>
              <a:rPr lang="en-US" sz="5400" b="1" spc="-108" kern="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Gestión de usuarios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4216896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7" name="Text 5"/>
          <p:cNvSpPr/>
          <p:nvPr/>
        </p:nvSpPr>
        <p:spPr>
          <a:xfrm>
            <a:off x="1209675" y="4093071"/>
            <a:ext cx="78093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 registro público: solo el </a:t>
            </a:r>
            <a:pPr algn="l" indent="0" marL="0">
              <a:lnSpc>
                <a:spcPct val="107692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administrador </a:t>
            </a:r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 cuentas.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302746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9" name="Text 7"/>
          <p:cNvSpPr/>
          <p:nvPr/>
        </p:nvSpPr>
        <p:spPr>
          <a:xfrm>
            <a:off x="1209675" y="5178921"/>
            <a:ext cx="78093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Formulario con validaciones: email válido, contraseña de 8+ caracteres.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6388596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209675" y="6264771"/>
            <a:ext cx="78093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Listado de usuarios con rol y fecha de creación, sin exponer contraseñas.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7474446"/>
            <a:ext cx="104775" cy="104775"/>
          </a:xfrm>
          <a:prstGeom prst="rect">
            <a:avLst/>
          </a:prstGeom>
          <a:solidFill>
            <a:srgbClr val="D6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209675" y="7350621"/>
            <a:ext cx="801168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Desactivar en vez de eliminar: se preserva el historial.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477375" y="4726484"/>
            <a:ext cx="7896225" cy="2390775"/>
          </a:xfrm>
          <a:prstGeom prst="roundRect">
            <a:avLst>
              <a:gd name="adj" fmla="val 3187"/>
            </a:avLst>
          </a:prstGeom>
          <a:ln w="9525">
            <a:solidFill>
              <a:srgbClr val="E6E6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86900" y="4736009"/>
            <a:ext cx="7877175" cy="51435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6" name="Text 14"/>
          <p:cNvSpPr/>
          <p:nvPr/>
        </p:nvSpPr>
        <p:spPr>
          <a:xfrm>
            <a:off x="9715500" y="4888409"/>
            <a:ext cx="408098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Nombre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3425488" y="4888409"/>
            <a:ext cx="204049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5280481" y="4888409"/>
            <a:ext cx="204049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Estado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9486900" y="5250359"/>
            <a:ext cx="7877175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20" name="Text 18"/>
          <p:cNvSpPr/>
          <p:nvPr/>
        </p:nvSpPr>
        <p:spPr>
          <a:xfrm>
            <a:off x="9715500" y="5431334"/>
            <a:ext cx="40809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Carla Muñoz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425488" y="5469434"/>
            <a:ext cx="204049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vendedor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5280481" y="5436096"/>
            <a:ext cx="743099" cy="257175"/>
          </a:xfrm>
          <a:prstGeom prst="roundRect">
            <a:avLst>
              <a:gd name="adj" fmla="val 50000"/>
            </a:avLst>
          </a:prstGeom>
          <a:solidFill>
            <a:srgbClr val="1F8A4C"/>
          </a:solidFill>
          <a:ln/>
        </p:spPr>
      </p:sp>
      <p:sp>
        <p:nvSpPr>
          <p:cNvPr id="23" name="Text 21"/>
          <p:cNvSpPr/>
          <p:nvPr/>
        </p:nvSpPr>
        <p:spPr>
          <a:xfrm>
            <a:off x="15394781" y="5474196"/>
            <a:ext cx="5906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Activo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9486900" y="5869484"/>
            <a:ext cx="7877175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25" name="Text 23"/>
          <p:cNvSpPr/>
          <p:nvPr/>
        </p:nvSpPr>
        <p:spPr>
          <a:xfrm>
            <a:off x="9715500" y="6050459"/>
            <a:ext cx="40809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Diego Rojas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3425488" y="6088559"/>
            <a:ext cx="204049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vendedor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5280481" y="6055221"/>
            <a:ext cx="914549" cy="257175"/>
          </a:xfrm>
          <a:prstGeom prst="roundRect">
            <a:avLst>
              <a:gd name="adj" fmla="val 50000"/>
            </a:avLst>
          </a:prstGeom>
          <a:solidFill>
            <a:srgbClr val="E6E6E3"/>
          </a:solidFill>
          <a:ln/>
        </p:spPr>
      </p:sp>
      <p:sp>
        <p:nvSpPr>
          <p:cNvPr id="28" name="Text 26"/>
          <p:cNvSpPr/>
          <p:nvPr/>
        </p:nvSpPr>
        <p:spPr>
          <a:xfrm>
            <a:off x="15394781" y="6093321"/>
            <a:ext cx="76214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A5A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Inactivo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9486900" y="6488609"/>
            <a:ext cx="7877175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30" name="Text 28"/>
          <p:cNvSpPr/>
          <p:nvPr/>
        </p:nvSpPr>
        <p:spPr>
          <a:xfrm>
            <a:off x="9715500" y="6669584"/>
            <a:ext cx="40809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Equipo MiNegocio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3425488" y="6707684"/>
            <a:ext cx="204049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5280481" y="6674346"/>
            <a:ext cx="743099" cy="257175"/>
          </a:xfrm>
          <a:prstGeom prst="roundRect">
            <a:avLst>
              <a:gd name="adj" fmla="val 50000"/>
            </a:avLst>
          </a:prstGeom>
          <a:solidFill>
            <a:srgbClr val="1F8A4C"/>
          </a:solidFill>
          <a:ln/>
        </p:spPr>
      </p:sp>
      <p:sp>
        <p:nvSpPr>
          <p:cNvPr id="33" name="Text 31"/>
          <p:cNvSpPr/>
          <p:nvPr/>
        </p:nvSpPr>
        <p:spPr>
          <a:xfrm>
            <a:off x="15394781" y="6712446"/>
            <a:ext cx="5906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Activo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66825"/>
            <a:ext cx="16459200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7133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HU05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506700" y="771525"/>
            <a:ext cx="20535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MiNegocio · 09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19250"/>
            <a:ext cx="1810512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826"/>
              </a:lnSpc>
              <a:buNone/>
            </a:pPr>
            <a:r>
              <a:rPr lang="en-US" sz="5400" b="1" spc="-108" kern="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CRUD de proveedores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776960"/>
            <a:ext cx="866489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CAMPOS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4205585"/>
            <a:ext cx="1154460" cy="485775"/>
          </a:xfrm>
          <a:prstGeom prst="roundRect">
            <a:avLst>
              <a:gd name="adj" fmla="val 5882"/>
            </a:avLst>
          </a:prstGeom>
          <a:ln w="9525">
            <a:solidFill>
              <a:srgbClr val="E0E0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4425" y="4310360"/>
            <a:ext cx="8306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nombre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2183160" y="4205585"/>
            <a:ext cx="777329" cy="485775"/>
          </a:xfrm>
          <a:prstGeom prst="roundRect">
            <a:avLst>
              <a:gd name="adj" fmla="val 5882"/>
            </a:avLst>
          </a:prstGeom>
          <a:ln w="9525">
            <a:solidFill>
              <a:srgbClr val="E0E0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83185" y="4310360"/>
            <a:ext cx="4534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074789" y="4205585"/>
            <a:ext cx="1028849" cy="485775"/>
          </a:xfrm>
          <a:prstGeom prst="roundRect">
            <a:avLst>
              <a:gd name="adj" fmla="val 5882"/>
            </a:avLst>
          </a:prstGeom>
          <a:ln w="9525">
            <a:solidFill>
              <a:srgbClr val="E0E0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4814" y="4310360"/>
            <a:ext cx="7049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4217938" y="4205585"/>
            <a:ext cx="1405979" cy="485775"/>
          </a:xfrm>
          <a:prstGeom prst="roundRect">
            <a:avLst>
              <a:gd name="adj" fmla="val 5882"/>
            </a:avLst>
          </a:prstGeom>
          <a:ln w="9525">
            <a:solidFill>
              <a:srgbClr val="E0E0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7963" y="4310360"/>
            <a:ext cx="10821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teléfono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738217" y="4205585"/>
            <a:ext cx="1531739" cy="485775"/>
          </a:xfrm>
          <a:prstGeom prst="roundRect">
            <a:avLst>
              <a:gd name="adj" fmla="val 5882"/>
            </a:avLst>
          </a:prstGeom>
          <a:ln w="9525">
            <a:solidFill>
              <a:srgbClr val="E0E0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38242" y="4310360"/>
            <a:ext cx="12078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dirección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14400" y="5034260"/>
            <a:ext cx="7877175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291435"/>
            <a:ext cx="86648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Trazabilidad en productos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14400" y="5739110"/>
            <a:ext cx="8113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1800" dirty="0">
                <a:solidFill>
                  <a:srgbClr val="5A5A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Selector de proveedor al registrar un producto; el nombre queda visible en la tabla.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6721971"/>
            <a:ext cx="7877175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6979146"/>
            <a:ext cx="86648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 DELETE SET NULL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14400" y="7426821"/>
            <a:ext cx="8113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1800" dirty="0">
                <a:solidFill>
                  <a:srgbClr val="5A5A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Eliminar un proveedor no elimina sus productos: quedan como “sin proveedor”.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77375" y="4740771"/>
            <a:ext cx="7896225" cy="2362200"/>
          </a:xfrm>
          <a:prstGeom prst="roundRect">
            <a:avLst>
              <a:gd name="adj" fmla="val 3226"/>
            </a:avLst>
          </a:prstGeom>
          <a:ln w="9525">
            <a:solidFill>
              <a:srgbClr val="E6E6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4750296"/>
            <a:ext cx="7877175" cy="51435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25" name="Text 23"/>
          <p:cNvSpPr/>
          <p:nvPr/>
        </p:nvSpPr>
        <p:spPr>
          <a:xfrm>
            <a:off x="9715500" y="4902696"/>
            <a:ext cx="370985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Nombre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13088094" y="4902696"/>
            <a:ext cx="185500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RUT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4774466" y="4902696"/>
            <a:ext cx="25971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9486900" y="5264646"/>
            <a:ext cx="7877175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29" name="Text 27"/>
          <p:cNvSpPr/>
          <p:nvPr/>
        </p:nvSpPr>
        <p:spPr>
          <a:xfrm>
            <a:off x="9715500" y="5445621"/>
            <a:ext cx="37098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Distribuidora Andes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13088094" y="5478959"/>
            <a:ext cx="18550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76.123.4-5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774466" y="5478959"/>
            <a:ext cx="2597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ventas@andes.cl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86900" y="5874246"/>
            <a:ext cx="7877175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33" name="Text 31"/>
          <p:cNvSpPr/>
          <p:nvPr/>
        </p:nvSpPr>
        <p:spPr>
          <a:xfrm>
            <a:off x="9715500" y="6055221"/>
            <a:ext cx="37098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Café del Valle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13088094" y="6088559"/>
            <a:ext cx="18550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77.890.1-2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4774466" y="6088559"/>
            <a:ext cx="2597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contacto@cdv.cl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486900" y="6483846"/>
            <a:ext cx="7877175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37" name="Text 35"/>
          <p:cNvSpPr/>
          <p:nvPr/>
        </p:nvSpPr>
        <p:spPr>
          <a:xfrm>
            <a:off x="9715500" y="6664821"/>
            <a:ext cx="37098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Insumos del Sur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13088094" y="6698159"/>
            <a:ext cx="18550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78.456.7-8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774466" y="6698159"/>
            <a:ext cx="2597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hola@isur.cl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66825"/>
            <a:ext cx="16459200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11910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CALIDAD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506700" y="771525"/>
            <a:ext cx="20535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MiNegocio · 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19250"/>
            <a:ext cx="1810512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826"/>
              </a:lnSpc>
              <a:buNone/>
            </a:pPr>
            <a:r>
              <a:rPr lang="en-US" sz="5400" b="1" spc="-108" kern="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Testing y calidad de código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4773216"/>
            <a:ext cx="5181600" cy="2297311"/>
          </a:xfrm>
          <a:prstGeom prst="roundRect">
            <a:avLst>
              <a:gd name="adj" fmla="val 3317"/>
            </a:avLst>
          </a:prstGeom>
          <a:solidFill>
            <a:srgbClr val="0E0E0E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5135166"/>
            <a:ext cx="4861560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754"/>
              </a:lnSpc>
              <a:buNone/>
            </a:pPr>
            <a:r>
              <a:rPr lang="en-US" sz="7200" b="1" spc="-144" kern="0" dirty="0">
                <a:solidFill>
                  <a:srgbClr val="D6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88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295400" y="6098977"/>
            <a:ext cx="4861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Tests frontend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" y="6479977"/>
            <a:ext cx="48615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Vitest — NavBar, SideBar, Kanban, login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6553200" y="5037981"/>
            <a:ext cx="5181600" cy="1767780"/>
          </a:xfrm>
          <a:prstGeom prst="roundRect">
            <a:avLst>
              <a:gd name="adj" fmla="val 4310"/>
            </a:avLst>
          </a:prstGeom>
          <a:solidFill>
            <a:srgbClr val="F4F4F2"/>
          </a:solidFill>
          <a:ln/>
        </p:spPr>
      </p:sp>
      <p:sp>
        <p:nvSpPr>
          <p:cNvPr id="11" name="Text 9"/>
          <p:cNvSpPr/>
          <p:nvPr/>
        </p:nvSpPr>
        <p:spPr>
          <a:xfrm>
            <a:off x="6934200" y="5399931"/>
            <a:ext cx="4861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SonarQube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34200" y="5857131"/>
            <a:ext cx="4552188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Análisis estático integrado al pipeline de Jenkins, frontend y backend.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2192000" y="5037981"/>
            <a:ext cx="5181600" cy="1767780"/>
          </a:xfrm>
          <a:prstGeom prst="roundRect">
            <a:avLst>
              <a:gd name="adj" fmla="val 4310"/>
            </a:avLst>
          </a:prstGeom>
          <a:solidFill>
            <a:srgbClr val="F4F4F2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0" y="5399931"/>
            <a:ext cx="4861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Validaciones globales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573000" y="5857131"/>
            <a:ext cx="4552188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Formularios y errores de API con mensajes claros, en español.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66825"/>
            <a:ext cx="16459200" cy="9525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19270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TECNOLOGÍAS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506700" y="771525"/>
            <a:ext cx="20535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9A9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MiNegocio · 11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19250"/>
            <a:ext cx="1810512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826"/>
              </a:lnSpc>
              <a:buNone/>
            </a:pPr>
            <a:r>
              <a:rPr lang="en-US" sz="5400" b="1" spc="-108" kern="0" dirty="0">
                <a:solidFill>
                  <a:srgbClr val="1414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 tecnológico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4474071"/>
            <a:ext cx="7886700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721721"/>
            <a:ext cx="86753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21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FRONTEND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914400" y="5197971"/>
            <a:ext cx="1516410" cy="514350"/>
          </a:xfrm>
          <a:prstGeom prst="roundRect">
            <a:avLst>
              <a:gd name="adj" fmla="val 5556"/>
            </a:avLst>
          </a:prstGeom>
          <a:solidFill>
            <a:srgbClr val="F4F4F2"/>
          </a:solidFill>
          <a:ln/>
        </p:spPr>
      </p:sp>
      <p:sp>
        <p:nvSpPr>
          <p:cNvPr id="9" name="Text 7"/>
          <p:cNvSpPr/>
          <p:nvPr/>
        </p:nvSpPr>
        <p:spPr>
          <a:xfrm>
            <a:off x="1123950" y="5302746"/>
            <a:ext cx="11735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Vue.js 3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45110" y="5197971"/>
            <a:ext cx="1790700" cy="514350"/>
          </a:xfrm>
          <a:prstGeom prst="roundRect">
            <a:avLst>
              <a:gd name="adj" fmla="val 5556"/>
            </a:avLst>
          </a:prstGeom>
          <a:solidFill>
            <a:srgbClr val="F4F4F2"/>
          </a:solidFill>
          <a:ln/>
        </p:spPr>
      </p:sp>
      <p:sp>
        <p:nvSpPr>
          <p:cNvPr id="11" name="Text 9"/>
          <p:cNvSpPr/>
          <p:nvPr/>
        </p:nvSpPr>
        <p:spPr>
          <a:xfrm>
            <a:off x="2754660" y="5302746"/>
            <a:ext cx="1447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vue-router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450110" y="5197971"/>
            <a:ext cx="1242120" cy="514350"/>
          </a:xfrm>
          <a:prstGeom prst="roundRect">
            <a:avLst>
              <a:gd name="adj" fmla="val 5556"/>
            </a:avLst>
          </a:prstGeom>
          <a:solidFill>
            <a:srgbClr val="F4F4F2"/>
          </a:solidFill>
          <a:ln/>
        </p:spPr>
      </p:sp>
      <p:sp>
        <p:nvSpPr>
          <p:cNvPr id="13" name="Text 11"/>
          <p:cNvSpPr/>
          <p:nvPr/>
        </p:nvSpPr>
        <p:spPr>
          <a:xfrm>
            <a:off x="4659660" y="5302746"/>
            <a:ext cx="89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Vitest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6900" y="4474071"/>
            <a:ext cx="7886700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9486900" y="4721721"/>
            <a:ext cx="86753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21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BACKEND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9486900" y="5197971"/>
            <a:ext cx="693539" cy="514350"/>
          </a:xfrm>
          <a:prstGeom prst="roundRect">
            <a:avLst>
              <a:gd name="adj" fmla="val 5556"/>
            </a:avLst>
          </a:prstGeom>
          <a:solidFill>
            <a:srgbClr val="F4F4F2"/>
          </a:solidFill>
          <a:ln/>
        </p:spPr>
      </p:sp>
      <p:sp>
        <p:nvSpPr>
          <p:cNvPr id="17" name="Text 15"/>
          <p:cNvSpPr/>
          <p:nvPr/>
        </p:nvSpPr>
        <p:spPr>
          <a:xfrm>
            <a:off x="9696450" y="5302746"/>
            <a:ext cx="3506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294739" y="5197971"/>
            <a:ext cx="1927920" cy="514350"/>
          </a:xfrm>
          <a:prstGeom prst="roundRect">
            <a:avLst>
              <a:gd name="adj" fmla="val 5556"/>
            </a:avLst>
          </a:prstGeom>
          <a:solidFill>
            <a:srgbClr val="F4F4F2"/>
          </a:solidFill>
          <a:ln/>
        </p:spPr>
      </p:sp>
      <p:sp>
        <p:nvSpPr>
          <p:cNvPr id="19" name="Text 17"/>
          <p:cNvSpPr/>
          <p:nvPr/>
        </p:nvSpPr>
        <p:spPr>
          <a:xfrm>
            <a:off x="10504289" y="5302746"/>
            <a:ext cx="15850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gorilla/mux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336959" y="5197971"/>
            <a:ext cx="830610" cy="514350"/>
          </a:xfrm>
          <a:prstGeom prst="roundRect">
            <a:avLst>
              <a:gd name="adj" fmla="val 5556"/>
            </a:avLst>
          </a:prstGeom>
          <a:solidFill>
            <a:srgbClr val="F4F4F2"/>
          </a:solidFill>
          <a:ln/>
        </p:spPr>
      </p:sp>
      <p:sp>
        <p:nvSpPr>
          <p:cNvPr id="21" name="Text 19"/>
          <p:cNvSpPr/>
          <p:nvPr/>
        </p:nvSpPr>
        <p:spPr>
          <a:xfrm>
            <a:off x="12546509" y="5302746"/>
            <a:ext cx="4877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JWT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281868" y="5197971"/>
            <a:ext cx="1242120" cy="514350"/>
          </a:xfrm>
          <a:prstGeom prst="roundRect">
            <a:avLst>
              <a:gd name="adj" fmla="val 5556"/>
            </a:avLst>
          </a:prstGeom>
          <a:solidFill>
            <a:srgbClr val="F4F4F2"/>
          </a:solidFill>
          <a:ln/>
        </p:spPr>
      </p:sp>
      <p:sp>
        <p:nvSpPr>
          <p:cNvPr id="23" name="Text 21"/>
          <p:cNvSpPr/>
          <p:nvPr/>
        </p:nvSpPr>
        <p:spPr>
          <a:xfrm>
            <a:off x="13491418" y="5302746"/>
            <a:ext cx="89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bcrypt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6131421"/>
            <a:ext cx="7886700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6379071"/>
            <a:ext cx="86753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21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 DE DATOS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914400" y="6855321"/>
            <a:ext cx="2202210" cy="514350"/>
          </a:xfrm>
          <a:prstGeom prst="roundRect">
            <a:avLst>
              <a:gd name="adj" fmla="val 5556"/>
            </a:avLst>
          </a:prstGeom>
          <a:solidFill>
            <a:srgbClr val="F4F4F2"/>
          </a:solidFill>
          <a:ln/>
        </p:spPr>
      </p:sp>
      <p:sp>
        <p:nvSpPr>
          <p:cNvPr id="27" name="Text 25"/>
          <p:cNvSpPr/>
          <p:nvPr/>
        </p:nvSpPr>
        <p:spPr>
          <a:xfrm>
            <a:off x="1123950" y="6960096"/>
            <a:ext cx="18593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PostgreSQL 16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86900" y="6131421"/>
            <a:ext cx="7886700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9" name="Text 27"/>
          <p:cNvSpPr/>
          <p:nvPr/>
        </p:nvSpPr>
        <p:spPr>
          <a:xfrm>
            <a:off x="9486900" y="6379071"/>
            <a:ext cx="86753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21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INFRAESTRUCTURA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9486900" y="6855321"/>
            <a:ext cx="1242120" cy="514350"/>
          </a:xfrm>
          <a:prstGeom prst="roundRect">
            <a:avLst>
              <a:gd name="adj" fmla="val 5556"/>
            </a:avLst>
          </a:prstGeom>
          <a:solidFill>
            <a:srgbClr val="F4F4F2"/>
          </a:solidFill>
          <a:ln/>
        </p:spPr>
      </p:sp>
      <p:sp>
        <p:nvSpPr>
          <p:cNvPr id="31" name="Text 29"/>
          <p:cNvSpPr/>
          <p:nvPr/>
        </p:nvSpPr>
        <p:spPr>
          <a:xfrm>
            <a:off x="9696450" y="6960096"/>
            <a:ext cx="89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843320" y="6855321"/>
            <a:ext cx="1379339" cy="514350"/>
          </a:xfrm>
          <a:prstGeom prst="roundRect">
            <a:avLst>
              <a:gd name="adj" fmla="val 5556"/>
            </a:avLst>
          </a:prstGeom>
          <a:solidFill>
            <a:srgbClr val="F4F4F2"/>
          </a:solidFill>
          <a:ln/>
        </p:spPr>
      </p:sp>
      <p:sp>
        <p:nvSpPr>
          <p:cNvPr id="33" name="Text 31"/>
          <p:cNvSpPr/>
          <p:nvPr/>
        </p:nvSpPr>
        <p:spPr>
          <a:xfrm>
            <a:off x="11052870" y="6960096"/>
            <a:ext cx="10364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Jenkins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336959" y="6855321"/>
            <a:ext cx="1104900" cy="514350"/>
          </a:xfrm>
          <a:prstGeom prst="roundRect">
            <a:avLst>
              <a:gd name="adj" fmla="val 5556"/>
            </a:avLst>
          </a:prstGeom>
          <a:solidFill>
            <a:srgbClr val="F4F4F2"/>
          </a:solidFill>
          <a:ln/>
        </p:spPr>
      </p:sp>
      <p:sp>
        <p:nvSpPr>
          <p:cNvPr id="35" name="Text 33"/>
          <p:cNvSpPr/>
          <p:nvPr/>
        </p:nvSpPr>
        <p:spPr>
          <a:xfrm>
            <a:off x="12546509" y="6960096"/>
            <a:ext cx="76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Gitea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3556159" y="6855321"/>
            <a:ext cx="1104900" cy="514350"/>
          </a:xfrm>
          <a:prstGeom prst="roundRect">
            <a:avLst>
              <a:gd name="adj" fmla="val 5556"/>
            </a:avLst>
          </a:prstGeom>
          <a:solidFill>
            <a:srgbClr val="F4F4F2"/>
          </a:solidFill>
          <a:ln/>
        </p:spPr>
      </p:sp>
      <p:sp>
        <p:nvSpPr>
          <p:cNvPr id="37" name="Text 35"/>
          <p:cNvSpPr/>
          <p:nvPr/>
        </p:nvSpPr>
        <p:spPr>
          <a:xfrm>
            <a:off x="13765709" y="6960096"/>
            <a:ext cx="76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Nginx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4775359" y="6855321"/>
            <a:ext cx="1653629" cy="514350"/>
          </a:xfrm>
          <a:prstGeom prst="roundRect">
            <a:avLst>
              <a:gd name="adj" fmla="val 5556"/>
            </a:avLst>
          </a:prstGeom>
          <a:solidFill>
            <a:srgbClr val="F4F4F2"/>
          </a:solidFill>
          <a:ln/>
        </p:spPr>
      </p:sp>
      <p:sp>
        <p:nvSpPr>
          <p:cNvPr id="39" name="Text 37"/>
          <p:cNvSpPr/>
          <p:nvPr/>
        </p:nvSpPr>
        <p:spPr>
          <a:xfrm>
            <a:off x="14984909" y="6960096"/>
            <a:ext cx="13107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SonarQube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37804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D6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MINEGOCIO · SPRINT 3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686163" y="857250"/>
            <a:ext cx="7636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14400" y="3499545"/>
            <a:ext cx="18105120" cy="1649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00"/>
              </a:lnSpc>
              <a:buNone/>
            </a:pPr>
            <a:r>
              <a:rPr lang="en-US" sz="14100" b="1" spc="-63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Gracias</a:t>
            </a:r>
            <a:pPr algn="l" indent="0" marL="0">
              <a:lnSpc>
                <a:spcPct val="70500"/>
              </a:lnSpc>
              <a:buNone/>
            </a:pPr>
            <a:r>
              <a:rPr lang="en-US" sz="14100" b="1" spc="-635" kern="0" dirty="0">
                <a:solidFill>
                  <a:srgbClr val="D6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4100" dirty="0"/>
          </a:p>
        </p:txBody>
      </p:sp>
      <p:sp>
        <p:nvSpPr>
          <p:cNvPr id="5" name="Text 3"/>
          <p:cNvSpPr/>
          <p:nvPr/>
        </p:nvSpPr>
        <p:spPr>
          <a:xfrm>
            <a:off x="914400" y="5492055"/>
            <a:ext cx="181051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C9C9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¿Preguntas?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8315325"/>
            <a:ext cx="16459200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8648700"/>
            <a:ext cx="95782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0" kern="0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EQUIPO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9058275"/>
            <a:ext cx="95782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Gabriel Flores · Ignacio Varela · Nicolás Valdés · Victor Herrera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6764000" y="8820150"/>
            <a:ext cx="609600" cy="609600"/>
          </a:xfrm>
          <a:prstGeom prst="rect">
            <a:avLst/>
          </a:prstGeom>
          <a:solidFill>
            <a:srgbClr val="D6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2026-07-10T04:15:36Z</dcterms:created>
  <dcterms:modified xsi:type="dcterms:W3CDTF">2026-07-10T04:15:36Z</dcterms:modified>
</cp:coreProperties>
</file>