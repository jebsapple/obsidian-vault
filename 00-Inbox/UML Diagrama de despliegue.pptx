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40" r:id="rId2"/>
    <p:sldId id="335" r:id="rId3"/>
    <p:sldId id="375" r:id="rId4"/>
    <p:sldId id="376" r:id="rId5"/>
    <p:sldId id="382" r:id="rId6"/>
    <p:sldId id="392" r:id="rId7"/>
    <p:sldId id="371" r:id="rId8"/>
    <p:sldId id="372" r:id="rId9"/>
    <p:sldId id="357" r:id="rId10"/>
    <p:sldId id="358" r:id="rId11"/>
    <p:sldId id="362" r:id="rId12"/>
    <p:sldId id="364" r:id="rId13"/>
    <p:sldId id="393" r:id="rId14"/>
    <p:sldId id="394" r:id="rId15"/>
    <p:sldId id="320" r:id="rId1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rge Díaz Ramirez" initials="JDR" lastIdx="1" clrIdx="0">
    <p:extLst>
      <p:ext uri="{19B8F6BF-5375-455C-9EA6-DF929625EA0E}">
        <p15:presenceInfo xmlns:p15="http://schemas.microsoft.com/office/powerpoint/2012/main" userId="S::jdiazr@utaicin.onmicrosoft.com::24a050a3-dd5e-4216-aec0-1116f1ad97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8B"/>
    <a:srgbClr val="E59356"/>
    <a:srgbClr val="313967"/>
    <a:srgbClr val="21B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91" autoAdjust="0"/>
    <p:restoredTop sz="95154" autoAdjust="0"/>
  </p:normalViewPr>
  <p:slideViewPr>
    <p:cSldViewPr snapToGrid="0">
      <p:cViewPr varScale="1">
        <p:scale>
          <a:sx n="93" d="100"/>
          <a:sy n="93" d="100"/>
        </p:scale>
        <p:origin x="973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9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0DEBD1-2A31-CD48-AEF6-F7D6115C2ADE}" type="datetimeFigureOut">
              <a:rPr lang="es-ES_tradnl" smtClean="0"/>
              <a:t>04/06/2025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los estilos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8C247B-BF22-8347-871C-504C859AB74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799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Java_Runtime_Environment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s.wikipedia.org/wiki/HTML" TargetMode="External"/><Relationship Id="rId4" Type="http://schemas.openxmlformats.org/officeDocument/2006/relationships/hyperlink" Target="https://es.wikipedia.org/wiki/XML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56536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77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7A2C1-9BE9-A1C4-9DF9-EBE897F64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B69360-87C5-8315-B622-08C72E95D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7E82922-7D9A-9C1B-7210-22EB01623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76D445-D6B7-2D80-687F-84001CA5F5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15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C70FA-5BF8-7F54-6B1B-BD2EC674E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4595F23-0D36-8111-F4F3-6927522EB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0F5319A-C965-7076-D2FC-BA9FCC9DA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CF6028-D1F0-3EFE-8FEE-7B33F69F52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5440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CA464-83AC-FFBC-2EE2-7C48FAC9D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6323D1-40A3-C401-FE73-F128C2554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D9773E7-6232-D3D2-BE94-B8A261664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203E51-A4F6-D15F-9DDC-0FACDC78B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2039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F07D2-A842-9B70-E5AF-57AA6FD85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15212DA-0127-BCB3-7804-26141ED15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EE1E856-DD7B-8761-C56C-6FA0ABDF3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Sugerencia: Reemplazar con temas y subtemas</a:t>
            </a:r>
          </a:p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6558E4-CE65-071B-9D6E-4E0E80204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B3F6B-FD3D-4789-A80B-DDBE7372AE8C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18978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War: web application archive. Archivo comprimido que incluye todos los archivos necesarios para desplegar una aplicación web (JSP’s, sevlets, </a:t>
            </a:r>
            <a:r>
              <a:rPr lang="es-C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clases </a:t>
            </a:r>
            <a:r>
              <a:rPr lang="es-C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Java Runtime Environment"/>
              </a:rPr>
              <a:t>Java</a:t>
            </a:r>
            <a:r>
              <a:rPr lang="es-C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archivos </a:t>
            </a:r>
            <a:r>
              <a:rPr lang="es-C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XML"/>
              </a:rPr>
              <a:t>XML</a:t>
            </a:r>
            <a:r>
              <a:rPr lang="es-C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,, </a:t>
            </a:r>
            <a:r>
              <a:rPr lang="es-C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HTML"/>
              </a:rPr>
              <a:t>HTML</a:t>
            </a:r>
            <a:r>
              <a:rPr lang="es-CL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JavaScript, CSS, imágenes)</a:t>
            </a:r>
            <a:endParaRPr lang="es-CL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/>
              <a:t>Jar: java application archive. Es un archivo comprimido  que contiene archivos .class</a:t>
            </a:r>
          </a:p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AEE33-562F-45ED-AB8D-9C243C6FCFE5}" type="slidenum">
              <a:rPr lang="es-CL" smtClean="0"/>
              <a:pPr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4423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/>
              <a:t> </a:t>
            </a: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8C247B-BF22-8347-871C-504C859AB74A}" type="slidenum">
              <a:rPr lang="es-ES_tradnl" smtClean="0"/>
              <a:t>15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46625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FD61C-0A90-4B9A-A315-3352DD766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DF5D3-A263-4863-96AA-6D12D8E5C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F12CE5-C309-4B2D-BD10-0B7E82AB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04-06-2025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B1AD1E-A33A-461A-BED1-AAFF577C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513482-8FCA-43F3-ACFF-A812379D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148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6DE8B-6551-4B7F-B63E-815A6341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A0A3D7-77B3-46D3-AE54-4F9D6BEA8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F2BFCD-DDD8-4F96-82E2-713C0873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04-06-2025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40AEEB-1DA1-4197-96DA-AD62BE8B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9690DF-3D9A-4C6A-AD36-5A24BB90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704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4D864-4966-49DA-B249-8501969AB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3EA68D-43FF-4618-AB62-E544AE9DD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B8C3B9-76FF-4222-99FB-9217B8D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04-06-2025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BA531C-D6D2-49A3-91F5-6D96EA9A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AA51F6-8B98-4630-BB14-C36D0F555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1201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A0161-C576-4CEA-B1E9-8FA28523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9F4BF3-C1AF-4910-9597-5A55AC439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48A99F-4AD1-4C69-9A10-919EB711C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EB02A-C1AC-418C-A930-C585FF05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04-06-2025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74E7B3-D0B5-433B-857E-25A13C04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4B8614-7433-45BC-8EC8-56E68443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077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A9C18-7D1B-4166-9AEE-545CA176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F95075-0256-468A-AD8F-A1F61BD08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B9E5E0-11B2-4B05-8789-85B0EE1FE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901DD3-B34A-4DD8-97CA-E2987EF30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7AAD9E-A074-42CF-9F72-8E1E7DFC5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FD3C18F-D681-4F6D-BE42-609E8839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04-06-2025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EC7256-E19E-4965-8F6B-EFBABFAB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4FF0C1-9153-4A2B-8E4F-F4152A4F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6147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39F0E-B6B3-413D-B8D5-3EBC57D1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873099-B246-4157-B167-31A34CBF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04-06-2025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9BD8DC-CF8D-421C-B582-E2834B329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83B244-BE08-415F-A652-086EC5A8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030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583E29-A1E4-4FC8-B85D-6BE7C231A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04-06-2025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6CF79B-BA17-4D6D-BA75-5945303F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90813B-FF99-42BE-A591-72FF1181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257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F088D-2BE3-4F1B-987C-8B905E083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5BA28C-FB6A-486F-B219-12DC33399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3A24BF-DD2F-442E-BB2E-79EB05656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195DAA-3224-49BF-B596-C1113FBBE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04-06-2025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C48EA5-0BD0-4552-BA61-0390B0F0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22A88C-7103-4730-8BB6-AF641F0D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425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E449A-69B1-4F86-96DA-B146C800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1A6C1D-C402-4DEF-8993-5ADD947C4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3F710F-DB16-4B8C-AD3D-F16A5E7BE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293B3C-6CA9-4BD6-91F2-9DBFEA73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04-06-2025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81912F-C394-4F33-9CE7-44AD534CC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308917-DFFC-4144-833E-8D05F22B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8362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A03DF0-44BB-459D-A838-EF8CDA87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B7B1C5A-66F0-408C-BC62-0DA1AFF38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5D2308-48DE-4E9C-9E15-BEFCC70A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04-06-2025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30F8CE-545A-4BD0-895C-230FB50BF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A02F44-FB0E-4A1A-80B4-D8CEC3A2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741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80EC09-2B9E-40D2-93FB-147D12F01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58EEA2-F90F-4403-88FA-A9DF1626D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1CCB10-1A32-4DA2-B6B5-FCD7DDDC9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9C6B0-6393-4131-9540-C068361BDDD0}" type="datetimeFigureOut">
              <a:rPr lang="es-CL" smtClean="0"/>
              <a:t>04-06-2025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64AA77-03F2-4456-AA16-C71D986C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0BDE9E-A2E7-4823-88CC-A641B66D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2566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118581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defRPr/>
            </a:pPr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04/06/2025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defRPr/>
            </a:pPr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‹Nº›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Marcador de contenido 2"/>
          <p:cNvSpPr>
            <a:spLocks noGrp="1"/>
          </p:cNvSpPr>
          <p:nvPr>
            <p:ph idx="13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buClr>
                <a:srgbClr val="C00000"/>
              </a:buClr>
              <a:defRPr sz="2800"/>
            </a:lvl1pPr>
            <a:lvl2pPr>
              <a:buClr>
                <a:srgbClr val="C00000"/>
              </a:buClr>
              <a:defRPr sz="2400"/>
            </a:lvl2pPr>
            <a:lvl3pPr>
              <a:buClr>
                <a:srgbClr val="C00000"/>
              </a:buClr>
              <a:defRPr sz="2000"/>
            </a:lvl3pPr>
            <a:lvl4pPr>
              <a:buClr>
                <a:srgbClr val="C00000"/>
              </a:buClr>
              <a:defRPr sz="1800"/>
            </a:lvl4pPr>
            <a:lvl5pPr>
              <a:buClr>
                <a:srgbClr val="C00000"/>
              </a:buCl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106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409B45-06C2-4FB9-B509-A3427AB24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9B8760-EA6E-4D6E-B268-4352C5049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58343C-E792-4C94-A41E-2EF624E8F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9C6B0-6393-4131-9540-C068361BDDD0}" type="datetimeFigureOut">
              <a:rPr lang="es-CL" smtClean="0"/>
              <a:t>04-06-2025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EAAD5A-6B54-414C-9F0A-B594F6AC79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633233-6333-443C-BD19-C54F679A2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AD1CF-B5AB-4551-A2BB-1D29A214764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2743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183" y="2826327"/>
            <a:ext cx="10875818" cy="2227783"/>
          </a:xfrm>
          <a:prstGeom prst="rect">
            <a:avLst/>
          </a:prstGeom>
        </p:spPr>
      </p:pic>
      <p:sp>
        <p:nvSpPr>
          <p:cNvPr id="10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-16914"/>
            <a:ext cx="12192000" cy="354751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01" y="5803165"/>
            <a:ext cx="2745501" cy="94099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73477"/>
            <a:ext cx="12192000" cy="331262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30600"/>
            <a:ext cx="3393948" cy="3327400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55" y="1073299"/>
            <a:ext cx="2672079" cy="93379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050420"/>
            <a:ext cx="5303520" cy="281940"/>
          </a:xfrm>
          <a:prstGeom prst="rect">
            <a:avLst/>
          </a:prstGeom>
        </p:spPr>
      </p:pic>
      <p:pic>
        <p:nvPicPr>
          <p:cNvPr id="3" name="Imagen 2" descr="Imagen que contiene alimentos&#10;&#10;Descripción generada automáticamente">
            <a:extLst>
              <a:ext uri="{FF2B5EF4-FFF2-40B4-BE49-F238E27FC236}">
                <a16:creationId xmlns:a16="http://schemas.microsoft.com/office/drawing/2014/main" id="{5B34141F-EC2F-144F-8268-7D4182D95A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054" y="5356904"/>
            <a:ext cx="2971800" cy="10795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2FC531-FC77-0243-AE81-8F245A6FA785}"/>
              </a:ext>
            </a:extLst>
          </p:cNvPr>
          <p:cNvSpPr txBox="1"/>
          <p:nvPr/>
        </p:nvSpPr>
        <p:spPr>
          <a:xfrm>
            <a:off x="8616096" y="6468320"/>
            <a:ext cx="3498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rgbClr val="004C8B"/>
                </a:solidFill>
              </a:rPr>
              <a:t>INGENIERÍA CIVIL EN INFORMÁTICA</a:t>
            </a:r>
          </a:p>
        </p:txBody>
      </p:sp>
    </p:spTree>
    <p:extLst>
      <p:ext uri="{BB962C8B-B14F-4D97-AF65-F5344CB8AC3E}">
        <p14:creationId xmlns:p14="http://schemas.microsoft.com/office/powerpoint/2010/main" val="208229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n-US" sz="240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171"/>
            <a:ext cx="12192000" cy="6890172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673" y="1073299"/>
            <a:ext cx="2672079" cy="93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1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CDB9F-67D5-C650-4F03-3371B694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C6EDD-E6FC-B5DB-D465-C228471BF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r>
              <a:rPr lang="es-CL" dirty="0"/>
              <a:t>Diagrama de Despliegue</a:t>
            </a: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F55B4DE5-40D4-2B10-5CCB-8022BCCC2D11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75BDB44-9E6F-F6B6-873B-7B3BEC531B3B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CBE4157-EDDA-DA8F-D77F-F7AE9AA9CEE1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9CA93F0E-614E-D21E-2BA0-1BD17D1BD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18B9C2A-F997-70F7-B84E-86813681C3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88B1CCFF-6AC8-90D9-5F18-E1C24146726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>
            <a:normAutofit/>
          </a:bodyPr>
          <a:lstStyle/>
          <a:p>
            <a:pPr algn="just"/>
            <a:r>
              <a:rPr lang="es-CL" dirty="0"/>
              <a:t>Representa la asignación de artefactos de software a máquinas físicas (nodos). </a:t>
            </a:r>
          </a:p>
          <a:p>
            <a:pPr algn="just"/>
            <a:r>
              <a:rPr lang="es-CL" dirty="0"/>
              <a:t>Muestra los enlaces de comunicación entre los nodos.</a:t>
            </a:r>
          </a:p>
          <a:p>
            <a:pPr algn="just"/>
            <a:r>
              <a:rPr lang="es-CL" dirty="0"/>
              <a:t>Un nodo puede representar un dispositivo de hardware donde se ejecuta el software u otro elemento físico más sencillo como una impresora. </a:t>
            </a:r>
          </a:p>
          <a:p>
            <a:pPr algn="just"/>
            <a:r>
              <a:rPr lang="es-CL" dirty="0"/>
              <a:t>Puede usarse un estereotipo para diferenciar los tipos de nodo &lt;&lt;  &gt;&gt;</a:t>
            </a:r>
          </a:p>
          <a:p>
            <a:pPr marL="0" indent="0" algn="just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61466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C3D09-646E-341F-A451-3B0FEBF10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C399DD-3689-6BC8-89F8-89F096E30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r>
              <a:rPr lang="es-CL" dirty="0"/>
              <a:t>Nodo</a:t>
            </a: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EBF81EB2-9494-D7BB-0C37-F79A5F12103E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553FF29D-D6C6-CE48-2122-6B1AB8704C74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32128AB4-A1DF-F2A2-40C3-58C0AABB6AC8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99C68866-06BA-82E5-B269-8A680059B1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848691B-46EB-25D2-1E0A-E314C0AF38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0FEB6AAD-58EF-8A95-FB40-CBCD0278EEA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>
            <a:normAutofit/>
          </a:bodyPr>
          <a:lstStyle/>
          <a:p>
            <a:pPr algn="just"/>
            <a:r>
              <a:rPr lang="es-CL" dirty="0"/>
              <a:t>Un nodo tiene la forma de un cubo o prisma rectangular  y generalmente representa un  dispositivo de hardware donde se aloja el software o puede representar un ambiente de ejecución.</a:t>
            </a:r>
          </a:p>
          <a:p>
            <a:pPr algn="just"/>
            <a:r>
              <a:rPr lang="es-CL" dirty="0"/>
              <a:t>Dentro de un nodo se ubican los artefactos. </a:t>
            </a:r>
          </a:p>
          <a:p>
            <a:pPr>
              <a:buNone/>
            </a:pP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222EA3-0DA4-40C7-BFAD-B8237FB5E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9937" y="4230096"/>
            <a:ext cx="1144416" cy="77971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2E8F2E3-955D-496F-9399-DE01EA2E08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3975" y="3813316"/>
            <a:ext cx="393382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950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4B17E-15C5-A965-3321-0EC60C382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E7552-E145-0836-13FE-2EC537424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r>
              <a:rPr lang="es-CL" dirty="0"/>
              <a:t>Artefacto</a:t>
            </a: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D7633071-FA07-7B7B-48C4-D2340E7910B7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B102BF1-61AD-E6F6-E338-F2E7B3BE5C98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5EEDBB8-45DB-D51F-E01A-A03D0A4999A4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CB140AC2-E62D-1F13-3601-EAC1AE5D2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2A76FBB-C9E1-1627-84CE-24D2CC2F61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22E68D58-EC33-61D9-5919-16B54FD6F62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dirty="0"/>
              <a:t>Un artefacto representa un producto de software.</a:t>
            </a:r>
          </a:p>
          <a:p>
            <a:pPr>
              <a:buNone/>
            </a:pP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17EE74-BC34-4CC8-AD5D-06671FBC4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533" y="3180388"/>
            <a:ext cx="2366591" cy="81724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57A3907-D3B0-4371-8C8D-40F07251D3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6130" y="3226016"/>
            <a:ext cx="2021897" cy="82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152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5FF6F-589A-F0F2-B98E-6127BF936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42165-98FE-7C3F-8767-E9EB8D57E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161176" cy="1143000"/>
          </a:xfrm>
        </p:spPr>
        <p:txBody>
          <a:bodyPr>
            <a:normAutofit/>
          </a:bodyPr>
          <a:lstStyle/>
          <a:p>
            <a:r>
              <a:rPr lang="es-CL" dirty="0"/>
              <a:t>Componente</a:t>
            </a:r>
          </a:p>
        </p:txBody>
      </p:sp>
      <p:grpSp>
        <p:nvGrpSpPr>
          <p:cNvPr id="5" name="Agrupar 2">
            <a:extLst>
              <a:ext uri="{FF2B5EF4-FFF2-40B4-BE49-F238E27FC236}">
                <a16:creationId xmlns:a16="http://schemas.microsoft.com/office/drawing/2014/main" id="{A60D5DEB-71BA-64B7-8AA1-753E0B8E365E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947C2B6-224E-6D6D-D7EC-1D8D3EABABEA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A37D6D5-A33E-E607-A33E-00EC8469E404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2F07C9CF-3E1F-E398-90C5-0F53FD5DC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6646627-8C2A-5A61-112C-F769D70FA1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8E27A3B5-85AD-4FC3-9EE7-005F0DDF6E4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" y="1600201"/>
            <a:ext cx="10260563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dirty="0"/>
              <a:t>El concepto de componente se  refiere a un componente de software reutilizable</a:t>
            </a:r>
          </a:p>
          <a:p>
            <a:r>
              <a:rPr lang="es-MX" dirty="0"/>
              <a:t>En la industria del automóvil, un componente es, por ejemplo:</a:t>
            </a:r>
          </a:p>
          <a:p>
            <a:r>
              <a:rPr lang="es-MX" dirty="0"/>
              <a:t>Un motor.</a:t>
            </a:r>
          </a:p>
          <a:p>
            <a:r>
              <a:rPr lang="es-MX" dirty="0"/>
              <a:t>Una puerta.</a:t>
            </a:r>
          </a:p>
          <a:p>
            <a:r>
              <a:rPr lang="es-MX" dirty="0"/>
              <a:t>Un asiento</a:t>
            </a:r>
          </a:p>
          <a:p>
            <a:pPr>
              <a:buNone/>
            </a:pPr>
            <a:endParaRPr lang="es-MX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1DB06D0-11F2-4FD5-A709-686DADE035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2876" y="4007751"/>
            <a:ext cx="2430395" cy="79880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2A84EEA-1B27-4695-9F2A-77550352EC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0786" y="4007751"/>
            <a:ext cx="2431130" cy="7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73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BC929-6A86-48EE-9B7B-C6E9ADCED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Relación de Manifestación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42A430-4581-4A1E-8DB2-1DC4DCEF7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32287"/>
            <a:ext cx="10276194" cy="4550056"/>
          </a:xfrm>
        </p:spPr>
        <p:txBody>
          <a:bodyPr/>
          <a:lstStyle/>
          <a:p>
            <a:r>
              <a:rPr lang="es-CL" dirty="0"/>
              <a:t>Una manifestación es una implementación concreta de un artefacto.</a:t>
            </a:r>
          </a:p>
          <a:p>
            <a:r>
              <a:rPr lang="es-CL" dirty="0"/>
              <a:t>Un artefacto se puede manifestar en un componente o un paquete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CFB1CE8-3F7D-401E-B461-073A47C65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985" y="3244972"/>
            <a:ext cx="5505656" cy="70225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E637FC2-95FE-45E7-91ED-359A0BCD9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53" y="3540246"/>
            <a:ext cx="2244725" cy="518013"/>
          </a:xfrm>
          <a:prstGeom prst="rect">
            <a:avLst/>
          </a:prstGeom>
        </p:spPr>
      </p:pic>
      <p:pic>
        <p:nvPicPr>
          <p:cNvPr id="6" name="Picture 4" descr="Manifestation shown as abstraction dependency labeled with the keyword manifest.">
            <a:extLst>
              <a:ext uri="{FF2B5EF4-FFF2-40B4-BE49-F238E27FC236}">
                <a16:creationId xmlns:a16="http://schemas.microsoft.com/office/drawing/2014/main" id="{F91213DB-87CA-4124-A764-A2A6FBF2B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123" y="4318740"/>
            <a:ext cx="30480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Agrupar 2">
            <a:extLst>
              <a:ext uri="{FF2B5EF4-FFF2-40B4-BE49-F238E27FC236}">
                <a16:creationId xmlns:a16="http://schemas.microsoft.com/office/drawing/2014/main" id="{958B1159-57A4-D927-AC60-2748E1655C16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124C6A36-3945-440D-16BE-9AC181274F09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8F8086F9-2C9A-F02A-AB17-4A23B6AE0E25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5956B4B9-A4EE-794F-B5F6-C75C06A042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E726C9D-C3E9-7604-CFB4-E1B458B9F8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19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BC929-6A86-48EE-9B7B-C6E9ADCED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Relación de Despliegue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42A430-4581-4A1E-8DB2-1DC4DCEF7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324"/>
            <a:ext cx="9935095" cy="4940037"/>
          </a:xfrm>
        </p:spPr>
        <p:txBody>
          <a:bodyPr/>
          <a:lstStyle/>
          <a:p>
            <a:r>
              <a:rPr lang="es-CL" dirty="0"/>
              <a:t>Indica en qué ambiente de ejecución o servidor será desplegado el software</a:t>
            </a:r>
          </a:p>
          <a:p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B7F01F4-AB30-48B1-956A-C9C26A32F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32" y="2564747"/>
            <a:ext cx="3114675" cy="25146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2B02180-3E7A-48B5-8763-9B02B6193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115" y="3447233"/>
            <a:ext cx="1605189" cy="926071"/>
          </a:xfrm>
          <a:prstGeom prst="rect">
            <a:avLst/>
          </a:prstGeom>
        </p:spPr>
      </p:pic>
      <p:grpSp>
        <p:nvGrpSpPr>
          <p:cNvPr id="4" name="Agrupar 2">
            <a:extLst>
              <a:ext uri="{FF2B5EF4-FFF2-40B4-BE49-F238E27FC236}">
                <a16:creationId xmlns:a16="http://schemas.microsoft.com/office/drawing/2014/main" id="{84F9AE8A-517D-20A3-9C81-EF099EB9DBF9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0510E7DC-49D2-3781-E3E0-5D0C4DD73943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D038DCC0-352A-D957-0CFB-5865453F31C6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2547FA1A-BB82-53B3-B696-D43A4ECF07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A993CD1-5FD3-741F-7955-B45054BC84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567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Ejemplo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pic>
        <p:nvPicPr>
          <p:cNvPr id="1028" name="Picture 4" descr="Diagrama de distribución o de despliegu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405" y="1901220"/>
            <a:ext cx="7016395" cy="3530831"/>
          </a:xfrm>
          <a:prstGeom prst="rect">
            <a:avLst/>
          </a:prstGeom>
          <a:noFill/>
        </p:spPr>
      </p:pic>
      <p:grpSp>
        <p:nvGrpSpPr>
          <p:cNvPr id="4" name="Agrupar 2">
            <a:extLst>
              <a:ext uri="{FF2B5EF4-FFF2-40B4-BE49-F238E27FC236}">
                <a16:creationId xmlns:a16="http://schemas.microsoft.com/office/drawing/2014/main" id="{BEC2E48C-D0B3-737C-A619-A2C8E36AAFEC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CDD83D19-4868-F301-EABC-E42293BA4309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CC809DF1-CA7C-B024-BDB9-41D36403FBC7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77A90C19-3421-27C1-293A-D12ACE716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B6DD0B9-D169-8529-4245-970820CB0B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Ejemplo</a:t>
            </a:r>
            <a:endParaRPr lang="es-CL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18197" y="1441342"/>
            <a:ext cx="10243797" cy="52226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En esta figura el enlace muestra el protocolo de comunicación entre los nodos y artefactos.</a:t>
            </a:r>
          </a:p>
        </p:txBody>
      </p:sp>
      <p:pic>
        <p:nvPicPr>
          <p:cNvPr id="19460" name="Picture 4" descr="http://i143.photobucket.com/albums/r158/everac99/SpacesBlog/XMLB_Componente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17450" y="2157322"/>
            <a:ext cx="4957099" cy="4264260"/>
          </a:xfrm>
          <a:prstGeom prst="rect">
            <a:avLst/>
          </a:prstGeom>
          <a:noFill/>
        </p:spPr>
      </p:pic>
      <p:grpSp>
        <p:nvGrpSpPr>
          <p:cNvPr id="4" name="Agrupar 2">
            <a:extLst>
              <a:ext uri="{FF2B5EF4-FFF2-40B4-BE49-F238E27FC236}">
                <a16:creationId xmlns:a16="http://schemas.microsoft.com/office/drawing/2014/main" id="{6F3C1E3A-CF00-FEF5-426C-C55524BFFB7C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37778DAD-5F0F-46FC-F693-A294DB6F7B8C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FE9FD27-FE3E-DF59-1BA6-86EB2ADA5E1B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2A6A7CF1-4F29-36BB-B6CB-E0FCDECB9E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2572579-B8B4-9CF9-3905-7DC236DDCD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Ejemplo </a:t>
            </a:r>
            <a:r>
              <a:rPr lang="es-CL" dirty="0"/>
              <a:t>Aplicación web J2EE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026" name="Picture 2" descr="UML deployment diagram example for J2EE web applicati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997" y="1796530"/>
            <a:ext cx="9220200" cy="448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Agrupar 2">
            <a:extLst>
              <a:ext uri="{FF2B5EF4-FFF2-40B4-BE49-F238E27FC236}">
                <a16:creationId xmlns:a16="http://schemas.microsoft.com/office/drawing/2014/main" id="{E1B4F6E6-5701-E42C-A518-F568FA34F902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98FBB299-7487-6846-A995-B67FF844D273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AE7F7768-7AC5-09EE-B1E8-F30D6B316E91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CFA60DA2-13D2-E2A8-0D9B-08D85738B9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CBEABE9-9855-692B-A420-F4B1045C5A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22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Ejemplo Aplicación </a:t>
            </a:r>
            <a:r>
              <a:rPr lang="es-CL" dirty="0"/>
              <a:t>Android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contenido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3074" name="Picture 2" descr="Example of application deployment to Android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765" y="1739106"/>
            <a:ext cx="6286500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81014FC0-028D-9595-A525-F36977A5DF80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A9BBA395-886A-018A-36EF-9DFEEFDFB55B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E993EE8-8BF9-B4F1-592B-0F6279656E6E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1689A6E2-8F6A-AB9C-3E2F-7B7EBA202D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D11F964-71C4-026C-1886-89519D7B66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055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2C6A8-C4DE-5CFC-2C12-8EF235FD3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12512A-95BC-8C73-A4C2-F5966A171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Ejemplo Arquitectura Física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505EFA6-54A2-9A5B-B24A-FAFF12A65380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5ADED26D-AA2E-4B0B-7604-3EDC9E96A7F0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1CF99E5-4142-A109-130D-231486963089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47C0597B-CF1C-A007-5A65-040D5A6F4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B48989B-0EFA-6ECA-34B0-9703C9E471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2E2614E-B549-4B3C-A40B-14A26FDF0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548" y="2952327"/>
            <a:ext cx="8841953" cy="244214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6B44BA4-BD15-A58F-5261-42D8786CDB78}"/>
              </a:ext>
            </a:extLst>
          </p:cNvPr>
          <p:cNvSpPr txBox="1"/>
          <p:nvPr/>
        </p:nvSpPr>
        <p:spPr>
          <a:xfrm>
            <a:off x="1429789" y="2872567"/>
            <a:ext cx="6616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Arquitectura Cliente servidor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06802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D6DA-C9F2-BE3F-DC7C-F3EBF4C00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E68EC-B9E8-C9B3-AB78-8BB7D62EE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Ejemplo Arquitectura Física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0D5AA6CF-3D63-DB53-0BB2-15DE3540E29F}"/>
              </a:ext>
            </a:extLst>
          </p:cNvPr>
          <p:cNvGrpSpPr/>
          <p:nvPr/>
        </p:nvGrpSpPr>
        <p:grpSpPr>
          <a:xfrm>
            <a:off x="0" y="6470073"/>
            <a:ext cx="12192000" cy="387927"/>
            <a:chOff x="0" y="6470073"/>
            <a:chExt cx="12192000" cy="38792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2630E1FD-EF14-4FE8-8EEF-2B5A514BCB5D}"/>
                </a:ext>
              </a:extLst>
            </p:cNvPr>
            <p:cNvSpPr/>
            <p:nvPr/>
          </p:nvSpPr>
          <p:spPr>
            <a:xfrm>
              <a:off x="0" y="6470073"/>
              <a:ext cx="6248400" cy="387927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4C85DAE-B5DD-533B-8DBD-31EB5C1E7367}"/>
                </a:ext>
              </a:extLst>
            </p:cNvPr>
            <p:cNvSpPr/>
            <p:nvPr/>
          </p:nvSpPr>
          <p:spPr>
            <a:xfrm>
              <a:off x="5943600" y="6761018"/>
              <a:ext cx="6248400" cy="96982"/>
            </a:xfrm>
            <a:prstGeom prst="rect">
              <a:avLst/>
            </a:prstGeom>
            <a:solidFill>
              <a:srgbClr val="004C8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8F9CAB17-01C0-A8B5-7608-79FC5469D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24" y="575657"/>
            <a:ext cx="2486755" cy="865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7BE8602-F8FF-1E50-F7E6-B903AE5C8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94" y="3607734"/>
            <a:ext cx="511809" cy="28623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EC435B7-A831-C9CF-8231-DBB7D4D48D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826" y="1905545"/>
            <a:ext cx="4390961" cy="417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653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>
            <a:extLst>
              <a:ext uri="{FF2B5EF4-FFF2-40B4-BE49-F238E27FC236}">
                <a16:creationId xmlns:a16="http://schemas.microsoft.com/office/drawing/2014/main" id="{8ADFA9A2-1A70-4586-A9E0-3C117E6A0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402" y="5887325"/>
            <a:ext cx="685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charset="0"/>
              </a:rPr>
              <a:t>ARICA - CHILE</a:t>
            </a:r>
            <a:endParaRPr lang="en-US" sz="2400" dirty="0">
              <a:solidFill>
                <a:schemeClr val="bg1"/>
              </a:solidFill>
              <a:latin typeface="Eurostile BoldExtendedTwo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8"/>
            <a:ext cx="12192000" cy="6430945"/>
          </a:xfrm>
          <a:prstGeom prst="rect">
            <a:avLst/>
          </a:prstGeom>
          <a:ln>
            <a:noFill/>
          </a:ln>
        </p:spPr>
      </p:pic>
      <p:sp>
        <p:nvSpPr>
          <p:cNvPr id="13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13618"/>
            <a:ext cx="5972452" cy="6417325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32000">
                <a:srgbClr val="0070C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996DAE91-E53D-4FFB-8098-8AFE46881F1D}"/>
              </a:ext>
            </a:extLst>
          </p:cNvPr>
          <p:cNvSpPr/>
          <p:nvPr/>
        </p:nvSpPr>
        <p:spPr>
          <a:xfrm flipV="1">
            <a:off x="1" y="5688710"/>
            <a:ext cx="12192000" cy="116990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402" y="2951018"/>
            <a:ext cx="4282247" cy="149648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alphaModFix amt="3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9690"/>
            <a:ext cx="5966423" cy="1621108"/>
          </a:xfrm>
          <a:prstGeom prst="rect">
            <a:avLst/>
          </a:prstGeom>
        </p:spPr>
      </p:pic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6F54D0E-9772-4A28-255B-A44403E3D9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84" y="4230126"/>
            <a:ext cx="4060054" cy="143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629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3770</TotalTime>
  <Words>317</Words>
  <Application>Microsoft Office PowerPoint</Application>
  <PresentationFormat>Panorámica</PresentationFormat>
  <Paragraphs>54</Paragraphs>
  <Slides>15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Eurostile BoldExtendedTwo</vt:lpstr>
      <vt:lpstr>Tema de Office</vt:lpstr>
      <vt:lpstr>Presentación de PowerPoint</vt:lpstr>
      <vt:lpstr>Presentación de PowerPoint</vt:lpstr>
      <vt:lpstr>Diagrama de Despliegue</vt:lpstr>
      <vt:lpstr>Nodo</vt:lpstr>
      <vt:lpstr>Artefacto</vt:lpstr>
      <vt:lpstr>Componente</vt:lpstr>
      <vt:lpstr>Relación de Manifestación</vt:lpstr>
      <vt:lpstr>Relación de Despliegue</vt:lpstr>
      <vt:lpstr>Ejemplo</vt:lpstr>
      <vt:lpstr>Ejemplo</vt:lpstr>
      <vt:lpstr>Ejemplo Aplicación web J2EE </vt:lpstr>
      <vt:lpstr>Ejemplo Aplicación Android</vt:lpstr>
      <vt:lpstr>Ejemplo Arquitectura Física</vt:lpstr>
      <vt:lpstr>Ejemplo Arquitectura Física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Alejandro Rodriguez</dc:creator>
  <cp:lastModifiedBy>Diego Supanta</cp:lastModifiedBy>
  <cp:revision>228</cp:revision>
  <dcterms:created xsi:type="dcterms:W3CDTF">2019-05-21T16:47:52Z</dcterms:created>
  <dcterms:modified xsi:type="dcterms:W3CDTF">2025-06-05T02:58:22Z</dcterms:modified>
</cp:coreProperties>
</file>