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40" r:id="rId2"/>
    <p:sldId id="335" r:id="rId3"/>
    <p:sldId id="260" r:id="rId4"/>
    <p:sldId id="364" r:id="rId5"/>
    <p:sldId id="365" r:id="rId6"/>
    <p:sldId id="366" r:id="rId7"/>
    <p:sldId id="367" r:id="rId8"/>
    <p:sldId id="368" r:id="rId9"/>
    <p:sldId id="369" r:id="rId10"/>
    <p:sldId id="370" r:id="rId11"/>
    <p:sldId id="371" r:id="rId12"/>
    <p:sldId id="372" r:id="rId13"/>
    <p:sldId id="373" r:id="rId14"/>
    <p:sldId id="374" r:id="rId15"/>
    <p:sldId id="375" r:id="rId16"/>
    <p:sldId id="376" r:id="rId17"/>
    <p:sldId id="377" r:id="rId18"/>
    <p:sldId id="378" r:id="rId19"/>
    <p:sldId id="379" r:id="rId20"/>
    <p:sldId id="380" r:id="rId21"/>
    <p:sldId id="381" r:id="rId22"/>
    <p:sldId id="384" r:id="rId23"/>
    <p:sldId id="382" r:id="rId24"/>
    <p:sldId id="383" r:id="rId25"/>
    <p:sldId id="385" r:id="rId26"/>
    <p:sldId id="386" r:id="rId27"/>
    <p:sldId id="320" r:id="rId2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rge Díaz Ramirez" initials="JDR" lastIdx="1" clrIdx="0">
    <p:extLst>
      <p:ext uri="{19B8F6BF-5375-455C-9EA6-DF929625EA0E}">
        <p15:presenceInfo xmlns:p15="http://schemas.microsoft.com/office/powerpoint/2012/main" userId="S::jdiazr@utaicin.onmicrosoft.com::24a050a3-dd5e-4216-aec0-1116f1ad97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8B"/>
    <a:srgbClr val="E59356"/>
    <a:srgbClr val="313967"/>
    <a:srgbClr val="21B7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91" autoAdjust="0"/>
    <p:restoredTop sz="95154" autoAdjust="0"/>
  </p:normalViewPr>
  <p:slideViewPr>
    <p:cSldViewPr snapToGrid="0">
      <p:cViewPr varScale="1">
        <p:scale>
          <a:sx n="89" d="100"/>
          <a:sy n="89" d="100"/>
        </p:scale>
        <p:origin x="1043" y="87"/>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69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DEBD1-2A31-CD48-AEF6-F7D6115C2ADE}" type="datetimeFigureOut">
              <a:rPr lang="es-ES_tradnl" smtClean="0"/>
              <a:t>26/06/2026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C247B-BF22-8347-871C-504C859AB74A}" type="slidenum">
              <a:rPr lang="es-ES_tradnl" smtClean="0"/>
              <a:t>‹Nº›</a:t>
            </a:fld>
            <a:endParaRPr lang="es-ES_tradnl"/>
          </a:p>
        </p:txBody>
      </p:sp>
    </p:spTree>
    <p:extLst>
      <p:ext uri="{BB962C8B-B14F-4D97-AF65-F5344CB8AC3E}">
        <p14:creationId xmlns:p14="http://schemas.microsoft.com/office/powerpoint/2010/main" val="48799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1</a:t>
            </a:fld>
            <a:endParaRPr lang="es-ES_tradnl"/>
          </a:p>
        </p:txBody>
      </p:sp>
    </p:spTree>
    <p:extLst>
      <p:ext uri="{BB962C8B-B14F-4D97-AF65-F5344CB8AC3E}">
        <p14:creationId xmlns:p14="http://schemas.microsoft.com/office/powerpoint/2010/main" val="1756536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2</a:t>
            </a:fld>
            <a:endParaRPr lang="es-ES_tradnl"/>
          </a:p>
        </p:txBody>
      </p:sp>
    </p:spTree>
    <p:extLst>
      <p:ext uri="{BB962C8B-B14F-4D97-AF65-F5344CB8AC3E}">
        <p14:creationId xmlns:p14="http://schemas.microsoft.com/office/powerpoint/2010/main" val="248077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p:cNvSpPr>
            <a:spLocks noGrp="1"/>
          </p:cNvSpPr>
          <p:nvPr>
            <p:ph type="sldNum" sz="quarter" idx="10"/>
          </p:nvPr>
        </p:nvSpPr>
        <p:spPr/>
        <p:txBody>
          <a:bodyPr/>
          <a:lstStyle/>
          <a:p>
            <a:fld id="{A05B3F6B-FD3D-4789-A80B-DDBE7372AE8C}" type="slidenum">
              <a:rPr lang="es-CL" smtClean="0"/>
              <a:t>3</a:t>
            </a:fld>
            <a:endParaRPr lang="es-CL"/>
          </a:p>
        </p:txBody>
      </p:sp>
    </p:spTree>
    <p:extLst>
      <p:ext uri="{BB962C8B-B14F-4D97-AF65-F5344CB8AC3E}">
        <p14:creationId xmlns:p14="http://schemas.microsoft.com/office/powerpoint/2010/main" val="3781419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EF77-4CF4-1299-31F8-FA1B97124D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745B59-E3AD-E0ED-4A96-FFFE8AACEF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BA398B-582D-03A9-1C88-91C43C2BAA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2BAA7ABD-5077-B57E-44BF-CCF3BAE627D1}"/>
              </a:ext>
            </a:extLst>
          </p:cNvPr>
          <p:cNvSpPr>
            <a:spLocks noGrp="1"/>
          </p:cNvSpPr>
          <p:nvPr>
            <p:ph type="sldNum" sz="quarter" idx="10"/>
          </p:nvPr>
        </p:nvSpPr>
        <p:spPr/>
        <p:txBody>
          <a:bodyPr/>
          <a:lstStyle/>
          <a:p>
            <a:fld id="{A05B3F6B-FD3D-4789-A80B-DDBE7372AE8C}" type="slidenum">
              <a:rPr lang="es-CL" smtClean="0"/>
              <a:t>4</a:t>
            </a:fld>
            <a:endParaRPr lang="es-CL"/>
          </a:p>
        </p:txBody>
      </p:sp>
    </p:spTree>
    <p:extLst>
      <p:ext uri="{BB962C8B-B14F-4D97-AF65-F5344CB8AC3E}">
        <p14:creationId xmlns:p14="http://schemas.microsoft.com/office/powerpoint/2010/main" val="3688374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8086-3A50-AF60-758B-332157CEC8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D6EDA05-3902-B1B3-A17E-28C42E19D6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E996CD-D19A-D373-A675-9D526E8F46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E0E0C88A-0A64-C39F-A504-4A7FB9C79B0C}"/>
              </a:ext>
            </a:extLst>
          </p:cNvPr>
          <p:cNvSpPr>
            <a:spLocks noGrp="1"/>
          </p:cNvSpPr>
          <p:nvPr>
            <p:ph type="sldNum" sz="quarter" idx="10"/>
          </p:nvPr>
        </p:nvSpPr>
        <p:spPr/>
        <p:txBody>
          <a:bodyPr/>
          <a:lstStyle/>
          <a:p>
            <a:fld id="{A05B3F6B-FD3D-4789-A80B-DDBE7372AE8C}" type="slidenum">
              <a:rPr lang="es-CL" smtClean="0"/>
              <a:t>5</a:t>
            </a:fld>
            <a:endParaRPr lang="es-CL"/>
          </a:p>
        </p:txBody>
      </p:sp>
    </p:spTree>
    <p:extLst>
      <p:ext uri="{BB962C8B-B14F-4D97-AF65-F5344CB8AC3E}">
        <p14:creationId xmlns:p14="http://schemas.microsoft.com/office/powerpoint/2010/main" val="32834181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BEAE2-76F5-7910-138D-65A6234163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034149-F6B2-A56C-D07E-ED5DB6C0CC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B9BA72-8BB8-E24B-0C46-199C8D4702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78968655-D949-29B6-BAE5-614F30277463}"/>
              </a:ext>
            </a:extLst>
          </p:cNvPr>
          <p:cNvSpPr>
            <a:spLocks noGrp="1"/>
          </p:cNvSpPr>
          <p:nvPr>
            <p:ph type="sldNum" sz="quarter" idx="10"/>
          </p:nvPr>
        </p:nvSpPr>
        <p:spPr/>
        <p:txBody>
          <a:bodyPr/>
          <a:lstStyle/>
          <a:p>
            <a:fld id="{A05B3F6B-FD3D-4789-A80B-DDBE7372AE8C}" type="slidenum">
              <a:rPr lang="es-CL" smtClean="0"/>
              <a:t>6</a:t>
            </a:fld>
            <a:endParaRPr lang="es-CL"/>
          </a:p>
        </p:txBody>
      </p:sp>
    </p:spTree>
    <p:extLst>
      <p:ext uri="{BB962C8B-B14F-4D97-AF65-F5344CB8AC3E}">
        <p14:creationId xmlns:p14="http://schemas.microsoft.com/office/powerpoint/2010/main" val="328228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4DCF-3493-301C-1705-37285F52D5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C3A702-8C21-E6D2-888D-4F6EDE788F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DA9AD2-4A52-FC51-9F53-A770766F01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4C2F218-7096-41FC-DC28-DE8896320704}"/>
              </a:ext>
            </a:extLst>
          </p:cNvPr>
          <p:cNvSpPr>
            <a:spLocks noGrp="1"/>
          </p:cNvSpPr>
          <p:nvPr>
            <p:ph type="sldNum" sz="quarter" idx="10"/>
          </p:nvPr>
        </p:nvSpPr>
        <p:spPr/>
        <p:txBody>
          <a:bodyPr/>
          <a:lstStyle/>
          <a:p>
            <a:fld id="{A05B3F6B-FD3D-4789-A80B-DDBE7372AE8C}" type="slidenum">
              <a:rPr lang="es-CL" smtClean="0"/>
              <a:t>7</a:t>
            </a:fld>
            <a:endParaRPr lang="es-CL"/>
          </a:p>
        </p:txBody>
      </p:sp>
    </p:spTree>
    <p:extLst>
      <p:ext uri="{BB962C8B-B14F-4D97-AF65-F5344CB8AC3E}">
        <p14:creationId xmlns:p14="http://schemas.microsoft.com/office/powerpoint/2010/main" val="2006786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351DC-DBCC-B421-0C6C-07D749B5D0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F272F83-DEAF-B288-2DD0-5016C90FB7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FD6401F-7460-C39C-05AA-914FC62AE1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5D00ACC-B8D5-B8FF-FC1C-50B01504D823}"/>
              </a:ext>
            </a:extLst>
          </p:cNvPr>
          <p:cNvSpPr>
            <a:spLocks noGrp="1"/>
          </p:cNvSpPr>
          <p:nvPr>
            <p:ph type="sldNum" sz="quarter" idx="10"/>
          </p:nvPr>
        </p:nvSpPr>
        <p:spPr/>
        <p:txBody>
          <a:bodyPr/>
          <a:lstStyle/>
          <a:p>
            <a:fld id="{A05B3F6B-FD3D-4789-A80B-DDBE7372AE8C}" type="slidenum">
              <a:rPr lang="es-CL" smtClean="0"/>
              <a:t>8</a:t>
            </a:fld>
            <a:endParaRPr lang="es-CL"/>
          </a:p>
        </p:txBody>
      </p:sp>
    </p:spTree>
    <p:extLst>
      <p:ext uri="{BB962C8B-B14F-4D97-AF65-F5344CB8AC3E}">
        <p14:creationId xmlns:p14="http://schemas.microsoft.com/office/powerpoint/2010/main" val="3710814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A1A0-32DA-A3B9-F7FD-7F4C6CEF65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1DF003-887A-0A82-B4C5-BF36528FDA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B7337C-0265-7BB0-2645-1604E499F2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275A1132-DEB6-DC56-8C3A-77EB21131157}"/>
              </a:ext>
            </a:extLst>
          </p:cNvPr>
          <p:cNvSpPr>
            <a:spLocks noGrp="1"/>
          </p:cNvSpPr>
          <p:nvPr>
            <p:ph type="sldNum" sz="quarter" idx="10"/>
          </p:nvPr>
        </p:nvSpPr>
        <p:spPr/>
        <p:txBody>
          <a:bodyPr/>
          <a:lstStyle/>
          <a:p>
            <a:fld id="{A05B3F6B-FD3D-4789-A80B-DDBE7372AE8C}" type="slidenum">
              <a:rPr lang="es-CL" smtClean="0"/>
              <a:t>9</a:t>
            </a:fld>
            <a:endParaRPr lang="es-CL"/>
          </a:p>
        </p:txBody>
      </p:sp>
    </p:spTree>
    <p:extLst>
      <p:ext uri="{BB962C8B-B14F-4D97-AF65-F5344CB8AC3E}">
        <p14:creationId xmlns:p14="http://schemas.microsoft.com/office/powerpoint/2010/main" val="3908309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F246-3568-F815-AE13-86196C3C387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F8166A6-19D4-49FE-4D7C-400A8066894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A48C7A-9D24-0B2A-72FE-9FD9EC67FC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019EE226-6C52-35FE-0156-C1F10E220404}"/>
              </a:ext>
            </a:extLst>
          </p:cNvPr>
          <p:cNvSpPr>
            <a:spLocks noGrp="1"/>
          </p:cNvSpPr>
          <p:nvPr>
            <p:ph type="sldNum" sz="quarter" idx="10"/>
          </p:nvPr>
        </p:nvSpPr>
        <p:spPr/>
        <p:txBody>
          <a:bodyPr/>
          <a:lstStyle/>
          <a:p>
            <a:fld id="{A05B3F6B-FD3D-4789-A80B-DDBE7372AE8C}" type="slidenum">
              <a:rPr lang="es-CL" smtClean="0"/>
              <a:t>10</a:t>
            </a:fld>
            <a:endParaRPr lang="es-CL"/>
          </a:p>
        </p:txBody>
      </p:sp>
    </p:spTree>
    <p:extLst>
      <p:ext uri="{BB962C8B-B14F-4D97-AF65-F5344CB8AC3E}">
        <p14:creationId xmlns:p14="http://schemas.microsoft.com/office/powerpoint/2010/main" val="63743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28C73-836B-C964-68A2-DF7C54E498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83FE76-5A87-D2C7-8EDE-112C6721032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200938-D0EE-BA96-AB0E-E37D83C854A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4E7287F8-218D-2E7A-AFD8-4253DEAEE3B4}"/>
              </a:ext>
            </a:extLst>
          </p:cNvPr>
          <p:cNvSpPr>
            <a:spLocks noGrp="1"/>
          </p:cNvSpPr>
          <p:nvPr>
            <p:ph type="sldNum" sz="quarter" idx="10"/>
          </p:nvPr>
        </p:nvSpPr>
        <p:spPr/>
        <p:txBody>
          <a:bodyPr/>
          <a:lstStyle/>
          <a:p>
            <a:fld id="{A05B3F6B-FD3D-4789-A80B-DDBE7372AE8C}" type="slidenum">
              <a:rPr lang="es-CL" smtClean="0"/>
              <a:t>11</a:t>
            </a:fld>
            <a:endParaRPr lang="es-CL"/>
          </a:p>
        </p:txBody>
      </p:sp>
    </p:spTree>
    <p:extLst>
      <p:ext uri="{BB962C8B-B14F-4D97-AF65-F5344CB8AC3E}">
        <p14:creationId xmlns:p14="http://schemas.microsoft.com/office/powerpoint/2010/main" val="36215531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8EE0F-7043-EDC5-C29F-3A9C240AB2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574E0F-F183-2813-8B88-B65BE6709D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39E31A-5D59-6156-6242-4B16E94FFF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B80951B3-A60B-8E96-9CAA-9BF5A4E7A3AA}"/>
              </a:ext>
            </a:extLst>
          </p:cNvPr>
          <p:cNvSpPr>
            <a:spLocks noGrp="1"/>
          </p:cNvSpPr>
          <p:nvPr>
            <p:ph type="sldNum" sz="quarter" idx="10"/>
          </p:nvPr>
        </p:nvSpPr>
        <p:spPr/>
        <p:txBody>
          <a:bodyPr/>
          <a:lstStyle/>
          <a:p>
            <a:fld id="{A05B3F6B-FD3D-4789-A80B-DDBE7372AE8C}" type="slidenum">
              <a:rPr lang="es-CL" smtClean="0"/>
              <a:t>12</a:t>
            </a:fld>
            <a:endParaRPr lang="es-CL"/>
          </a:p>
        </p:txBody>
      </p:sp>
    </p:spTree>
    <p:extLst>
      <p:ext uri="{BB962C8B-B14F-4D97-AF65-F5344CB8AC3E}">
        <p14:creationId xmlns:p14="http://schemas.microsoft.com/office/powerpoint/2010/main" val="38895456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0A127-BE06-228B-EC5D-8F928CBB60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10F282-FC45-F0E5-9419-BA0284E2C75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1F746C-6978-EFC6-87A1-4D63023292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EAEA176A-0717-8D17-9885-30CD1DBECB5B}"/>
              </a:ext>
            </a:extLst>
          </p:cNvPr>
          <p:cNvSpPr>
            <a:spLocks noGrp="1"/>
          </p:cNvSpPr>
          <p:nvPr>
            <p:ph type="sldNum" sz="quarter" idx="10"/>
          </p:nvPr>
        </p:nvSpPr>
        <p:spPr/>
        <p:txBody>
          <a:bodyPr/>
          <a:lstStyle/>
          <a:p>
            <a:fld id="{A05B3F6B-FD3D-4789-A80B-DDBE7372AE8C}" type="slidenum">
              <a:rPr lang="es-CL" smtClean="0"/>
              <a:t>13</a:t>
            </a:fld>
            <a:endParaRPr lang="es-CL"/>
          </a:p>
        </p:txBody>
      </p:sp>
    </p:spTree>
    <p:extLst>
      <p:ext uri="{BB962C8B-B14F-4D97-AF65-F5344CB8AC3E}">
        <p14:creationId xmlns:p14="http://schemas.microsoft.com/office/powerpoint/2010/main" val="1125321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E4910-6566-F412-245A-8821E902D4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438D41-1C6C-5D1E-779A-C7E3751C32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6453DDC-C814-4FF4-82CB-288F36CE4A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72398A08-BC02-C4ED-1B8D-E85F241EBB4D}"/>
              </a:ext>
            </a:extLst>
          </p:cNvPr>
          <p:cNvSpPr>
            <a:spLocks noGrp="1"/>
          </p:cNvSpPr>
          <p:nvPr>
            <p:ph type="sldNum" sz="quarter" idx="10"/>
          </p:nvPr>
        </p:nvSpPr>
        <p:spPr/>
        <p:txBody>
          <a:bodyPr/>
          <a:lstStyle/>
          <a:p>
            <a:fld id="{A05B3F6B-FD3D-4789-A80B-DDBE7372AE8C}" type="slidenum">
              <a:rPr lang="es-CL" smtClean="0"/>
              <a:t>14</a:t>
            </a:fld>
            <a:endParaRPr lang="es-CL"/>
          </a:p>
        </p:txBody>
      </p:sp>
    </p:spTree>
    <p:extLst>
      <p:ext uri="{BB962C8B-B14F-4D97-AF65-F5344CB8AC3E}">
        <p14:creationId xmlns:p14="http://schemas.microsoft.com/office/powerpoint/2010/main" val="3861891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A9F7-28CD-DC89-7342-02939F7960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7F1716-C3B0-70C4-4AEA-E206D51E25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021733D-FEF0-8CE8-6CBB-6AF230E22B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0374627D-61BF-A1A2-6B92-071C5FF29285}"/>
              </a:ext>
            </a:extLst>
          </p:cNvPr>
          <p:cNvSpPr>
            <a:spLocks noGrp="1"/>
          </p:cNvSpPr>
          <p:nvPr>
            <p:ph type="sldNum" sz="quarter" idx="10"/>
          </p:nvPr>
        </p:nvSpPr>
        <p:spPr/>
        <p:txBody>
          <a:bodyPr/>
          <a:lstStyle/>
          <a:p>
            <a:fld id="{A05B3F6B-FD3D-4789-A80B-DDBE7372AE8C}" type="slidenum">
              <a:rPr lang="es-CL" smtClean="0"/>
              <a:t>15</a:t>
            </a:fld>
            <a:endParaRPr lang="es-CL"/>
          </a:p>
        </p:txBody>
      </p:sp>
    </p:spTree>
    <p:extLst>
      <p:ext uri="{BB962C8B-B14F-4D97-AF65-F5344CB8AC3E}">
        <p14:creationId xmlns:p14="http://schemas.microsoft.com/office/powerpoint/2010/main" val="161349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DFC2-A347-2C05-5D05-0C6E63FE0C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2772AD-5AB0-5E11-C365-BF7B5334F72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0E7D452-0431-4E50-2A3C-00146234F7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2CDC96A7-A100-13AD-1795-0FCC5247E8F7}"/>
              </a:ext>
            </a:extLst>
          </p:cNvPr>
          <p:cNvSpPr>
            <a:spLocks noGrp="1"/>
          </p:cNvSpPr>
          <p:nvPr>
            <p:ph type="sldNum" sz="quarter" idx="10"/>
          </p:nvPr>
        </p:nvSpPr>
        <p:spPr/>
        <p:txBody>
          <a:bodyPr/>
          <a:lstStyle/>
          <a:p>
            <a:fld id="{A05B3F6B-FD3D-4789-A80B-DDBE7372AE8C}" type="slidenum">
              <a:rPr lang="es-CL" smtClean="0"/>
              <a:t>16</a:t>
            </a:fld>
            <a:endParaRPr lang="es-CL"/>
          </a:p>
        </p:txBody>
      </p:sp>
    </p:spTree>
    <p:extLst>
      <p:ext uri="{BB962C8B-B14F-4D97-AF65-F5344CB8AC3E}">
        <p14:creationId xmlns:p14="http://schemas.microsoft.com/office/powerpoint/2010/main" val="39272811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DFAED-58A9-EA5C-CD64-FD5FDB1BC0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2C2C8B-2CF7-8DDD-A975-156C8B9127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E640C9-15CE-FC6B-61D1-7BB185E6A6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F2EB810F-E77B-1308-1509-3426787F8E58}"/>
              </a:ext>
            </a:extLst>
          </p:cNvPr>
          <p:cNvSpPr>
            <a:spLocks noGrp="1"/>
          </p:cNvSpPr>
          <p:nvPr>
            <p:ph type="sldNum" sz="quarter" idx="10"/>
          </p:nvPr>
        </p:nvSpPr>
        <p:spPr/>
        <p:txBody>
          <a:bodyPr/>
          <a:lstStyle/>
          <a:p>
            <a:fld id="{A05B3F6B-FD3D-4789-A80B-DDBE7372AE8C}" type="slidenum">
              <a:rPr lang="es-CL" smtClean="0"/>
              <a:t>17</a:t>
            </a:fld>
            <a:endParaRPr lang="es-CL"/>
          </a:p>
        </p:txBody>
      </p:sp>
    </p:spTree>
    <p:extLst>
      <p:ext uri="{BB962C8B-B14F-4D97-AF65-F5344CB8AC3E}">
        <p14:creationId xmlns:p14="http://schemas.microsoft.com/office/powerpoint/2010/main" val="1657919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0A3C7-0D66-283B-3DED-63A4569826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0C548E-6CE2-678F-0AFF-B735F6325E1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950FF9-B3FC-D8A2-6DE3-AE1A2E38E0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9C75DFC4-E0E2-CB42-02BB-642E32E85DE8}"/>
              </a:ext>
            </a:extLst>
          </p:cNvPr>
          <p:cNvSpPr>
            <a:spLocks noGrp="1"/>
          </p:cNvSpPr>
          <p:nvPr>
            <p:ph type="sldNum" sz="quarter" idx="10"/>
          </p:nvPr>
        </p:nvSpPr>
        <p:spPr/>
        <p:txBody>
          <a:bodyPr/>
          <a:lstStyle/>
          <a:p>
            <a:fld id="{A05B3F6B-FD3D-4789-A80B-DDBE7372AE8C}" type="slidenum">
              <a:rPr lang="es-CL" smtClean="0"/>
              <a:t>18</a:t>
            </a:fld>
            <a:endParaRPr lang="es-CL"/>
          </a:p>
        </p:txBody>
      </p:sp>
    </p:spTree>
    <p:extLst>
      <p:ext uri="{BB962C8B-B14F-4D97-AF65-F5344CB8AC3E}">
        <p14:creationId xmlns:p14="http://schemas.microsoft.com/office/powerpoint/2010/main" val="1402218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21156-8E01-B4CF-F00B-4E935A155F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A1BD6F-9B91-40EB-E695-A1500128E5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88CD05-1886-4B01-DF1B-642A3A0487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30C96AC2-C793-0916-299C-1FEB5B17169E}"/>
              </a:ext>
            </a:extLst>
          </p:cNvPr>
          <p:cNvSpPr>
            <a:spLocks noGrp="1"/>
          </p:cNvSpPr>
          <p:nvPr>
            <p:ph type="sldNum" sz="quarter" idx="10"/>
          </p:nvPr>
        </p:nvSpPr>
        <p:spPr/>
        <p:txBody>
          <a:bodyPr/>
          <a:lstStyle/>
          <a:p>
            <a:fld id="{A05B3F6B-FD3D-4789-A80B-DDBE7372AE8C}" type="slidenum">
              <a:rPr lang="es-CL" smtClean="0"/>
              <a:t>19</a:t>
            </a:fld>
            <a:endParaRPr lang="es-CL"/>
          </a:p>
        </p:txBody>
      </p:sp>
    </p:spTree>
    <p:extLst>
      <p:ext uri="{BB962C8B-B14F-4D97-AF65-F5344CB8AC3E}">
        <p14:creationId xmlns:p14="http://schemas.microsoft.com/office/powerpoint/2010/main" val="3206687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F6EA6-45D1-48EB-D453-F3104FA95C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CB92A8-2940-4205-DC84-484106C9CE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100C29-FC40-47B0-9AF8-CC6125888A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F02EE35B-2667-554D-D06B-629FACD208D8}"/>
              </a:ext>
            </a:extLst>
          </p:cNvPr>
          <p:cNvSpPr>
            <a:spLocks noGrp="1"/>
          </p:cNvSpPr>
          <p:nvPr>
            <p:ph type="sldNum" sz="quarter" idx="10"/>
          </p:nvPr>
        </p:nvSpPr>
        <p:spPr/>
        <p:txBody>
          <a:bodyPr/>
          <a:lstStyle/>
          <a:p>
            <a:fld id="{A05B3F6B-FD3D-4789-A80B-DDBE7372AE8C}" type="slidenum">
              <a:rPr lang="es-CL" smtClean="0"/>
              <a:t>20</a:t>
            </a:fld>
            <a:endParaRPr lang="es-CL"/>
          </a:p>
        </p:txBody>
      </p:sp>
    </p:spTree>
    <p:extLst>
      <p:ext uri="{BB962C8B-B14F-4D97-AF65-F5344CB8AC3E}">
        <p14:creationId xmlns:p14="http://schemas.microsoft.com/office/powerpoint/2010/main" val="40849363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F1926-0EF2-1F6D-22CF-D6322133F0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804D73-85A9-5A81-FF7E-2F8CC11BB2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969024D-17DD-1579-FD77-B265785904E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2868660C-5261-4A03-6CA1-4B4070D60B97}"/>
              </a:ext>
            </a:extLst>
          </p:cNvPr>
          <p:cNvSpPr>
            <a:spLocks noGrp="1"/>
          </p:cNvSpPr>
          <p:nvPr>
            <p:ph type="sldNum" sz="quarter" idx="10"/>
          </p:nvPr>
        </p:nvSpPr>
        <p:spPr/>
        <p:txBody>
          <a:bodyPr/>
          <a:lstStyle/>
          <a:p>
            <a:fld id="{A05B3F6B-FD3D-4789-A80B-DDBE7372AE8C}" type="slidenum">
              <a:rPr lang="es-CL" smtClean="0"/>
              <a:t>21</a:t>
            </a:fld>
            <a:endParaRPr lang="es-CL"/>
          </a:p>
        </p:txBody>
      </p:sp>
    </p:spTree>
    <p:extLst>
      <p:ext uri="{BB962C8B-B14F-4D97-AF65-F5344CB8AC3E}">
        <p14:creationId xmlns:p14="http://schemas.microsoft.com/office/powerpoint/2010/main" val="1758330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E1123-74F6-EEBE-7E31-EA80C59AB5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16C71D-9F96-5B25-9CFF-8E8374D6AB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80B6C4-63BD-ECC6-3660-D6800C41EAE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D70A8798-4412-16EA-EC29-30FADA0ADE92}"/>
              </a:ext>
            </a:extLst>
          </p:cNvPr>
          <p:cNvSpPr>
            <a:spLocks noGrp="1"/>
          </p:cNvSpPr>
          <p:nvPr>
            <p:ph type="sldNum" sz="quarter" idx="10"/>
          </p:nvPr>
        </p:nvSpPr>
        <p:spPr/>
        <p:txBody>
          <a:bodyPr/>
          <a:lstStyle/>
          <a:p>
            <a:fld id="{A05B3F6B-FD3D-4789-A80B-DDBE7372AE8C}" type="slidenum">
              <a:rPr lang="es-CL" smtClean="0"/>
              <a:t>22</a:t>
            </a:fld>
            <a:endParaRPr lang="es-CL"/>
          </a:p>
        </p:txBody>
      </p:sp>
    </p:spTree>
    <p:extLst>
      <p:ext uri="{BB962C8B-B14F-4D97-AF65-F5344CB8AC3E}">
        <p14:creationId xmlns:p14="http://schemas.microsoft.com/office/powerpoint/2010/main" val="34084389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9DFA-896B-E9BD-8E46-8B7F94A877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DBEDA0-7713-3612-CB23-2CC13EDA16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8AF4B9-0FF0-62A0-60D1-BF0BF09708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7C595B2D-B3F9-D3E5-62F9-9C77E0B023AA}"/>
              </a:ext>
            </a:extLst>
          </p:cNvPr>
          <p:cNvSpPr>
            <a:spLocks noGrp="1"/>
          </p:cNvSpPr>
          <p:nvPr>
            <p:ph type="sldNum" sz="quarter" idx="10"/>
          </p:nvPr>
        </p:nvSpPr>
        <p:spPr/>
        <p:txBody>
          <a:bodyPr/>
          <a:lstStyle/>
          <a:p>
            <a:fld id="{A05B3F6B-FD3D-4789-A80B-DDBE7372AE8C}" type="slidenum">
              <a:rPr lang="es-CL" smtClean="0"/>
              <a:t>23</a:t>
            </a:fld>
            <a:endParaRPr lang="es-CL"/>
          </a:p>
        </p:txBody>
      </p:sp>
    </p:spTree>
    <p:extLst>
      <p:ext uri="{BB962C8B-B14F-4D97-AF65-F5344CB8AC3E}">
        <p14:creationId xmlns:p14="http://schemas.microsoft.com/office/powerpoint/2010/main" val="564970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CB9A-277F-8280-9852-13CAD52AAB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ECFA1B-DAFF-2BCB-9A13-D8410CEEEF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0EF969-1E1B-D48D-87C4-6035F0BF50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B4234C78-FFD5-2201-056E-D7D2E0BA4A85}"/>
              </a:ext>
            </a:extLst>
          </p:cNvPr>
          <p:cNvSpPr>
            <a:spLocks noGrp="1"/>
          </p:cNvSpPr>
          <p:nvPr>
            <p:ph type="sldNum" sz="quarter" idx="10"/>
          </p:nvPr>
        </p:nvSpPr>
        <p:spPr/>
        <p:txBody>
          <a:bodyPr/>
          <a:lstStyle/>
          <a:p>
            <a:fld id="{A05B3F6B-FD3D-4789-A80B-DDBE7372AE8C}" type="slidenum">
              <a:rPr lang="es-CL" smtClean="0"/>
              <a:t>24</a:t>
            </a:fld>
            <a:endParaRPr lang="es-CL"/>
          </a:p>
        </p:txBody>
      </p:sp>
    </p:spTree>
    <p:extLst>
      <p:ext uri="{BB962C8B-B14F-4D97-AF65-F5344CB8AC3E}">
        <p14:creationId xmlns:p14="http://schemas.microsoft.com/office/powerpoint/2010/main" val="29446465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03FEE-1C2F-5D19-A65E-B891DC309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78B00D-4125-DCC8-BEAD-E5AB94650F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4E21EA6-FCC9-FC7B-890A-F0C69DE157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8F897FCD-1C72-A4D7-CC03-64DE5728D873}"/>
              </a:ext>
            </a:extLst>
          </p:cNvPr>
          <p:cNvSpPr>
            <a:spLocks noGrp="1"/>
          </p:cNvSpPr>
          <p:nvPr>
            <p:ph type="sldNum" sz="quarter" idx="10"/>
          </p:nvPr>
        </p:nvSpPr>
        <p:spPr/>
        <p:txBody>
          <a:bodyPr/>
          <a:lstStyle/>
          <a:p>
            <a:fld id="{A05B3F6B-FD3D-4789-A80B-DDBE7372AE8C}" type="slidenum">
              <a:rPr lang="es-CL" smtClean="0"/>
              <a:t>25</a:t>
            </a:fld>
            <a:endParaRPr lang="es-CL"/>
          </a:p>
        </p:txBody>
      </p:sp>
    </p:spTree>
    <p:extLst>
      <p:ext uri="{BB962C8B-B14F-4D97-AF65-F5344CB8AC3E}">
        <p14:creationId xmlns:p14="http://schemas.microsoft.com/office/powerpoint/2010/main" val="3577174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950E-A15B-1293-DBC3-05AF64BCD4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23E16F-C164-440A-62AF-E8974F28EF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82145B8-F8DC-9B03-AED1-6B6459D5E5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309AFCBD-B7C3-A168-34AD-D18DED9F9782}"/>
              </a:ext>
            </a:extLst>
          </p:cNvPr>
          <p:cNvSpPr>
            <a:spLocks noGrp="1"/>
          </p:cNvSpPr>
          <p:nvPr>
            <p:ph type="sldNum" sz="quarter" idx="10"/>
          </p:nvPr>
        </p:nvSpPr>
        <p:spPr/>
        <p:txBody>
          <a:bodyPr/>
          <a:lstStyle/>
          <a:p>
            <a:fld id="{A05B3F6B-FD3D-4789-A80B-DDBE7372AE8C}" type="slidenum">
              <a:rPr lang="es-CL" smtClean="0"/>
              <a:t>26</a:t>
            </a:fld>
            <a:endParaRPr lang="es-CL"/>
          </a:p>
        </p:txBody>
      </p:sp>
    </p:spTree>
    <p:extLst>
      <p:ext uri="{BB962C8B-B14F-4D97-AF65-F5344CB8AC3E}">
        <p14:creationId xmlns:p14="http://schemas.microsoft.com/office/powerpoint/2010/main" val="40481386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_tradnl"/>
              <a:t> </a:t>
            </a:r>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27</a:t>
            </a:fld>
            <a:endParaRPr lang="es-ES_tradnl"/>
          </a:p>
        </p:txBody>
      </p:sp>
    </p:spTree>
    <p:extLst>
      <p:ext uri="{BB962C8B-B14F-4D97-AF65-F5344CB8AC3E}">
        <p14:creationId xmlns:p14="http://schemas.microsoft.com/office/powerpoint/2010/main" val="1646625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FD61C-0A90-4B9A-A315-3352DD7666C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BDDF5D3-A263-4863-96AA-6D12D8E5C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AF12CE5-C309-4B2D-BD10-0B7E82ABCAB4}"/>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5" name="Marcador de pie de página 4">
            <a:extLst>
              <a:ext uri="{FF2B5EF4-FFF2-40B4-BE49-F238E27FC236}">
                <a16:creationId xmlns:a16="http://schemas.microsoft.com/office/drawing/2014/main" id="{D4B1AD1E-A33A-461A-BED1-AAFF577C582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A513482-8FCA-43F3-ACFF-A812379D4B4F}"/>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396148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6DE8B-6551-4B7F-B63E-815A6341CE7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2A0A3D7-77B3-46D3-AE54-4F9D6BEA823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B4F2BFCD-DDD8-4F96-82E2-713C08732049}"/>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5" name="Marcador de pie de página 4">
            <a:extLst>
              <a:ext uri="{FF2B5EF4-FFF2-40B4-BE49-F238E27FC236}">
                <a16:creationId xmlns:a16="http://schemas.microsoft.com/office/drawing/2014/main" id="{0B40AEEB-1DA1-4197-96DA-AD62BE8B06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89690DF-3D9A-4C6A-AD36-5A24BB909504}"/>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97704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94D864-4966-49DA-B249-8501969ABF5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C3EA68D-43FF-4618-AB62-E544AE9DD5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9B8C3B9-76FF-4222-99FB-9217B8D65DBD}"/>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5" name="Marcador de pie de página 4">
            <a:extLst>
              <a:ext uri="{FF2B5EF4-FFF2-40B4-BE49-F238E27FC236}">
                <a16:creationId xmlns:a16="http://schemas.microsoft.com/office/drawing/2014/main" id="{2FBA531C-D6D2-49A3-91F5-6D96EA9ACAB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2AA51F6-8B98-4630-BB14-C36D0F5553FF}"/>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191201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A0161-C576-4CEA-B1E9-8FA2852358E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C19F4BF3-C1AF-4910-9597-5A55AC43906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D748A99F-4AD1-4C69-9A10-919EB711C7C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E9EB02A-C1AC-418C-A930-C585FF05E954}"/>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6" name="Marcador de pie de página 5">
            <a:extLst>
              <a:ext uri="{FF2B5EF4-FFF2-40B4-BE49-F238E27FC236}">
                <a16:creationId xmlns:a16="http://schemas.microsoft.com/office/drawing/2014/main" id="{9E74E7B3-D0B5-433B-857E-25A13C04E51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54B8614-7433-45BC-8EC8-56E68443BD1B}"/>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520775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A9C18-7D1B-4166-9AEE-545CA1761A8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7F95075-0256-468A-AD8F-A1F61BD082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B9E5E0-11B2-4B05-8789-85B0EE1FEE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E901DD3-B34A-4DD8-97CA-E2987EF30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7AAD9E-A074-42CF-9F72-8E1E7DFC5D6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BFD3C18F-D681-4F6D-BE42-609E883924F7}"/>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8" name="Marcador de pie de página 7">
            <a:extLst>
              <a:ext uri="{FF2B5EF4-FFF2-40B4-BE49-F238E27FC236}">
                <a16:creationId xmlns:a16="http://schemas.microsoft.com/office/drawing/2014/main" id="{F3EC7256-E19E-4965-8F6B-EFBABFABABB1}"/>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674FF0C1-9153-4A2B-8E4F-F4152A4F91EE}"/>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74614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39F0E-B6B3-413D-B8D5-3EBC57D1426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42873099-B246-4157-B167-31A34CBF0258}"/>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4" name="Marcador de pie de página 3">
            <a:extLst>
              <a:ext uri="{FF2B5EF4-FFF2-40B4-BE49-F238E27FC236}">
                <a16:creationId xmlns:a16="http://schemas.microsoft.com/office/drawing/2014/main" id="{269BD8DC-CF8D-421C-B582-E2834B32990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5E83B244-BE08-415F-A652-086EC5A82E76}"/>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7503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E583E29-A1E4-4FC8-B85D-6BE7C231A952}"/>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3" name="Marcador de pie de página 2">
            <a:extLst>
              <a:ext uri="{FF2B5EF4-FFF2-40B4-BE49-F238E27FC236}">
                <a16:creationId xmlns:a16="http://schemas.microsoft.com/office/drawing/2014/main" id="{046CF79B-BA17-4D6D-BA75-5945303F7402}"/>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7890813B-FF99-42BE-A591-72FF1181350A}"/>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349257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F088D-2BE3-4F1B-987C-8B905E083C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B5BA28C-FB6A-486F-B219-12DC33399E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693A24BF-DD2F-442E-BB2E-79EB05656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195DAA-3224-49BF-B596-C1113FBBE3B4}"/>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6" name="Marcador de pie de página 5">
            <a:extLst>
              <a:ext uri="{FF2B5EF4-FFF2-40B4-BE49-F238E27FC236}">
                <a16:creationId xmlns:a16="http://schemas.microsoft.com/office/drawing/2014/main" id="{A5C48EA5-0BD0-4552-BA61-0390B0F05A8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3B22A88C-7103-4730-8BB6-AF641F0D0951}"/>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1994258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E449A-69B1-4F86-96DA-B146C800A5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C1A6C1D-C402-4DEF-8993-5ADD947C4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53F710F-DB16-4B8C-AD3D-F16A5E7BE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9293B3C-6CA9-4BD6-91F2-9DBFEA7394CC}"/>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6" name="Marcador de pie de página 5">
            <a:extLst>
              <a:ext uri="{FF2B5EF4-FFF2-40B4-BE49-F238E27FC236}">
                <a16:creationId xmlns:a16="http://schemas.microsoft.com/office/drawing/2014/main" id="{5C81912F-C394-4F33-9CE7-44AD534CC71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8308917-DFFC-4144-833E-8D05F22B8A86}"/>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388362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03DF0-44BB-459D-A838-EF8CDA8790D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CB7B1C5A-66F0-408C-BC62-0DA1AFF38AC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55D2308-48DE-4E9C-9E15-BEFCC70A9E79}"/>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5" name="Marcador de pie de página 4">
            <a:extLst>
              <a:ext uri="{FF2B5EF4-FFF2-40B4-BE49-F238E27FC236}">
                <a16:creationId xmlns:a16="http://schemas.microsoft.com/office/drawing/2014/main" id="{5930F8CE-545A-4BD0-895C-230FB50BFF6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4A02F44-FB0E-4A1A-80B4-D8CEC3A238EE}"/>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4067412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780EC09-2B9E-40D2-93FB-147D12F01C4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F58EEA2-F90F-4403-88FA-A9DF1626D5F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11CCB10-1A32-4DA2-B6B5-FCD7DDDC91F0}"/>
              </a:ext>
            </a:extLst>
          </p:cNvPr>
          <p:cNvSpPr>
            <a:spLocks noGrp="1"/>
          </p:cNvSpPr>
          <p:nvPr>
            <p:ph type="dt" sz="half" idx="10"/>
          </p:nvPr>
        </p:nvSpPr>
        <p:spPr/>
        <p:txBody>
          <a:bodyPr/>
          <a:lstStyle/>
          <a:p>
            <a:fld id="{8879C6B0-6393-4131-9540-C068361BDDD0}" type="datetimeFigureOut">
              <a:rPr lang="es-CL" smtClean="0"/>
              <a:t>26-06-2026</a:t>
            </a:fld>
            <a:endParaRPr lang="es-CL"/>
          </a:p>
        </p:txBody>
      </p:sp>
      <p:sp>
        <p:nvSpPr>
          <p:cNvPr id="5" name="Marcador de pie de página 4">
            <a:extLst>
              <a:ext uri="{FF2B5EF4-FFF2-40B4-BE49-F238E27FC236}">
                <a16:creationId xmlns:a16="http://schemas.microsoft.com/office/drawing/2014/main" id="{E864AA77-03F2-4456-AA16-C71D986CF10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10BDE9E-A2E7-4823-88CC-A641B66DB4B7}"/>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4062566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7118581" cy="1143000"/>
          </a:xfrm>
        </p:spPr>
        <p:txBody>
          <a:bodyPr/>
          <a:lstStyle/>
          <a:p>
            <a:r>
              <a:rPr lang="es-ES_tradnl"/>
              <a:t>Clic para editar título</a:t>
            </a:r>
            <a:endParaRPr lang="es-ES"/>
          </a:p>
        </p:txBody>
      </p:sp>
      <p:sp>
        <p:nvSpPr>
          <p:cNvPr id="4" name="Marcador de fecha 3"/>
          <p:cNvSpPr>
            <a:spLocks noGrp="1"/>
          </p:cNvSpPr>
          <p:nvPr>
            <p:ph type="dt" sz="half" idx="10"/>
          </p:nvPr>
        </p:nvSpPr>
        <p:spPr/>
        <p:txBody>
          <a:bodyPr/>
          <a:lstStyle/>
          <a:p>
            <a:pPr defTabSz="457200">
              <a:defRPr/>
            </a:pPr>
            <a:fld id="{AC604C90-5466-0B48-96CB-E2890ED738F2}" type="datetimeFigureOut">
              <a:rPr lang="es-ES" smtClean="0">
                <a:solidFill>
                  <a:prstClr val="black">
                    <a:tint val="75000"/>
                  </a:prstClr>
                </a:solidFill>
              </a:rPr>
              <a:pPr defTabSz="457200">
                <a:defRPr/>
              </a:pPr>
              <a:t>26/06/2026</a:t>
            </a:fld>
            <a:endParaRPr lang="es-ES">
              <a:solidFill>
                <a:prstClr val="black">
                  <a:tint val="75000"/>
                </a:prstClr>
              </a:solidFill>
            </a:endParaRPr>
          </a:p>
        </p:txBody>
      </p:sp>
      <p:sp>
        <p:nvSpPr>
          <p:cNvPr id="5" name="Marcador de pie de página 4"/>
          <p:cNvSpPr>
            <a:spLocks noGrp="1"/>
          </p:cNvSpPr>
          <p:nvPr>
            <p:ph type="ftr" sz="quarter" idx="11"/>
          </p:nvPr>
        </p:nvSpPr>
        <p:spPr/>
        <p:txBody>
          <a:bodyPr/>
          <a:lstStyle/>
          <a:p>
            <a:pPr defTabSz="457200">
              <a:defRPr/>
            </a:pPr>
            <a:endParaRPr lang="es-ES">
              <a:solidFill>
                <a:prstClr val="black">
                  <a:tint val="75000"/>
                </a:prstClr>
              </a:solidFill>
            </a:endParaRPr>
          </a:p>
        </p:txBody>
      </p:sp>
      <p:sp>
        <p:nvSpPr>
          <p:cNvPr id="6" name="Marcador de número de diapositiva 5"/>
          <p:cNvSpPr>
            <a:spLocks noGrp="1"/>
          </p:cNvSpPr>
          <p:nvPr>
            <p:ph type="sldNum" sz="quarter" idx="12"/>
          </p:nvPr>
        </p:nvSpPr>
        <p:spPr/>
        <p:txBody>
          <a:bodyPr/>
          <a:lstStyle/>
          <a:p>
            <a:pPr defTabSz="457200">
              <a:defRPr/>
            </a:pPr>
            <a:fld id="{9DC25825-B1DE-1B44-BAFE-9EA3DBC1CEEA}" type="slidenum">
              <a:rPr lang="es-ES" smtClean="0">
                <a:solidFill>
                  <a:prstClr val="black">
                    <a:tint val="75000"/>
                  </a:prstClr>
                </a:solidFill>
              </a:rPr>
              <a:pPr defTabSz="457200">
                <a:defRPr/>
              </a:pPr>
              <a:t>‹Nº›</a:t>
            </a:fld>
            <a:endParaRPr lang="es-ES">
              <a:solidFill>
                <a:prstClr val="black">
                  <a:tint val="75000"/>
                </a:prstClr>
              </a:solidFill>
            </a:endParaRPr>
          </a:p>
        </p:txBody>
      </p:sp>
      <p:sp>
        <p:nvSpPr>
          <p:cNvPr id="7" name="Marcador de contenido 2"/>
          <p:cNvSpPr>
            <a:spLocks noGrp="1"/>
          </p:cNvSpPr>
          <p:nvPr>
            <p:ph idx="13"/>
          </p:nvPr>
        </p:nvSpPr>
        <p:spPr>
          <a:xfrm>
            <a:off x="609600" y="1600201"/>
            <a:ext cx="10972800" cy="4525963"/>
          </a:xfrm>
        </p:spPr>
        <p:txBody>
          <a:bodyPr>
            <a:normAutofit/>
          </a:bodyPr>
          <a:lstStyle>
            <a:lvl1pPr>
              <a:buClr>
                <a:srgbClr val="C00000"/>
              </a:buClr>
              <a:defRPr sz="2800"/>
            </a:lvl1pPr>
            <a:lvl2pPr>
              <a:buClr>
                <a:srgbClr val="C00000"/>
              </a:buClr>
              <a:defRPr sz="2400"/>
            </a:lvl2pPr>
            <a:lvl3pPr>
              <a:buClr>
                <a:srgbClr val="C00000"/>
              </a:buClr>
              <a:defRPr sz="2000"/>
            </a:lvl3pPr>
            <a:lvl4pPr>
              <a:buClr>
                <a:srgbClr val="C00000"/>
              </a:buClr>
              <a:defRPr sz="1800"/>
            </a:lvl4pPr>
            <a:lvl5pPr>
              <a:buClr>
                <a:srgbClr val="C00000"/>
              </a:buClr>
              <a:defRPr sz="18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1411065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5409B45-06C2-4FB9-B509-A3427AB240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99B8760-EA6E-4D6E-B268-4352C5049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558343C-E792-4C94-A41E-2EF624E8F8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79C6B0-6393-4131-9540-C068361BDDD0}" type="datetimeFigureOut">
              <a:rPr lang="es-CL" smtClean="0"/>
              <a:t>26-06-2026</a:t>
            </a:fld>
            <a:endParaRPr lang="es-CL"/>
          </a:p>
        </p:txBody>
      </p:sp>
      <p:sp>
        <p:nvSpPr>
          <p:cNvPr id="5" name="Marcador de pie de página 4">
            <a:extLst>
              <a:ext uri="{FF2B5EF4-FFF2-40B4-BE49-F238E27FC236}">
                <a16:creationId xmlns:a16="http://schemas.microsoft.com/office/drawing/2014/main" id="{14EAAD5A-6B54-414C-9F0A-B594F6AC7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D1633233-6333-443C-BD19-C54F679A2C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3AD1CF-B5AB-4551-A2BB-1D29A214764D}" type="slidenum">
              <a:rPr lang="es-CL" smtClean="0"/>
              <a:t>‹Nº›</a:t>
            </a:fld>
            <a:endParaRPr lang="es-CL"/>
          </a:p>
        </p:txBody>
      </p:sp>
    </p:spTree>
    <p:extLst>
      <p:ext uri="{BB962C8B-B14F-4D97-AF65-F5344CB8AC3E}">
        <p14:creationId xmlns:p14="http://schemas.microsoft.com/office/powerpoint/2010/main" val="3132743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183" y="2826327"/>
            <a:ext cx="10875818" cy="2227783"/>
          </a:xfrm>
          <a:prstGeom prst="rect">
            <a:avLst/>
          </a:prstGeom>
        </p:spPr>
      </p:pic>
      <p:sp>
        <p:nvSpPr>
          <p:cNvPr id="10" name="Rectangle 18">
            <a:extLst>
              <a:ext uri="{FF2B5EF4-FFF2-40B4-BE49-F238E27FC236}">
                <a16:creationId xmlns:a16="http://schemas.microsoft.com/office/drawing/2014/main" id="{996DAE91-E53D-4FFB-8098-8AFE46881F1D}"/>
              </a:ext>
            </a:extLst>
          </p:cNvPr>
          <p:cNvSpPr/>
          <p:nvPr/>
        </p:nvSpPr>
        <p:spPr>
          <a:xfrm flipV="1">
            <a:off x="1" y="-16914"/>
            <a:ext cx="12192000" cy="354751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7901" y="5803165"/>
            <a:ext cx="2745501" cy="940998"/>
          </a:xfrm>
          <a:prstGeom prst="rect">
            <a:avLst/>
          </a:prstGeom>
        </p:spPr>
      </p:pic>
      <p:pic>
        <p:nvPicPr>
          <p:cNvPr id="5" name="Imagen 4"/>
          <p:cNvPicPr>
            <a:picLocks noChangeAspect="1"/>
          </p:cNvPicPr>
          <p:nvPr/>
        </p:nvPicPr>
        <p:blipFill>
          <a:blip r:embed="rId5">
            <a:alphaModFix amt="6000"/>
            <a:extLst>
              <a:ext uri="{28A0092B-C50C-407E-A947-70E740481C1C}">
                <a14:useLocalDpi xmlns:a14="http://schemas.microsoft.com/office/drawing/2010/main" val="0"/>
              </a:ext>
            </a:extLst>
          </a:blip>
          <a:stretch>
            <a:fillRect/>
          </a:stretch>
        </p:blipFill>
        <p:spPr>
          <a:xfrm>
            <a:off x="1" y="373477"/>
            <a:ext cx="12192000" cy="3312629"/>
          </a:xfrm>
          <a:prstGeom prst="rect">
            <a:avLst/>
          </a:prstGeom>
        </p:spPr>
      </p:pic>
      <p:pic>
        <p:nvPicPr>
          <p:cNvPr id="9" name="Imagen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530600"/>
            <a:ext cx="3393948" cy="3327400"/>
          </a:xfrm>
          <a:prstGeom prst="rect">
            <a:avLst/>
          </a:prstGeom>
        </p:spPr>
      </p:pic>
      <p:pic>
        <p:nvPicPr>
          <p:cNvPr id="11" name="Imagen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255" y="1073299"/>
            <a:ext cx="2672079" cy="933791"/>
          </a:xfrm>
          <a:prstGeom prst="rect">
            <a:avLst/>
          </a:prstGeom>
        </p:spPr>
      </p:pic>
      <p:pic>
        <p:nvPicPr>
          <p:cNvPr id="8" name="Imagen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01" y="1050420"/>
            <a:ext cx="5303520" cy="281940"/>
          </a:xfrm>
          <a:prstGeom prst="rect">
            <a:avLst/>
          </a:prstGeom>
        </p:spPr>
      </p:pic>
      <p:pic>
        <p:nvPicPr>
          <p:cNvPr id="3" name="Imagen 2" descr="Imagen que contiene alimentos&#10;&#10;Descripción generada automáticamente">
            <a:extLst>
              <a:ext uri="{FF2B5EF4-FFF2-40B4-BE49-F238E27FC236}">
                <a16:creationId xmlns:a16="http://schemas.microsoft.com/office/drawing/2014/main" id="{5B34141F-EC2F-144F-8268-7D4182D95AA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98054" y="5356904"/>
            <a:ext cx="2971800" cy="1079500"/>
          </a:xfrm>
          <a:prstGeom prst="rect">
            <a:avLst/>
          </a:prstGeom>
        </p:spPr>
      </p:pic>
      <p:sp>
        <p:nvSpPr>
          <p:cNvPr id="4" name="CuadroTexto 3">
            <a:extLst>
              <a:ext uri="{FF2B5EF4-FFF2-40B4-BE49-F238E27FC236}">
                <a16:creationId xmlns:a16="http://schemas.microsoft.com/office/drawing/2014/main" id="{202FC531-FC77-0243-AE81-8F245A6FA785}"/>
              </a:ext>
            </a:extLst>
          </p:cNvPr>
          <p:cNvSpPr txBox="1"/>
          <p:nvPr/>
        </p:nvSpPr>
        <p:spPr>
          <a:xfrm>
            <a:off x="8616096" y="6468320"/>
            <a:ext cx="3498843" cy="369332"/>
          </a:xfrm>
          <a:prstGeom prst="rect">
            <a:avLst/>
          </a:prstGeom>
          <a:noFill/>
        </p:spPr>
        <p:txBody>
          <a:bodyPr wrap="none" rtlCol="0">
            <a:spAutoFit/>
          </a:bodyPr>
          <a:lstStyle/>
          <a:p>
            <a:r>
              <a:rPr lang="es-CL" dirty="0">
                <a:solidFill>
                  <a:srgbClr val="004C8B"/>
                </a:solidFill>
              </a:rPr>
              <a:t>INGENIERÍA CIVIL EN INFORMÁTICA</a:t>
            </a:r>
          </a:p>
        </p:txBody>
      </p:sp>
    </p:spTree>
    <p:extLst>
      <p:ext uri="{BB962C8B-B14F-4D97-AF65-F5344CB8AC3E}">
        <p14:creationId xmlns:p14="http://schemas.microsoft.com/office/powerpoint/2010/main" val="208229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a:extLst>
              <a:ext uri="{FF2B5EF4-FFF2-40B4-BE49-F238E27FC236}">
                <a16:creationId xmlns:a16="http://schemas.microsoft.com/office/drawing/2014/main" id="{8ADFA9A2-1A70-4586-A9E0-3C117E6A0C8C}"/>
              </a:ext>
            </a:extLst>
          </p:cNvPr>
          <p:cNvSpPr txBox="1">
            <a:spLocks noChangeArrowheads="1"/>
          </p:cNvSpPr>
          <p:nvPr/>
        </p:nvSpPr>
        <p:spPr bwMode="auto">
          <a:xfrm>
            <a:off x="3303402" y="5887325"/>
            <a:ext cx="685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b="1" dirty="0">
                <a:solidFill>
                  <a:schemeClr val="bg1"/>
                </a:solidFill>
                <a:latin typeface="Arial" charset="0"/>
              </a:rPr>
              <a:t>ARICA - CHILE</a:t>
            </a:r>
            <a:endParaRPr lang="en-US" sz="2400" dirty="0">
              <a:solidFill>
                <a:schemeClr val="bg1"/>
              </a:solidFill>
              <a:latin typeface="Eurostile BoldExtendedTwo"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171"/>
            <a:ext cx="12192000" cy="6890172"/>
          </a:xfrm>
          <a:prstGeom prst="rect">
            <a:avLst/>
          </a:prstGeom>
        </p:spPr>
      </p:pic>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03673" y="1073299"/>
            <a:ext cx="2672079" cy="933791"/>
          </a:xfrm>
          <a:prstGeom prst="rect">
            <a:avLst/>
          </a:prstGeom>
        </p:spPr>
      </p:pic>
    </p:spTree>
    <p:extLst>
      <p:ext uri="{BB962C8B-B14F-4D97-AF65-F5344CB8AC3E}">
        <p14:creationId xmlns:p14="http://schemas.microsoft.com/office/powerpoint/2010/main" val="1427113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8148638" cy="1143000"/>
          </a:xfrm>
        </p:spPr>
        <p:txBody>
          <a:bodyPr>
            <a:normAutofit/>
          </a:bodyPr>
          <a:lstStyle/>
          <a:p>
            <a:pPr algn="l"/>
            <a:r>
              <a:rPr lang="es-MX" dirty="0"/>
              <a:t>Calidad</a:t>
            </a:r>
            <a:endParaRPr lang="es-CL" dirty="0"/>
          </a:p>
        </p:txBody>
      </p:sp>
      <p:sp>
        <p:nvSpPr>
          <p:cNvPr id="4" name="Marcador de contenido 3">
            <a:extLst>
              <a:ext uri="{FF2B5EF4-FFF2-40B4-BE49-F238E27FC236}">
                <a16:creationId xmlns:a16="http://schemas.microsoft.com/office/drawing/2014/main" id="{BB69F034-329A-4742-8C2C-8C0DD2E698C7}"/>
              </a:ext>
            </a:extLst>
          </p:cNvPr>
          <p:cNvSpPr>
            <a:spLocks noGrp="1"/>
          </p:cNvSpPr>
          <p:nvPr>
            <p:ph idx="13"/>
          </p:nvPr>
        </p:nvSpPr>
        <p:spPr>
          <a:xfrm>
            <a:off x="609600" y="1600201"/>
            <a:ext cx="10352394" cy="4525963"/>
          </a:xfrm>
        </p:spPr>
        <p:txBody>
          <a:bodyPr>
            <a:normAutofit/>
          </a:bodyPr>
          <a:lstStyle/>
          <a:p>
            <a:pPr marL="0" indent="0" algn="just">
              <a:buNone/>
            </a:pPr>
            <a:r>
              <a:rPr lang="es-MX" noProof="0" dirty="0"/>
              <a:t>En la actualidad, la calidad del software sigue siendo un problema, </a:t>
            </a:r>
          </a:p>
          <a:p>
            <a:pPr algn="just"/>
            <a:r>
              <a:rPr lang="es-MX" noProof="0" dirty="0"/>
              <a:t>Los clientes culpan a los desarrolladores, argumentan que las practicas descuidadas conducen a software de baja calidad</a:t>
            </a:r>
          </a:p>
          <a:p>
            <a:pPr algn="just"/>
            <a:r>
              <a:rPr lang="es-MX" noProof="0" dirty="0"/>
              <a:t>Los desarrolladores culpan a los clientes, argumentando que las fechas de entrega son irracionales y los cambios los obligan a entregar software antes de validarlos por completo.</a:t>
            </a:r>
          </a:p>
          <a:p>
            <a:pPr marL="0" indent="0" algn="just">
              <a:buNone/>
            </a:pPr>
            <a:r>
              <a:rPr lang="es-MX" noProof="0" dirty="0"/>
              <a:t>¿Quién tiene la culpa?</a:t>
            </a:r>
            <a:endParaRPr lang="es-CL" noProof="0" dirty="0"/>
          </a:p>
        </p:txBody>
      </p:sp>
      <p:sp>
        <p:nvSpPr>
          <p:cNvPr id="3" name="Marcador de contenido 2"/>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A0F68CF3-2050-4A6F-AF5F-CB6DCB46DCEE}"/>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13D1E45-2E41-49FD-8CBC-ECAD056683E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BC3B1013-3A74-4808-9459-EF0A0BE2B450}"/>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6108630-1BE7-4C16-ACBC-7DAC47485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08AAB99-AA43-457A-BFA2-8B68AFA22B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2707598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98CA-AB51-8DED-888A-2B28E0CE04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521905-6CD9-81F3-CE0E-686988624AC0}"/>
              </a:ext>
            </a:extLst>
          </p:cNvPr>
          <p:cNvSpPr>
            <a:spLocks noGrp="1"/>
          </p:cNvSpPr>
          <p:nvPr>
            <p:ph type="title"/>
          </p:nvPr>
        </p:nvSpPr>
        <p:spPr>
          <a:xfrm>
            <a:off x="609600" y="274638"/>
            <a:ext cx="8148638" cy="1143000"/>
          </a:xfrm>
        </p:spPr>
        <p:txBody>
          <a:bodyPr>
            <a:normAutofit/>
          </a:bodyPr>
          <a:lstStyle/>
          <a:p>
            <a:r>
              <a:rPr lang="es-MX" dirty="0"/>
              <a:t>¿Qué es la calidad?</a:t>
            </a:r>
            <a:endParaRPr lang="es-CL" dirty="0"/>
          </a:p>
        </p:txBody>
      </p:sp>
      <p:sp>
        <p:nvSpPr>
          <p:cNvPr id="4" name="Marcador de contenido 3">
            <a:extLst>
              <a:ext uri="{FF2B5EF4-FFF2-40B4-BE49-F238E27FC236}">
                <a16:creationId xmlns:a16="http://schemas.microsoft.com/office/drawing/2014/main" id="{B4F73B91-37CC-2894-C92C-DCC3B3B002E1}"/>
              </a:ext>
            </a:extLst>
          </p:cNvPr>
          <p:cNvSpPr>
            <a:spLocks noGrp="1"/>
          </p:cNvSpPr>
          <p:nvPr>
            <p:ph idx="13"/>
          </p:nvPr>
        </p:nvSpPr>
        <p:spPr>
          <a:xfrm>
            <a:off x="609600" y="1600201"/>
            <a:ext cx="10352394" cy="4525963"/>
          </a:xfrm>
        </p:spPr>
        <p:txBody>
          <a:bodyPr>
            <a:normAutofit/>
          </a:bodyPr>
          <a:lstStyle/>
          <a:p>
            <a:pPr marL="0" indent="0" algn="just">
              <a:buNone/>
            </a:pPr>
            <a:endParaRPr lang="es-CL" noProof="0" dirty="0"/>
          </a:p>
        </p:txBody>
      </p:sp>
      <p:sp>
        <p:nvSpPr>
          <p:cNvPr id="3" name="Marcador de contenido 2">
            <a:extLst>
              <a:ext uri="{FF2B5EF4-FFF2-40B4-BE49-F238E27FC236}">
                <a16:creationId xmlns:a16="http://schemas.microsoft.com/office/drawing/2014/main" id="{C3DA59BA-FDF7-3159-9C33-475773BE0512}"/>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291DFAB-EA43-AAE1-DAC5-40D54C930EFB}"/>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3536A39E-FCCE-B698-7947-AB2AF40FBE13}"/>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60448DB3-9BCA-BD0A-2948-8F243ADA9E4A}"/>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A483CA01-D3D3-3647-E396-9C3C4DA7E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65A0B797-145A-E8CF-F5A1-3BDB5DB48A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327223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3DD74-19CF-6F67-ED27-A93950CC32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18A09C-0A2C-D44C-42E1-177DB70F5A7D}"/>
              </a:ext>
            </a:extLst>
          </p:cNvPr>
          <p:cNvSpPr>
            <a:spLocks noGrp="1"/>
          </p:cNvSpPr>
          <p:nvPr>
            <p:ph type="title"/>
          </p:nvPr>
        </p:nvSpPr>
        <p:spPr>
          <a:xfrm>
            <a:off x="609600" y="274638"/>
            <a:ext cx="8148638" cy="1143000"/>
          </a:xfrm>
        </p:spPr>
        <p:txBody>
          <a:bodyPr>
            <a:normAutofit/>
          </a:bodyPr>
          <a:lstStyle/>
          <a:p>
            <a:r>
              <a:rPr lang="es-MX" dirty="0"/>
              <a:t>¿Qué es la calidad?</a:t>
            </a:r>
            <a:endParaRPr lang="es-CL" dirty="0"/>
          </a:p>
        </p:txBody>
      </p:sp>
      <p:sp>
        <p:nvSpPr>
          <p:cNvPr id="4" name="Marcador de contenido 3">
            <a:extLst>
              <a:ext uri="{FF2B5EF4-FFF2-40B4-BE49-F238E27FC236}">
                <a16:creationId xmlns:a16="http://schemas.microsoft.com/office/drawing/2014/main" id="{0E448B0C-277D-B08D-8024-6DA3AFB4684C}"/>
              </a:ext>
            </a:extLst>
          </p:cNvPr>
          <p:cNvSpPr>
            <a:spLocks noGrp="1"/>
          </p:cNvSpPr>
          <p:nvPr>
            <p:ph idx="13"/>
          </p:nvPr>
        </p:nvSpPr>
        <p:spPr>
          <a:xfrm>
            <a:off x="609600" y="1600201"/>
            <a:ext cx="10352394" cy="4525963"/>
          </a:xfrm>
        </p:spPr>
        <p:txBody>
          <a:bodyPr>
            <a:noAutofit/>
          </a:bodyPr>
          <a:lstStyle/>
          <a:p>
            <a:pPr marL="0" indent="0" algn="just">
              <a:buNone/>
            </a:pPr>
            <a:r>
              <a:rPr lang="es-MX" sz="1800" noProof="0" dirty="0"/>
              <a:t>David </a:t>
            </a:r>
            <a:r>
              <a:rPr lang="es-MX" sz="1800" noProof="0"/>
              <a:t>Garvin, Sugiere </a:t>
            </a:r>
            <a:r>
              <a:rPr lang="es-MX" sz="1800" noProof="0" dirty="0"/>
              <a:t>que "la calidad es un concepto complejo y multifacético" que puede describirse en 5 puntos de vista diferentes:</a:t>
            </a:r>
          </a:p>
          <a:p>
            <a:pPr algn="just"/>
            <a:r>
              <a:rPr lang="es-MX" sz="1800" dirty="0"/>
              <a:t>La </a:t>
            </a:r>
            <a:r>
              <a:rPr lang="es-MX" sz="1800" b="1" dirty="0"/>
              <a:t>vista</a:t>
            </a:r>
            <a:r>
              <a:rPr lang="es-MX" sz="1800" b="1" noProof="0" dirty="0"/>
              <a:t> trascendental </a:t>
            </a:r>
            <a:r>
              <a:rPr lang="es-CL" sz="1800" dirty="0"/>
              <a:t>La calidad se entiende como algo innato, excelente y reconocible, pero que no se puede desglosar en una lista de verificación. Es una condición de excelencia que se percibe a través de la experiencia.</a:t>
            </a:r>
          </a:p>
          <a:p>
            <a:pPr algn="just"/>
            <a:r>
              <a:rPr lang="es-MX" sz="1800" noProof="0" dirty="0"/>
              <a:t>La </a:t>
            </a:r>
            <a:r>
              <a:rPr lang="es-MX" sz="1800" b="1" noProof="0" dirty="0"/>
              <a:t>vista del usuario </a:t>
            </a:r>
            <a:r>
              <a:rPr lang="es-CL" sz="1800" dirty="0"/>
              <a:t>La calidad está en los ojos del consumidor. Un producto tiene calidad si se adapta perfectamente a las necesidades, deseos y estilo de vida del usuario específico que lo va a utilizar.</a:t>
            </a:r>
          </a:p>
          <a:p>
            <a:pPr algn="just"/>
            <a:r>
              <a:rPr lang="es-MX" sz="1800" dirty="0"/>
              <a:t>L</a:t>
            </a:r>
            <a:r>
              <a:rPr lang="es-MX" sz="1800" noProof="0" dirty="0"/>
              <a:t>a </a:t>
            </a:r>
            <a:r>
              <a:rPr lang="es-MX" sz="1800" b="1" noProof="0" dirty="0"/>
              <a:t>vista del fabricante </a:t>
            </a:r>
            <a:r>
              <a:rPr lang="es-CL" sz="1800" dirty="0"/>
              <a:t>La calidad significa hacer las cosas bien desde la primera vez y asegurarse de que el producto final coincida exactamente con los planos, tolerancias y requisitos de ingeniería originales. Se enfoca en evitar defectos durante la producción.</a:t>
            </a:r>
          </a:p>
          <a:p>
            <a:pPr algn="just"/>
            <a:r>
              <a:rPr lang="es-MX" sz="1800" dirty="0"/>
              <a:t>L</a:t>
            </a:r>
            <a:r>
              <a:rPr lang="es-MX" sz="1800" noProof="0" dirty="0"/>
              <a:t>a </a:t>
            </a:r>
            <a:r>
              <a:rPr lang="es-MX" sz="1800" b="1" noProof="0" dirty="0"/>
              <a:t>vista del producto </a:t>
            </a:r>
            <a:r>
              <a:rPr lang="es-CL" sz="1800" dirty="0"/>
              <a:t>La calidad es una variable precisa y medible que depende de la cantidad de funciones o componentes valiosos que posee el producto. A más atributos "buenos", mayor calidad.</a:t>
            </a:r>
            <a:endParaRPr lang="es-MX" sz="1800" noProof="0" dirty="0"/>
          </a:p>
          <a:p>
            <a:pPr algn="just"/>
            <a:r>
              <a:rPr lang="es-MX" sz="1800" b="1" dirty="0"/>
              <a:t>L</a:t>
            </a:r>
            <a:r>
              <a:rPr lang="es-MX" sz="1800" b="1" noProof="0" dirty="0"/>
              <a:t>a vista basada en el valor </a:t>
            </a:r>
            <a:r>
              <a:rPr lang="es-CL" sz="1800" dirty="0"/>
              <a:t>La calidad se define a través de los ojos de la economía y el presupuesto. Un producto es de calidad si ofrece un rendimiento o beneficio aceptable a un precio justo, o un gran beneficio a un costo competitivo.</a:t>
            </a:r>
            <a:endParaRPr lang="es-CL" sz="1800" noProof="0" dirty="0"/>
          </a:p>
        </p:txBody>
      </p:sp>
      <p:sp>
        <p:nvSpPr>
          <p:cNvPr id="3" name="Marcador de contenido 2">
            <a:extLst>
              <a:ext uri="{FF2B5EF4-FFF2-40B4-BE49-F238E27FC236}">
                <a16:creationId xmlns:a16="http://schemas.microsoft.com/office/drawing/2014/main" id="{41F67C8D-E4CB-CB55-2665-506DB90D2F9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B117F461-8C6B-072F-AE99-315BFE362C83}"/>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186F0A32-C525-F030-B173-77A80A61453F}"/>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701635C3-5716-76A5-66D1-3F22576AB3B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D8D929A1-2FA1-BFA2-F669-57361D9B15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44FA4779-2C77-E5E7-9F70-F9F6998020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2530309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F718E-1DDC-5950-77D0-B6DF861E5F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006A57-E4CC-DF16-4B35-12468E15F8F1}"/>
              </a:ext>
            </a:extLst>
          </p:cNvPr>
          <p:cNvSpPr>
            <a:spLocks noGrp="1"/>
          </p:cNvSpPr>
          <p:nvPr>
            <p:ph type="title"/>
          </p:nvPr>
        </p:nvSpPr>
        <p:spPr>
          <a:xfrm>
            <a:off x="609600" y="274638"/>
            <a:ext cx="8148638" cy="1143000"/>
          </a:xfrm>
        </p:spPr>
        <p:txBody>
          <a:bodyPr>
            <a:normAutofit/>
          </a:bodyPr>
          <a:lstStyle/>
          <a:p>
            <a:r>
              <a:rPr lang="es-MX" dirty="0"/>
              <a:t>Calidad del diseño</a:t>
            </a:r>
            <a:endParaRPr lang="es-CL" dirty="0"/>
          </a:p>
        </p:txBody>
      </p:sp>
      <p:sp>
        <p:nvSpPr>
          <p:cNvPr id="4" name="Marcador de contenido 3">
            <a:extLst>
              <a:ext uri="{FF2B5EF4-FFF2-40B4-BE49-F238E27FC236}">
                <a16:creationId xmlns:a16="http://schemas.microsoft.com/office/drawing/2014/main" id="{B0942B5A-5F4B-E43F-3263-57BB2EDBC8A6}"/>
              </a:ext>
            </a:extLst>
          </p:cNvPr>
          <p:cNvSpPr>
            <a:spLocks noGrp="1"/>
          </p:cNvSpPr>
          <p:nvPr>
            <p:ph idx="13"/>
          </p:nvPr>
        </p:nvSpPr>
        <p:spPr>
          <a:xfrm>
            <a:off x="609600" y="1600201"/>
            <a:ext cx="10352394" cy="4525963"/>
          </a:xfrm>
        </p:spPr>
        <p:txBody>
          <a:bodyPr>
            <a:normAutofit/>
          </a:bodyPr>
          <a:lstStyle/>
          <a:p>
            <a:pPr marL="0" indent="0" algn="just">
              <a:buNone/>
            </a:pPr>
            <a:r>
              <a:rPr lang="es-MX" noProof="0" dirty="0"/>
              <a:t>La calidad del diseño se refiere a las características que los diseñadores especifican para un producto. </a:t>
            </a:r>
          </a:p>
          <a:p>
            <a:pPr marL="0" indent="0" algn="just">
              <a:buNone/>
            </a:pPr>
            <a:r>
              <a:rPr lang="es-MX" noProof="0" dirty="0"/>
              <a:t>El tipo de materiales, las tolerancias y las especificaciones de rendimiento contribuyen a dicha calidad. </a:t>
            </a:r>
          </a:p>
          <a:p>
            <a:pPr marL="0" indent="0" algn="just">
              <a:buNone/>
            </a:pPr>
            <a:r>
              <a:rPr lang="es-MX" noProof="0" dirty="0"/>
              <a:t>A medida que se utilizan mejores materiales, se especifican tolerancias más estrictas y mayores niveles de rendimiento, la calidad de un producto aumenta, siempre que se fabrique conforme a esas especificaciones.</a:t>
            </a:r>
            <a:endParaRPr lang="es-CL" noProof="0" dirty="0"/>
          </a:p>
        </p:txBody>
      </p:sp>
      <p:sp>
        <p:nvSpPr>
          <p:cNvPr id="3" name="Marcador de contenido 2">
            <a:extLst>
              <a:ext uri="{FF2B5EF4-FFF2-40B4-BE49-F238E27FC236}">
                <a16:creationId xmlns:a16="http://schemas.microsoft.com/office/drawing/2014/main" id="{8A7F374F-3839-874E-3F75-DBE8225E80F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C6057C76-BFA0-FEFC-48F3-7B94FFCA194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D2C726F-7380-7F33-97BF-9328A1B4DF20}"/>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4E079C85-2353-E518-F94D-C3DB535FB955}"/>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4EF49559-8256-F200-FE65-572FC51FEA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E24D5C66-E03F-D3C7-323C-3966A6F324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687092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DCA15-11DB-EF1C-83A5-FD35AA06C2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098866-3A45-5641-B047-B1106B78ABEC}"/>
              </a:ext>
            </a:extLst>
          </p:cNvPr>
          <p:cNvSpPr>
            <a:spLocks noGrp="1"/>
          </p:cNvSpPr>
          <p:nvPr>
            <p:ph type="title"/>
          </p:nvPr>
        </p:nvSpPr>
        <p:spPr>
          <a:xfrm>
            <a:off x="609600" y="274638"/>
            <a:ext cx="8148638" cy="1143000"/>
          </a:xfrm>
        </p:spPr>
        <p:txBody>
          <a:bodyPr>
            <a:normAutofit/>
          </a:bodyPr>
          <a:lstStyle/>
          <a:p>
            <a:r>
              <a:rPr lang="es-MX" dirty="0"/>
              <a:t>Calidad del diseño</a:t>
            </a:r>
            <a:endParaRPr lang="es-CL" dirty="0"/>
          </a:p>
        </p:txBody>
      </p:sp>
      <p:sp>
        <p:nvSpPr>
          <p:cNvPr id="4" name="Marcador de contenido 3">
            <a:extLst>
              <a:ext uri="{FF2B5EF4-FFF2-40B4-BE49-F238E27FC236}">
                <a16:creationId xmlns:a16="http://schemas.microsoft.com/office/drawing/2014/main" id="{73699FF6-DEE8-FCED-011D-1CC51AFFEC42}"/>
              </a:ext>
            </a:extLst>
          </p:cNvPr>
          <p:cNvSpPr>
            <a:spLocks noGrp="1"/>
          </p:cNvSpPr>
          <p:nvPr>
            <p:ph idx="13"/>
          </p:nvPr>
        </p:nvSpPr>
        <p:spPr>
          <a:xfrm>
            <a:off x="609600" y="1600201"/>
            <a:ext cx="10352394" cy="4525963"/>
          </a:xfrm>
        </p:spPr>
        <p:txBody>
          <a:bodyPr>
            <a:normAutofit/>
          </a:bodyPr>
          <a:lstStyle/>
          <a:p>
            <a:pPr marL="0" indent="0" algn="just">
              <a:buNone/>
            </a:pPr>
            <a:r>
              <a:rPr lang="es-MX" noProof="0" dirty="0"/>
              <a:t>En el desarrollo de software, la calidad del diseño abarca el grado en que este cumple con las funciones y características especificadas en el modelo de requerimientos.</a:t>
            </a:r>
          </a:p>
          <a:p>
            <a:pPr marL="0" indent="0" algn="just">
              <a:buNone/>
            </a:pPr>
            <a:endParaRPr lang="es-MX" noProof="0" dirty="0"/>
          </a:p>
          <a:p>
            <a:pPr marL="0" indent="0" algn="just">
              <a:buNone/>
            </a:pPr>
            <a:r>
              <a:rPr lang="es-MX" b="1" i="1" noProof="0" dirty="0">
                <a:solidFill>
                  <a:schemeClr val="accent1"/>
                </a:solidFill>
              </a:rPr>
              <a:t>Satisfacción del usuario </a:t>
            </a:r>
            <a:r>
              <a:rPr lang="es-MX" i="1" noProof="0" dirty="0">
                <a:solidFill>
                  <a:schemeClr val="accent1"/>
                </a:solidFill>
              </a:rPr>
              <a:t>= </a:t>
            </a:r>
            <a:r>
              <a:rPr lang="es-MX" i="1" noProof="0" dirty="0">
                <a:solidFill>
                  <a:schemeClr val="accent5">
                    <a:lumMod val="75000"/>
                  </a:schemeClr>
                </a:solidFill>
              </a:rPr>
              <a:t>producto funcional + buena calidad + entrega a tiempo y dentro del presupuesto</a:t>
            </a:r>
          </a:p>
        </p:txBody>
      </p:sp>
      <p:sp>
        <p:nvSpPr>
          <p:cNvPr id="3" name="Marcador de contenido 2">
            <a:extLst>
              <a:ext uri="{FF2B5EF4-FFF2-40B4-BE49-F238E27FC236}">
                <a16:creationId xmlns:a16="http://schemas.microsoft.com/office/drawing/2014/main" id="{6BBBB7A6-D2B0-B7DA-9E2B-BB67310C96B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8303DC56-BF25-F1B3-F837-5D5801A5365C}"/>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03E08EEE-27B0-C5E7-699B-5D7CD04E0719}"/>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CCFE4B65-7745-1530-A664-0507DEDB32E9}"/>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94B047A-8A81-AD97-792A-AD1329576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42F1C341-1964-8D58-8953-C718D1C186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98244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CACDC-F8C5-D7BE-77DB-1E6706A37CD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D650EA-58F5-B0C4-E173-F52B6D2A7095}"/>
              </a:ext>
            </a:extLst>
          </p:cNvPr>
          <p:cNvSpPr>
            <a:spLocks noGrp="1"/>
          </p:cNvSpPr>
          <p:nvPr>
            <p:ph type="title"/>
          </p:nvPr>
        </p:nvSpPr>
        <p:spPr>
          <a:xfrm>
            <a:off x="609600" y="274638"/>
            <a:ext cx="8148638" cy="1143000"/>
          </a:xfrm>
        </p:spPr>
        <p:txBody>
          <a:bodyPr>
            <a:normAutofit/>
          </a:bodyPr>
          <a:lstStyle/>
          <a:p>
            <a:r>
              <a:rPr lang="es-MX" dirty="0"/>
              <a:t>Calidad del software</a:t>
            </a:r>
            <a:endParaRPr lang="es-CL" dirty="0"/>
          </a:p>
        </p:txBody>
      </p:sp>
      <p:sp>
        <p:nvSpPr>
          <p:cNvPr id="4" name="Marcador de contenido 3">
            <a:extLst>
              <a:ext uri="{FF2B5EF4-FFF2-40B4-BE49-F238E27FC236}">
                <a16:creationId xmlns:a16="http://schemas.microsoft.com/office/drawing/2014/main" id="{C674BB28-A8F7-FFC7-CC42-669C68AACD3D}"/>
              </a:ext>
            </a:extLst>
          </p:cNvPr>
          <p:cNvSpPr>
            <a:spLocks noGrp="1"/>
          </p:cNvSpPr>
          <p:nvPr>
            <p:ph idx="13"/>
          </p:nvPr>
        </p:nvSpPr>
        <p:spPr>
          <a:xfrm>
            <a:off x="609600" y="1600201"/>
            <a:ext cx="10352394" cy="4525963"/>
          </a:xfrm>
        </p:spPr>
        <p:txBody>
          <a:bodyPr>
            <a:normAutofit/>
          </a:bodyPr>
          <a:lstStyle/>
          <a:p>
            <a:pPr marL="0" indent="0" algn="just">
              <a:buNone/>
            </a:pPr>
            <a:r>
              <a:rPr lang="es-MX" noProof="0" dirty="0"/>
              <a:t>Un </a:t>
            </a:r>
            <a:r>
              <a:rPr lang="es-MX" b="1" noProof="0" dirty="0"/>
              <a:t>proceso de software </a:t>
            </a:r>
            <a:r>
              <a:rPr lang="es-MX" noProof="0" dirty="0"/>
              <a:t>efectivo, aplicado de forma adecuada, permite crear un </a:t>
            </a:r>
            <a:r>
              <a:rPr lang="es-MX" b="1" noProof="0" dirty="0"/>
              <a:t>producto útil </a:t>
            </a:r>
            <a:r>
              <a:rPr lang="es-MX" noProof="0" dirty="0"/>
              <a:t>que ofrezca </a:t>
            </a:r>
            <a:r>
              <a:rPr lang="es-MX" b="1" noProof="0" dirty="0"/>
              <a:t>un valor</a:t>
            </a:r>
            <a:r>
              <a:rPr lang="es-MX" noProof="0" dirty="0"/>
              <a:t> cuantificable tanto para quienes lo desarrollan como para quienes lo utilizan.</a:t>
            </a:r>
            <a:endParaRPr lang="es-MX" i="1" noProof="0" dirty="0">
              <a:solidFill>
                <a:schemeClr val="accent5">
                  <a:lumMod val="75000"/>
                </a:schemeClr>
              </a:solidFill>
            </a:endParaRPr>
          </a:p>
        </p:txBody>
      </p:sp>
      <p:sp>
        <p:nvSpPr>
          <p:cNvPr id="3" name="Marcador de contenido 2">
            <a:extLst>
              <a:ext uri="{FF2B5EF4-FFF2-40B4-BE49-F238E27FC236}">
                <a16:creationId xmlns:a16="http://schemas.microsoft.com/office/drawing/2014/main" id="{26F86F71-2E4A-A824-2E50-8E6E2169ADD2}"/>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AC4F54B1-8A44-5853-73E7-16C1DB213869}"/>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3657B100-7DFB-4680-7648-493F6F454C57}"/>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306D3067-52EF-8B2A-F39A-560FBEC29758}"/>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E32DDBFD-9C46-86C9-F919-1082AEFA9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EF0D6C1-3158-E854-D153-A2867CA78B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1540674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88218-101E-3AF1-5D96-9B34B0467A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5D69CB9-A984-7926-7579-50042988DBED}"/>
              </a:ext>
            </a:extLst>
          </p:cNvPr>
          <p:cNvSpPr>
            <a:spLocks noGrp="1"/>
          </p:cNvSpPr>
          <p:nvPr>
            <p:ph type="title"/>
          </p:nvPr>
        </p:nvSpPr>
        <p:spPr>
          <a:xfrm>
            <a:off x="609600" y="274638"/>
            <a:ext cx="8148638" cy="1143000"/>
          </a:xfrm>
        </p:spPr>
        <p:txBody>
          <a:bodyPr>
            <a:normAutofit fontScale="90000"/>
          </a:bodyPr>
          <a:lstStyle/>
          <a:p>
            <a:r>
              <a:rPr lang="es-CL" dirty="0"/>
              <a:t>1. Un Proceso Efectivo (¿Cómo lo hacemos?)</a:t>
            </a:r>
          </a:p>
        </p:txBody>
      </p:sp>
      <p:sp>
        <p:nvSpPr>
          <p:cNvPr id="4" name="Marcador de contenido 3">
            <a:extLst>
              <a:ext uri="{FF2B5EF4-FFF2-40B4-BE49-F238E27FC236}">
                <a16:creationId xmlns:a16="http://schemas.microsoft.com/office/drawing/2014/main" id="{80F36481-951B-11E2-EC2D-9D413CD36439}"/>
              </a:ext>
            </a:extLst>
          </p:cNvPr>
          <p:cNvSpPr>
            <a:spLocks noGrp="1"/>
          </p:cNvSpPr>
          <p:nvPr>
            <p:ph idx="13"/>
          </p:nvPr>
        </p:nvSpPr>
        <p:spPr>
          <a:xfrm>
            <a:off x="609600" y="1600201"/>
            <a:ext cx="10352394" cy="4525963"/>
          </a:xfrm>
        </p:spPr>
        <p:txBody>
          <a:bodyPr>
            <a:normAutofit fontScale="92500" lnSpcReduction="20000"/>
          </a:bodyPr>
          <a:lstStyle/>
          <a:p>
            <a:pPr marL="0" indent="0">
              <a:buNone/>
            </a:pPr>
            <a:r>
              <a:rPr lang="es-CL" dirty="0"/>
              <a:t>No puedes crear un producto excelente de forma caótica. Un proceso de desarrollo efectivo es la infraestructura que sostiene al proyecto y se compone de tres elementos:</a:t>
            </a:r>
          </a:p>
          <a:p>
            <a:r>
              <a:rPr lang="es-CL" b="1" dirty="0"/>
              <a:t>Gestión y Controles:</a:t>
            </a:r>
            <a:r>
              <a:rPr lang="es-CL" dirty="0"/>
              <a:t> Los administradores ponen orden para evitar el caos (fechas, roles, organización). Sin esto, el proyecto fracasa por desorganización.</a:t>
            </a:r>
          </a:p>
          <a:p>
            <a:r>
              <a:rPr lang="es-CL" b="1" dirty="0"/>
              <a:t>Prácticas de Ingeniería:</a:t>
            </a:r>
            <a:r>
              <a:rPr lang="es-CL" dirty="0"/>
              <a:t> Es el trabajo técnico del desarrollador. Analizar bien el problema antes de programar y diseñar una solución sólida en lugar de improvisar código.</a:t>
            </a:r>
          </a:p>
          <a:p>
            <a:r>
              <a:rPr lang="es-CL" b="1" dirty="0"/>
              <a:t>Actividades Paraguas:</a:t>
            </a:r>
            <a:r>
              <a:rPr lang="es-CL" dirty="0"/>
              <a:t> Tareas continuas que protegen el proyecto de principio a fin, como revisar el código de los compañeros (revisiones técnicas) y controlar los cambios en los requerimientos para que el proyecto no se salga de control.</a:t>
            </a:r>
          </a:p>
        </p:txBody>
      </p:sp>
      <p:sp>
        <p:nvSpPr>
          <p:cNvPr id="3" name="Marcador de contenido 2">
            <a:extLst>
              <a:ext uri="{FF2B5EF4-FFF2-40B4-BE49-F238E27FC236}">
                <a16:creationId xmlns:a16="http://schemas.microsoft.com/office/drawing/2014/main" id="{12C523DE-932E-FF2D-3DCB-FE8C1D4C924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809DB5DB-A6B4-C8EA-BA38-5CC8C99A798F}"/>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35F5BA17-45A1-D806-0E9F-2C20A692A69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6D431810-2B99-6500-5071-0AD47DB1669D}"/>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2FA5F00B-BC10-AF68-BEB8-1A7FD4331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695823DB-F920-BC63-E940-A1A6A29436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343138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0E726-C88A-4FFD-2460-8907103E5EE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BD8D95-E0EC-9291-2B53-FA847F8716C5}"/>
              </a:ext>
            </a:extLst>
          </p:cNvPr>
          <p:cNvSpPr>
            <a:spLocks noGrp="1"/>
          </p:cNvSpPr>
          <p:nvPr>
            <p:ph type="title"/>
          </p:nvPr>
        </p:nvSpPr>
        <p:spPr>
          <a:xfrm>
            <a:off x="609600" y="274638"/>
            <a:ext cx="8148638" cy="1143000"/>
          </a:xfrm>
        </p:spPr>
        <p:txBody>
          <a:bodyPr>
            <a:normAutofit fontScale="90000"/>
          </a:bodyPr>
          <a:lstStyle/>
          <a:p>
            <a:r>
              <a:rPr lang="es-CL" dirty="0"/>
              <a:t>2. Un Producto Útil (¿Qué entregamos?)</a:t>
            </a:r>
          </a:p>
        </p:txBody>
      </p:sp>
      <p:sp>
        <p:nvSpPr>
          <p:cNvPr id="4" name="Marcador de contenido 3">
            <a:extLst>
              <a:ext uri="{FF2B5EF4-FFF2-40B4-BE49-F238E27FC236}">
                <a16:creationId xmlns:a16="http://schemas.microsoft.com/office/drawing/2014/main" id="{22311E68-CD87-23E1-B4D2-ECBAF96DA7BE}"/>
              </a:ext>
            </a:extLst>
          </p:cNvPr>
          <p:cNvSpPr>
            <a:spLocks noGrp="1"/>
          </p:cNvSpPr>
          <p:nvPr>
            <p:ph idx="13"/>
          </p:nvPr>
        </p:nvSpPr>
        <p:spPr>
          <a:xfrm>
            <a:off x="609600" y="1600201"/>
            <a:ext cx="10352394" cy="4525963"/>
          </a:xfrm>
        </p:spPr>
        <p:txBody>
          <a:bodyPr>
            <a:normAutofit/>
          </a:bodyPr>
          <a:lstStyle/>
          <a:p>
            <a:pPr marL="0" indent="0">
              <a:buNone/>
            </a:pPr>
            <a:r>
              <a:rPr lang="es-CL" dirty="0"/>
              <a:t>El resultado del proceso debe ser algo que la gente realmente quiera y pueda usar. Un producto útil cumple con dos tipos de requerimientos:</a:t>
            </a:r>
          </a:p>
          <a:p>
            <a:r>
              <a:rPr lang="es-CL" b="1" dirty="0"/>
              <a:t>Requerimientos Explícitos:</a:t>
            </a:r>
            <a:r>
              <a:rPr lang="es-CL" dirty="0"/>
              <a:t> Lo que el cliente pidió formalmente (ej. </a:t>
            </a:r>
            <a:r>
              <a:rPr lang="es-CL" i="1" dirty="0"/>
              <a:t>"La app debe procesar pagos con tarjeta"</a:t>
            </a:r>
            <a:r>
              <a:rPr lang="es-CL" dirty="0"/>
              <a:t>). El software debe hacer esto de forma confiable y sin bugs.</a:t>
            </a:r>
          </a:p>
          <a:p>
            <a:r>
              <a:rPr lang="es-CL" b="1" dirty="0"/>
              <a:t>Requerimientos Implícitos:</a:t>
            </a:r>
            <a:r>
              <a:rPr lang="es-CL" dirty="0"/>
              <a:t> Lo que el usuario da por sentado, aunque no lo haya pedido por escrito (ej. </a:t>
            </a:r>
            <a:r>
              <a:rPr lang="es-CL" i="1" dirty="0"/>
              <a:t>"Que la app sea rápida, intuitiva y segura"</a:t>
            </a:r>
            <a:r>
              <a:rPr lang="es-CL" dirty="0"/>
              <a:t>). Si es confusa o se cae a cada rato, el producto no es útil.</a:t>
            </a:r>
          </a:p>
        </p:txBody>
      </p:sp>
      <p:sp>
        <p:nvSpPr>
          <p:cNvPr id="3" name="Marcador de contenido 2">
            <a:extLst>
              <a:ext uri="{FF2B5EF4-FFF2-40B4-BE49-F238E27FC236}">
                <a16:creationId xmlns:a16="http://schemas.microsoft.com/office/drawing/2014/main" id="{5577B469-24D6-6D73-577D-79DA4EBC8DA3}"/>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F938061-E934-AD2D-0119-6540DB38E3D9}"/>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093BF09-2258-CAE4-66C7-F4A08C7E1469}"/>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216934B9-3500-F44A-3A70-4CE55A26AC93}"/>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86CB4494-5CEF-420A-290D-70D42F5DE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28BA4606-E347-A796-4892-877396F99E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1095198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7BDDD-88C4-D1B7-DB48-FA03D0349D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D89CF0-D3C3-021B-73C6-36843CA754A6}"/>
              </a:ext>
            </a:extLst>
          </p:cNvPr>
          <p:cNvSpPr>
            <a:spLocks noGrp="1"/>
          </p:cNvSpPr>
          <p:nvPr>
            <p:ph type="title"/>
          </p:nvPr>
        </p:nvSpPr>
        <p:spPr>
          <a:xfrm>
            <a:off x="609600" y="274638"/>
            <a:ext cx="8148638" cy="1143000"/>
          </a:xfrm>
        </p:spPr>
        <p:txBody>
          <a:bodyPr>
            <a:normAutofit fontScale="90000"/>
          </a:bodyPr>
          <a:lstStyle/>
          <a:p>
            <a:r>
              <a:rPr lang="es-CL" dirty="0"/>
              <a:t>3. Valor Cuantificable (¿Qué ganamos todos?)</a:t>
            </a:r>
          </a:p>
        </p:txBody>
      </p:sp>
      <p:sp>
        <p:nvSpPr>
          <p:cNvPr id="4" name="Marcador de contenido 3">
            <a:extLst>
              <a:ext uri="{FF2B5EF4-FFF2-40B4-BE49-F238E27FC236}">
                <a16:creationId xmlns:a16="http://schemas.microsoft.com/office/drawing/2014/main" id="{30B86840-2D99-DF6B-9276-B6F854F4E282}"/>
              </a:ext>
            </a:extLst>
          </p:cNvPr>
          <p:cNvSpPr>
            <a:spLocks noGrp="1"/>
          </p:cNvSpPr>
          <p:nvPr>
            <p:ph idx="13"/>
          </p:nvPr>
        </p:nvSpPr>
        <p:spPr>
          <a:xfrm>
            <a:off x="609600" y="1600201"/>
            <a:ext cx="10352394" cy="4525963"/>
          </a:xfrm>
        </p:spPr>
        <p:txBody>
          <a:bodyPr>
            <a:normAutofit/>
          </a:bodyPr>
          <a:lstStyle/>
          <a:p>
            <a:r>
              <a:rPr lang="es-CL" dirty="0"/>
              <a:t>La alta calidad no es un lujo, es un gran negocio que beneficia a ambas partes:</a:t>
            </a:r>
          </a:p>
          <a:p>
            <a:r>
              <a:rPr lang="es-CL" b="1" dirty="0"/>
              <a:t>Para la Empresa Desarrolladora (Ganancia Interna):</a:t>
            </a:r>
            <a:r>
              <a:rPr lang="es-CL" dirty="0"/>
              <a:t> Menos bugs significan menos tiempo perdido arreglando fallos del pasado (reelaboración) y menos dinero gastado en soporte técnico. Así, los ingenieros pueden enfocarse en crear software nuevo e innovador.</a:t>
            </a:r>
          </a:p>
          <a:p>
            <a:r>
              <a:rPr lang="es-CL" b="1" dirty="0"/>
              <a:t>Para los Usuarios y Clientes (Ganancia Externa):</a:t>
            </a:r>
            <a:r>
              <a:rPr lang="es-CL" dirty="0"/>
              <a:t> Obtienen una herramienta eficiente que automatiza sus procesos, les ahorra tiempo y les da acceso a información clave para su negocio de forma inmediata.</a:t>
            </a:r>
          </a:p>
        </p:txBody>
      </p:sp>
      <p:sp>
        <p:nvSpPr>
          <p:cNvPr id="3" name="Marcador de contenido 2">
            <a:extLst>
              <a:ext uri="{FF2B5EF4-FFF2-40B4-BE49-F238E27FC236}">
                <a16:creationId xmlns:a16="http://schemas.microsoft.com/office/drawing/2014/main" id="{D9ABABD8-CA97-EB09-F769-152BFFB1224A}"/>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D9B05FAC-A9A1-00AF-2F8C-0804023026D0}"/>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459B5BE8-EC9F-FBF3-10D8-932AD84C8722}"/>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74414819-7793-F601-90C2-D33822A4380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C3956138-005B-8B66-F960-B512A6D436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15536316-03E1-C256-9A42-209E0C1E32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174528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F1F40-2825-BA30-688C-230595DAFD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F18310-3683-C3EE-9066-473886A83B37}"/>
              </a:ext>
            </a:extLst>
          </p:cNvPr>
          <p:cNvSpPr>
            <a:spLocks noGrp="1"/>
          </p:cNvSpPr>
          <p:nvPr>
            <p:ph type="title"/>
          </p:nvPr>
        </p:nvSpPr>
        <p:spPr>
          <a:xfrm>
            <a:off x="609600" y="274638"/>
            <a:ext cx="8148638" cy="1143000"/>
          </a:xfrm>
        </p:spPr>
        <p:txBody>
          <a:bodyPr>
            <a:normAutofit/>
          </a:bodyPr>
          <a:lstStyle/>
          <a:p>
            <a:r>
              <a:rPr lang="es-MX" dirty="0"/>
              <a:t>Dilema de la calidad de software</a:t>
            </a:r>
            <a:endParaRPr lang="es-CL" dirty="0"/>
          </a:p>
        </p:txBody>
      </p:sp>
      <p:sp>
        <p:nvSpPr>
          <p:cNvPr id="4" name="Marcador de contenido 3">
            <a:extLst>
              <a:ext uri="{FF2B5EF4-FFF2-40B4-BE49-F238E27FC236}">
                <a16:creationId xmlns:a16="http://schemas.microsoft.com/office/drawing/2014/main" id="{F36275FA-DF58-0333-546C-4B3F1D708EDE}"/>
              </a:ext>
            </a:extLst>
          </p:cNvPr>
          <p:cNvSpPr>
            <a:spLocks noGrp="1"/>
          </p:cNvSpPr>
          <p:nvPr>
            <p:ph idx="13"/>
          </p:nvPr>
        </p:nvSpPr>
        <p:spPr>
          <a:xfrm>
            <a:off x="609600" y="1600201"/>
            <a:ext cx="10352394" cy="4525963"/>
          </a:xfrm>
        </p:spPr>
        <p:txBody>
          <a:bodyPr>
            <a:normAutofit fontScale="92500" lnSpcReduction="10000"/>
          </a:bodyPr>
          <a:lstStyle/>
          <a:p>
            <a:pPr marL="0" indent="0" algn="just">
              <a:buNone/>
            </a:pPr>
            <a:r>
              <a:rPr lang="es-MX" noProof="0" dirty="0"/>
              <a:t>Si producimos un sistema de software con una calidad terrible, perdemos, ya que nadie querrá comprarlo.</a:t>
            </a:r>
          </a:p>
          <a:p>
            <a:pPr marL="0" indent="0" algn="just">
              <a:buNone/>
            </a:pPr>
            <a:r>
              <a:rPr lang="es-MX" noProof="0" dirty="0"/>
              <a:t>Por otro lado, si invertimos tiempo, un esfuerzo extremadamente grande y enormes cantidades de dinero para crear una pieza de software absolutamente perfecta, entonces tardará demasiado tiempo en completarse y será tan costoso de producir que nuestro negocio se arruinará. Debido a </a:t>
            </a:r>
            <a:r>
              <a:rPr lang="es-MX" dirty="0"/>
              <a:t>que se nos pasa</a:t>
            </a:r>
            <a:r>
              <a:rPr lang="es-MX" noProof="0" dirty="0"/>
              <a:t> el periodo ideal de lanzamiento al mercado, o simplemente agotemos todos nuestros recursos.</a:t>
            </a:r>
          </a:p>
          <a:p>
            <a:pPr marL="0" indent="0" algn="just">
              <a:buNone/>
            </a:pPr>
            <a:r>
              <a:rPr lang="es-MX" noProof="0" dirty="0"/>
              <a:t>Por ello, en la industria se busca alcanzar ese término medio "mágico" en el que el producto sea lo suficientemente bueno como para no ser rechazado de inmediato, pero sin requerir tanto perfeccionamiento y trabajo como para que resulte extremadamente costoso.</a:t>
            </a:r>
            <a:endParaRPr lang="es-MX" i="1" noProof="0" dirty="0">
              <a:solidFill>
                <a:schemeClr val="accent5">
                  <a:lumMod val="75000"/>
                </a:schemeClr>
              </a:solidFill>
            </a:endParaRPr>
          </a:p>
        </p:txBody>
      </p:sp>
      <p:sp>
        <p:nvSpPr>
          <p:cNvPr id="3" name="Marcador de contenido 2">
            <a:extLst>
              <a:ext uri="{FF2B5EF4-FFF2-40B4-BE49-F238E27FC236}">
                <a16:creationId xmlns:a16="http://schemas.microsoft.com/office/drawing/2014/main" id="{7816CBD4-F751-2878-58B7-3D2CF29F167B}"/>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7DDE957E-C378-B093-2342-4464E1DAEAD2}"/>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E6BA26B1-B504-763B-4D12-9AAF209BAB62}"/>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E11725A1-7F8D-D3F1-5BD8-BF84A4807DA1}"/>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DA6ADA6-A874-CD59-99FD-DCB659763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7A805364-0FCA-4853-0247-A7F586DF22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559704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43CEA-5852-9818-15AD-48FE14AEB6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AFEE17-5E43-7624-7A80-A6AC71302BA9}"/>
              </a:ext>
            </a:extLst>
          </p:cNvPr>
          <p:cNvSpPr>
            <a:spLocks noGrp="1"/>
          </p:cNvSpPr>
          <p:nvPr>
            <p:ph type="title"/>
          </p:nvPr>
        </p:nvSpPr>
        <p:spPr>
          <a:xfrm>
            <a:off x="609600" y="274638"/>
            <a:ext cx="8148638" cy="1143000"/>
          </a:xfrm>
        </p:spPr>
        <p:txBody>
          <a:bodyPr>
            <a:normAutofit/>
          </a:bodyPr>
          <a:lstStyle/>
          <a:p>
            <a:r>
              <a:rPr lang="es-MX" dirty="0"/>
              <a:t>Software "suficientemente bueno"</a:t>
            </a:r>
            <a:endParaRPr lang="es-CL" dirty="0"/>
          </a:p>
        </p:txBody>
      </p:sp>
      <p:sp>
        <p:nvSpPr>
          <p:cNvPr id="4" name="Marcador de contenido 3">
            <a:extLst>
              <a:ext uri="{FF2B5EF4-FFF2-40B4-BE49-F238E27FC236}">
                <a16:creationId xmlns:a16="http://schemas.microsoft.com/office/drawing/2014/main" id="{DAB64D47-F978-7367-9A4D-FCE758B6FB80}"/>
              </a:ext>
            </a:extLst>
          </p:cNvPr>
          <p:cNvSpPr>
            <a:spLocks noGrp="1"/>
          </p:cNvSpPr>
          <p:nvPr>
            <p:ph idx="13"/>
          </p:nvPr>
        </p:nvSpPr>
        <p:spPr>
          <a:xfrm>
            <a:off x="609600" y="1600201"/>
            <a:ext cx="10352394" cy="4525963"/>
          </a:xfrm>
        </p:spPr>
        <p:txBody>
          <a:bodyPr>
            <a:normAutofit fontScale="92500" lnSpcReduction="20000"/>
          </a:bodyPr>
          <a:lstStyle/>
          <a:p>
            <a:pPr marL="0" indent="0" algn="just">
              <a:buNone/>
            </a:pPr>
            <a:r>
              <a:rPr lang="es-MX" noProof="0" dirty="0"/>
              <a:t>Es un software que ofrece las funciones y características de alta calidad que desean los usuarios finales, pero que también incluye otras funciones menos relevantes que pueden contener errores conocidos.</a:t>
            </a:r>
          </a:p>
          <a:p>
            <a:pPr marL="0" indent="0" algn="just">
              <a:buNone/>
            </a:pPr>
            <a:endParaRPr lang="es-MX" noProof="0" dirty="0"/>
          </a:p>
          <a:p>
            <a:pPr marL="0" indent="0" algn="just">
              <a:buNone/>
            </a:pPr>
            <a:r>
              <a:rPr lang="es-MX" noProof="0" dirty="0"/>
              <a:t>El distribuidor del software espera que la gran mayoría de los usuarios pasen por alto esos errores menores si están complacidos con el resto de las funcionalidades de la aplicación.</a:t>
            </a:r>
          </a:p>
          <a:p>
            <a:pPr marL="0" indent="0" algn="just">
              <a:buNone/>
            </a:pPr>
            <a:endParaRPr lang="es-MX" noProof="0" dirty="0"/>
          </a:p>
          <a:p>
            <a:pPr marL="0" indent="0" algn="just">
              <a:buNone/>
            </a:pPr>
            <a:r>
              <a:rPr lang="es-MX" noProof="0" dirty="0"/>
              <a:t>El concepto de software suficientemente bueno describe una realidad de mercado, no una meta técnica o ética. Es decir:</a:t>
            </a:r>
          </a:p>
          <a:p>
            <a:pPr lvl="1" algn="just"/>
            <a:r>
              <a:rPr lang="es-MX" noProof="0" dirty="0"/>
              <a:t>Describe lo que muchas veces pasa (por presión comercial, de tiempo o de recursos).</a:t>
            </a:r>
          </a:p>
          <a:p>
            <a:pPr lvl="1" algn="just"/>
            <a:r>
              <a:rPr lang="es-MX" noProof="0" dirty="0"/>
              <a:t>No es lo ideal desde la perspectiva de la ingeniería de software.</a:t>
            </a:r>
            <a:endParaRPr lang="es-MX" i="1" noProof="0" dirty="0">
              <a:solidFill>
                <a:schemeClr val="accent5">
                  <a:lumMod val="75000"/>
                </a:schemeClr>
              </a:solidFill>
            </a:endParaRPr>
          </a:p>
        </p:txBody>
      </p:sp>
      <p:sp>
        <p:nvSpPr>
          <p:cNvPr id="3" name="Marcador de contenido 2">
            <a:extLst>
              <a:ext uri="{FF2B5EF4-FFF2-40B4-BE49-F238E27FC236}">
                <a16:creationId xmlns:a16="http://schemas.microsoft.com/office/drawing/2014/main" id="{51301B7D-E2AB-4C89-FF4E-54ACB42890D1}"/>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6B3BA1BA-94B5-481D-EE91-13A036C42AC6}"/>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137BFF48-9279-B29E-2A0C-A8BF20B28B73}"/>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AEF1A0EC-A28D-B3E2-1C44-E018C60437CF}"/>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F77D23D-8071-8E48-D0F2-9AEBA9541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BD27F4A9-C856-8474-296D-8BFFBD1D21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3701806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747E3-7D6C-BE3D-35F4-95B53162F7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339D2C-2B20-8B36-EF9C-32A120AE52DF}"/>
              </a:ext>
            </a:extLst>
          </p:cNvPr>
          <p:cNvSpPr>
            <a:spLocks noGrp="1"/>
          </p:cNvSpPr>
          <p:nvPr>
            <p:ph type="title"/>
          </p:nvPr>
        </p:nvSpPr>
        <p:spPr>
          <a:xfrm>
            <a:off x="609600" y="274638"/>
            <a:ext cx="8148638" cy="1143000"/>
          </a:xfrm>
        </p:spPr>
        <p:txBody>
          <a:bodyPr>
            <a:normAutofit/>
          </a:bodyPr>
          <a:lstStyle/>
          <a:p>
            <a:r>
              <a:rPr lang="es-MX" dirty="0"/>
              <a:t>¿Qué es el Costo de la Calidad?</a:t>
            </a:r>
          </a:p>
        </p:txBody>
      </p:sp>
      <p:sp>
        <p:nvSpPr>
          <p:cNvPr id="4" name="Marcador de contenido 3">
            <a:extLst>
              <a:ext uri="{FF2B5EF4-FFF2-40B4-BE49-F238E27FC236}">
                <a16:creationId xmlns:a16="http://schemas.microsoft.com/office/drawing/2014/main" id="{D20F7872-BE11-8CCD-A05A-C4A2B9024996}"/>
              </a:ext>
            </a:extLst>
          </p:cNvPr>
          <p:cNvSpPr>
            <a:spLocks noGrp="1"/>
          </p:cNvSpPr>
          <p:nvPr>
            <p:ph idx="13"/>
          </p:nvPr>
        </p:nvSpPr>
        <p:spPr>
          <a:xfrm>
            <a:off x="609600" y="1600201"/>
            <a:ext cx="10352394" cy="4525963"/>
          </a:xfrm>
        </p:spPr>
        <p:txBody>
          <a:bodyPr>
            <a:normAutofit/>
          </a:bodyPr>
          <a:lstStyle/>
          <a:p>
            <a:pPr marL="0" indent="0" algn="just">
              <a:buNone/>
            </a:pPr>
            <a:r>
              <a:rPr lang="es-MX" dirty="0"/>
              <a:t>El Costo de la Calidad no es solo el dinero que se gasta para garantizar que el software sea de buena calidad. También incluye los costos de no hacer bien las cosas desde el principio.</a:t>
            </a:r>
          </a:p>
          <a:p>
            <a:pPr marL="0" indent="0" algn="just">
              <a:buNone/>
            </a:pPr>
            <a:endParaRPr lang="es-MX" dirty="0"/>
          </a:p>
          <a:p>
            <a:pPr marL="0" indent="0" algn="just">
              <a:buNone/>
            </a:pPr>
            <a:r>
              <a:rPr lang="es-MX" dirty="0"/>
              <a:t>El Costo de calidad se divide en cuatro categorías:</a:t>
            </a:r>
          </a:p>
          <a:p>
            <a:pPr lvl="1" algn="just"/>
            <a:r>
              <a:rPr lang="es-MX" dirty="0"/>
              <a:t>Costos de Prevención</a:t>
            </a:r>
          </a:p>
          <a:p>
            <a:pPr lvl="1" algn="just"/>
            <a:r>
              <a:rPr lang="es-MX" dirty="0"/>
              <a:t>Costos de Evaluación</a:t>
            </a:r>
          </a:p>
          <a:p>
            <a:pPr lvl="1" algn="just"/>
            <a:r>
              <a:rPr lang="es-MX" dirty="0"/>
              <a:t>Costos por Fallos Internos</a:t>
            </a:r>
          </a:p>
          <a:p>
            <a:pPr lvl="1" algn="just"/>
            <a:r>
              <a:rPr lang="es-MX" dirty="0"/>
              <a:t>Costos por Fallos Externos</a:t>
            </a:r>
          </a:p>
        </p:txBody>
      </p:sp>
      <p:sp>
        <p:nvSpPr>
          <p:cNvPr id="3" name="Marcador de contenido 2">
            <a:extLst>
              <a:ext uri="{FF2B5EF4-FFF2-40B4-BE49-F238E27FC236}">
                <a16:creationId xmlns:a16="http://schemas.microsoft.com/office/drawing/2014/main" id="{CF72DD2A-6829-0F4C-DB53-69AC204CA0D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873BAA9E-5FBB-1CEB-7007-EB539CFE8E78}"/>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58829515-C688-5FC9-5DAD-3883DAA9D1E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CB8DA4BE-33A7-C233-E7BD-F04706EB0F0D}"/>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B2551BD1-59CB-A518-0FA7-0DB5D17DF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63167143-F8F2-FB27-59F9-E65B78D673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168058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B1EA4-EABB-0BB4-7C7D-FDB9814E40C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DC8AF6-81D7-89AF-0BDF-1A2FAC52E08C}"/>
              </a:ext>
            </a:extLst>
          </p:cNvPr>
          <p:cNvSpPr>
            <a:spLocks noGrp="1"/>
          </p:cNvSpPr>
          <p:nvPr>
            <p:ph type="title"/>
          </p:nvPr>
        </p:nvSpPr>
        <p:spPr>
          <a:xfrm>
            <a:off x="609600" y="274638"/>
            <a:ext cx="8148638" cy="1143000"/>
          </a:xfrm>
        </p:spPr>
        <p:txBody>
          <a:bodyPr>
            <a:normAutofit/>
          </a:bodyPr>
          <a:lstStyle/>
          <a:p>
            <a:pPr algn="just"/>
            <a:r>
              <a:rPr lang="es-MX" dirty="0"/>
              <a:t>Costos de Prevención</a:t>
            </a:r>
          </a:p>
        </p:txBody>
      </p:sp>
      <p:sp>
        <p:nvSpPr>
          <p:cNvPr id="4" name="Marcador de contenido 3">
            <a:extLst>
              <a:ext uri="{FF2B5EF4-FFF2-40B4-BE49-F238E27FC236}">
                <a16:creationId xmlns:a16="http://schemas.microsoft.com/office/drawing/2014/main" id="{7003DF98-BB32-4C28-321D-ECDF3052BF48}"/>
              </a:ext>
            </a:extLst>
          </p:cNvPr>
          <p:cNvSpPr>
            <a:spLocks noGrp="1"/>
          </p:cNvSpPr>
          <p:nvPr>
            <p:ph idx="13"/>
          </p:nvPr>
        </p:nvSpPr>
        <p:spPr>
          <a:xfrm>
            <a:off x="609600" y="1600201"/>
            <a:ext cx="10352394" cy="4525963"/>
          </a:xfrm>
        </p:spPr>
        <p:txBody>
          <a:bodyPr>
            <a:normAutofit/>
          </a:bodyPr>
          <a:lstStyle/>
          <a:p>
            <a:pPr marL="0" indent="0" algn="just">
              <a:buNone/>
            </a:pPr>
            <a:r>
              <a:rPr lang="es-MX" dirty="0"/>
              <a:t>Son los gastos para evitar errores antes de que ocurran.</a:t>
            </a:r>
          </a:p>
          <a:p>
            <a:pPr marL="0" indent="0" algn="just">
              <a:buNone/>
            </a:pPr>
            <a:r>
              <a:rPr lang="es-MX" dirty="0"/>
              <a:t>Ejemplos:</a:t>
            </a:r>
          </a:p>
          <a:p>
            <a:pPr marL="0" indent="0" algn="just">
              <a:buNone/>
            </a:pPr>
            <a:r>
              <a:rPr lang="es-MX" dirty="0"/>
              <a:t>Capacitación del equipo en buenas prácticas</a:t>
            </a:r>
          </a:p>
          <a:p>
            <a:pPr lvl="1" algn="just"/>
            <a:r>
              <a:rPr lang="es-MX" dirty="0"/>
              <a:t>Revisión de requerimientos</a:t>
            </a:r>
          </a:p>
          <a:p>
            <a:pPr lvl="1" algn="just"/>
            <a:r>
              <a:rPr lang="es-MX" dirty="0"/>
              <a:t>Diseño de arquitectura sólida</a:t>
            </a:r>
          </a:p>
          <a:p>
            <a:pPr lvl="1" algn="just"/>
            <a:r>
              <a:rPr lang="es-MX" dirty="0"/>
              <a:t>Definición de estándares de codificación</a:t>
            </a:r>
          </a:p>
          <a:p>
            <a:pPr lvl="1" algn="just"/>
            <a:r>
              <a:rPr lang="es-MX" dirty="0"/>
              <a:t>Automatización de pruebas</a:t>
            </a:r>
          </a:p>
          <a:p>
            <a:pPr lvl="1" algn="just"/>
            <a:r>
              <a:rPr lang="es-MX" dirty="0"/>
              <a:t>Implementación de SonarQube u otras herramientas de análisis</a:t>
            </a:r>
          </a:p>
          <a:p>
            <a:pPr marL="0" indent="0" algn="just">
              <a:buNone/>
            </a:pPr>
            <a:r>
              <a:rPr lang="es-MX" b="1" i="1" dirty="0"/>
              <a:t>Inversión temprana para evitar defectos.</a:t>
            </a:r>
          </a:p>
        </p:txBody>
      </p:sp>
      <p:sp>
        <p:nvSpPr>
          <p:cNvPr id="3" name="Marcador de contenido 2">
            <a:extLst>
              <a:ext uri="{FF2B5EF4-FFF2-40B4-BE49-F238E27FC236}">
                <a16:creationId xmlns:a16="http://schemas.microsoft.com/office/drawing/2014/main" id="{43D1F735-43E8-84A9-E555-13701A7733F4}"/>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5FE05F1B-237B-54C5-3E1D-0BCFB6340F3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92B046C4-7F81-6B1F-D256-DE0D90F2008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648C5AD1-E807-6955-0BD6-D82240C160AF}"/>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D6950DA3-52BC-89B9-1417-8F8D26DB9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5F007CC8-63DB-A34D-89E4-EF65383124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4167620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C64F2-236B-1B0C-1FC4-46BC4B35855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9717E8-7B67-B62B-8381-3C0A1D8B3809}"/>
              </a:ext>
            </a:extLst>
          </p:cNvPr>
          <p:cNvSpPr>
            <a:spLocks noGrp="1"/>
          </p:cNvSpPr>
          <p:nvPr>
            <p:ph type="title"/>
          </p:nvPr>
        </p:nvSpPr>
        <p:spPr>
          <a:xfrm>
            <a:off x="609600" y="274638"/>
            <a:ext cx="8148638" cy="1143000"/>
          </a:xfrm>
        </p:spPr>
        <p:txBody>
          <a:bodyPr>
            <a:normAutofit/>
          </a:bodyPr>
          <a:lstStyle/>
          <a:p>
            <a:pPr algn="just"/>
            <a:r>
              <a:rPr lang="es-MX" dirty="0"/>
              <a:t>Costos de Evaluación (o Detección)</a:t>
            </a:r>
          </a:p>
        </p:txBody>
      </p:sp>
      <p:sp>
        <p:nvSpPr>
          <p:cNvPr id="4" name="Marcador de contenido 3">
            <a:extLst>
              <a:ext uri="{FF2B5EF4-FFF2-40B4-BE49-F238E27FC236}">
                <a16:creationId xmlns:a16="http://schemas.microsoft.com/office/drawing/2014/main" id="{B3CF57FC-A8F2-E172-D8B7-47C75C48677C}"/>
              </a:ext>
            </a:extLst>
          </p:cNvPr>
          <p:cNvSpPr>
            <a:spLocks noGrp="1"/>
          </p:cNvSpPr>
          <p:nvPr>
            <p:ph idx="13"/>
          </p:nvPr>
        </p:nvSpPr>
        <p:spPr>
          <a:xfrm>
            <a:off x="609600" y="1600201"/>
            <a:ext cx="10352394" cy="4525963"/>
          </a:xfrm>
        </p:spPr>
        <p:txBody>
          <a:bodyPr>
            <a:normAutofit/>
          </a:bodyPr>
          <a:lstStyle/>
          <a:p>
            <a:pPr marL="0" indent="0" algn="just">
              <a:buNone/>
            </a:pPr>
            <a:r>
              <a:rPr lang="es-MX" dirty="0"/>
              <a:t>Son los costos de verificar que el software cumple con los estándares de calidad.</a:t>
            </a:r>
          </a:p>
          <a:p>
            <a:pPr marL="0" indent="0" algn="just">
              <a:buNone/>
            </a:pPr>
            <a:r>
              <a:rPr lang="es-MX" dirty="0"/>
              <a:t>Ejemplos:</a:t>
            </a:r>
          </a:p>
          <a:p>
            <a:pPr lvl="1" algn="just"/>
            <a:r>
              <a:rPr lang="es-MX" dirty="0"/>
              <a:t>Ejecución de pruebas unitarias, de integración, de sistema</a:t>
            </a:r>
          </a:p>
          <a:p>
            <a:pPr lvl="1" algn="just"/>
            <a:r>
              <a:rPr lang="es-MX" dirty="0"/>
              <a:t>Revisión de código (revisión de pares)</a:t>
            </a:r>
          </a:p>
          <a:p>
            <a:pPr lvl="1" algn="just"/>
            <a:r>
              <a:rPr lang="es-MX" dirty="0"/>
              <a:t>Auditorías de calidad</a:t>
            </a:r>
          </a:p>
          <a:p>
            <a:pPr lvl="1" algn="just"/>
            <a:r>
              <a:rPr lang="es-MX" dirty="0"/>
              <a:t>Validación de funcionalidades</a:t>
            </a:r>
          </a:p>
          <a:p>
            <a:pPr marL="0" indent="0" algn="just">
              <a:buNone/>
            </a:pPr>
            <a:endParaRPr lang="es-MX" dirty="0"/>
          </a:p>
          <a:p>
            <a:pPr marL="0" indent="0" algn="just">
              <a:buNone/>
            </a:pPr>
            <a:r>
              <a:rPr lang="es-MX" b="1" i="1" dirty="0"/>
              <a:t>Cuanto mejor lo evalúas, antes encontraras los errores.</a:t>
            </a:r>
          </a:p>
        </p:txBody>
      </p:sp>
      <p:sp>
        <p:nvSpPr>
          <p:cNvPr id="3" name="Marcador de contenido 2">
            <a:extLst>
              <a:ext uri="{FF2B5EF4-FFF2-40B4-BE49-F238E27FC236}">
                <a16:creationId xmlns:a16="http://schemas.microsoft.com/office/drawing/2014/main" id="{47377B7A-1FC2-1A4E-6D5F-305F0CB4843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B34BA3FC-02BC-7184-5722-BE9EC373430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8070029C-4753-E72C-B2FB-28ED9B4E550D}"/>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93F22A8A-4397-280C-DEDC-EE790D98BFBD}"/>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C4A91C11-BA69-116F-72D0-82F0CEE45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0A08429-5C1D-A5CF-6CF1-730CE6D632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2442778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49D55-4DF0-0744-673C-3745A06AB6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C4DDFE-4E9C-E885-4403-8F4DA425D676}"/>
              </a:ext>
            </a:extLst>
          </p:cNvPr>
          <p:cNvSpPr>
            <a:spLocks noGrp="1"/>
          </p:cNvSpPr>
          <p:nvPr>
            <p:ph type="title"/>
          </p:nvPr>
        </p:nvSpPr>
        <p:spPr>
          <a:xfrm>
            <a:off x="609600" y="274638"/>
            <a:ext cx="8148638" cy="1143000"/>
          </a:xfrm>
        </p:spPr>
        <p:txBody>
          <a:bodyPr>
            <a:normAutofit/>
          </a:bodyPr>
          <a:lstStyle/>
          <a:p>
            <a:pPr algn="just"/>
            <a:r>
              <a:rPr lang="es-MX" dirty="0"/>
              <a:t>Costos por Fallos Internos</a:t>
            </a:r>
          </a:p>
        </p:txBody>
      </p:sp>
      <p:sp>
        <p:nvSpPr>
          <p:cNvPr id="4" name="Marcador de contenido 3">
            <a:extLst>
              <a:ext uri="{FF2B5EF4-FFF2-40B4-BE49-F238E27FC236}">
                <a16:creationId xmlns:a16="http://schemas.microsoft.com/office/drawing/2014/main" id="{4A6B8250-7086-E8E5-1019-7FD4C7A4633F}"/>
              </a:ext>
            </a:extLst>
          </p:cNvPr>
          <p:cNvSpPr>
            <a:spLocks noGrp="1"/>
          </p:cNvSpPr>
          <p:nvPr>
            <p:ph idx="13"/>
          </p:nvPr>
        </p:nvSpPr>
        <p:spPr>
          <a:xfrm>
            <a:off x="609600" y="1600201"/>
            <a:ext cx="10352394" cy="4525963"/>
          </a:xfrm>
        </p:spPr>
        <p:txBody>
          <a:bodyPr>
            <a:normAutofit/>
          </a:bodyPr>
          <a:lstStyle/>
          <a:p>
            <a:pPr marL="0" indent="0" algn="just">
              <a:buNone/>
            </a:pPr>
            <a:r>
              <a:rPr lang="es-MX" dirty="0"/>
              <a:t>Costos que surgen por errores detectados antes de la entrega al cliente.</a:t>
            </a:r>
          </a:p>
          <a:p>
            <a:pPr marL="0" indent="0" algn="just">
              <a:buNone/>
            </a:pPr>
            <a:r>
              <a:rPr lang="es-MX" dirty="0"/>
              <a:t>Ejemplos:</a:t>
            </a:r>
          </a:p>
          <a:p>
            <a:pPr lvl="1" algn="just"/>
            <a:r>
              <a:rPr lang="es-MX" dirty="0"/>
              <a:t>Tiempo de desarrollo perdido corrigiendo bugs</a:t>
            </a:r>
          </a:p>
          <a:p>
            <a:pPr lvl="1" algn="just"/>
            <a:r>
              <a:rPr lang="es-MX" dirty="0"/>
              <a:t>Retrasos por </a:t>
            </a:r>
            <a:r>
              <a:rPr lang="es-MX" dirty="0" err="1"/>
              <a:t>re-trabajo</a:t>
            </a:r>
            <a:endParaRPr lang="es-MX" dirty="0"/>
          </a:p>
          <a:p>
            <a:pPr lvl="1" algn="just"/>
            <a:r>
              <a:rPr lang="es-MX" dirty="0"/>
              <a:t>Rediseños innecesarios</a:t>
            </a:r>
          </a:p>
          <a:p>
            <a:pPr lvl="1" algn="just"/>
            <a:r>
              <a:rPr lang="es-MX" dirty="0"/>
              <a:t>Fallas en </a:t>
            </a:r>
            <a:r>
              <a:rPr lang="es-MX" dirty="0" err="1"/>
              <a:t>builds</a:t>
            </a:r>
            <a:r>
              <a:rPr lang="es-MX" dirty="0"/>
              <a:t> o integración</a:t>
            </a:r>
          </a:p>
          <a:p>
            <a:pPr marL="0" indent="0" algn="just">
              <a:buNone/>
            </a:pPr>
            <a:endParaRPr lang="es-MX" dirty="0"/>
          </a:p>
          <a:p>
            <a:pPr marL="0" indent="0" algn="just">
              <a:buNone/>
            </a:pPr>
            <a:r>
              <a:rPr lang="es-MX" b="1" i="1" dirty="0"/>
              <a:t>Se paga por no haber prevenido el error.</a:t>
            </a:r>
          </a:p>
        </p:txBody>
      </p:sp>
      <p:sp>
        <p:nvSpPr>
          <p:cNvPr id="3" name="Marcador de contenido 2">
            <a:extLst>
              <a:ext uri="{FF2B5EF4-FFF2-40B4-BE49-F238E27FC236}">
                <a16:creationId xmlns:a16="http://schemas.microsoft.com/office/drawing/2014/main" id="{7FBF5FAE-78DA-BCD7-7748-5646693E8367}"/>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979CA53C-0698-AD18-B11F-21266146E296}"/>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212D73F9-B0CD-D262-954A-4F21D997F57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3045E295-A840-BA86-51B2-D508A736ED96}"/>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AFE9864C-7B71-3FC5-6AFC-4F2537FD83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7A39A1CE-68E3-BA87-D03C-961AC628D5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3963613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8789-E771-FFC5-A085-925B12464C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EA9891-FAAC-98CC-A706-C1B6F5871D30}"/>
              </a:ext>
            </a:extLst>
          </p:cNvPr>
          <p:cNvSpPr>
            <a:spLocks noGrp="1"/>
          </p:cNvSpPr>
          <p:nvPr>
            <p:ph type="title"/>
          </p:nvPr>
        </p:nvSpPr>
        <p:spPr>
          <a:xfrm>
            <a:off x="609600" y="274638"/>
            <a:ext cx="8148638" cy="1143000"/>
          </a:xfrm>
        </p:spPr>
        <p:txBody>
          <a:bodyPr>
            <a:normAutofit/>
          </a:bodyPr>
          <a:lstStyle/>
          <a:p>
            <a:pPr algn="just"/>
            <a:r>
              <a:rPr lang="es-MX" dirty="0"/>
              <a:t>Costos por Fallos Externos</a:t>
            </a:r>
          </a:p>
        </p:txBody>
      </p:sp>
      <p:sp>
        <p:nvSpPr>
          <p:cNvPr id="4" name="Marcador de contenido 3">
            <a:extLst>
              <a:ext uri="{FF2B5EF4-FFF2-40B4-BE49-F238E27FC236}">
                <a16:creationId xmlns:a16="http://schemas.microsoft.com/office/drawing/2014/main" id="{E98E5BC0-FB92-7B5F-887B-1565F7BA655E}"/>
              </a:ext>
            </a:extLst>
          </p:cNvPr>
          <p:cNvSpPr>
            <a:spLocks noGrp="1"/>
          </p:cNvSpPr>
          <p:nvPr>
            <p:ph idx="13"/>
          </p:nvPr>
        </p:nvSpPr>
        <p:spPr>
          <a:xfrm>
            <a:off x="609600" y="1600201"/>
            <a:ext cx="10352394" cy="4525963"/>
          </a:xfrm>
        </p:spPr>
        <p:txBody>
          <a:bodyPr>
            <a:normAutofit/>
          </a:bodyPr>
          <a:lstStyle/>
          <a:p>
            <a:pPr marL="0" indent="0" algn="just">
              <a:buNone/>
            </a:pPr>
            <a:r>
              <a:rPr lang="es-MX" dirty="0"/>
              <a:t>Costos por errores detectados después de la entrega al cliente o en producción.</a:t>
            </a:r>
          </a:p>
          <a:p>
            <a:pPr marL="0" indent="0" algn="just">
              <a:buNone/>
            </a:pPr>
            <a:r>
              <a:rPr lang="es-MX" dirty="0"/>
              <a:t>Ejemplos:</a:t>
            </a:r>
          </a:p>
          <a:p>
            <a:pPr lvl="1" algn="just"/>
            <a:r>
              <a:rPr lang="es-MX" dirty="0"/>
              <a:t>Soporte técnico</a:t>
            </a:r>
          </a:p>
          <a:p>
            <a:pPr lvl="1" algn="just"/>
            <a:r>
              <a:rPr lang="es-MX" dirty="0"/>
              <a:t>Pérdida de clientes</a:t>
            </a:r>
          </a:p>
          <a:p>
            <a:pPr lvl="1" algn="just"/>
            <a:r>
              <a:rPr lang="es-MX" dirty="0"/>
              <a:t>Daño a la reputación</a:t>
            </a:r>
          </a:p>
          <a:p>
            <a:pPr lvl="1" algn="just"/>
            <a:r>
              <a:rPr lang="es-MX" dirty="0"/>
              <a:t>Penalizaciones contractuales</a:t>
            </a:r>
          </a:p>
          <a:p>
            <a:pPr lvl="1" algn="just"/>
            <a:r>
              <a:rPr lang="es-MX" dirty="0"/>
              <a:t>Vulnerabilidades explotadas</a:t>
            </a:r>
          </a:p>
          <a:p>
            <a:pPr marL="0" indent="0" algn="just">
              <a:buNone/>
            </a:pPr>
            <a:endParaRPr lang="es-MX" dirty="0"/>
          </a:p>
          <a:p>
            <a:pPr marL="0" indent="0" algn="just">
              <a:buNone/>
            </a:pPr>
            <a:r>
              <a:rPr lang="es-MX" b="1" i="1" dirty="0"/>
              <a:t>Son los más costosos y peligrosos.</a:t>
            </a:r>
          </a:p>
        </p:txBody>
      </p:sp>
      <p:sp>
        <p:nvSpPr>
          <p:cNvPr id="3" name="Marcador de contenido 2">
            <a:extLst>
              <a:ext uri="{FF2B5EF4-FFF2-40B4-BE49-F238E27FC236}">
                <a16:creationId xmlns:a16="http://schemas.microsoft.com/office/drawing/2014/main" id="{2F3B3FB7-6F32-01D6-1708-0124C5A7A15C}"/>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507738BA-FCD3-72E9-82B3-3C153890B2C4}"/>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71295C7-F2FD-C9CA-A8CA-51589541E683}"/>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EDF32C26-4994-618B-88C7-D29D658E0D27}"/>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C6F130F-5D16-097E-AEAC-0F62960CAC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2B852EE-B438-AB7C-363D-1784CD858F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546455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4C02-E265-C6A3-57CE-2E81F579781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7145EC4-EEA1-6460-1610-6A0EA6DC2F7C}"/>
              </a:ext>
            </a:extLst>
          </p:cNvPr>
          <p:cNvSpPr>
            <a:spLocks noGrp="1"/>
          </p:cNvSpPr>
          <p:nvPr>
            <p:ph type="title"/>
          </p:nvPr>
        </p:nvSpPr>
        <p:spPr>
          <a:xfrm>
            <a:off x="609600" y="274638"/>
            <a:ext cx="8148638" cy="1143000"/>
          </a:xfrm>
        </p:spPr>
        <p:txBody>
          <a:bodyPr>
            <a:normAutofit/>
          </a:bodyPr>
          <a:lstStyle/>
          <a:p>
            <a:pPr algn="just"/>
            <a:r>
              <a:rPr lang="es-MX" dirty="0"/>
              <a:t>¿Cuál es el objetivo?</a:t>
            </a:r>
          </a:p>
        </p:txBody>
      </p:sp>
      <p:sp>
        <p:nvSpPr>
          <p:cNvPr id="4" name="Marcador de contenido 3">
            <a:extLst>
              <a:ext uri="{FF2B5EF4-FFF2-40B4-BE49-F238E27FC236}">
                <a16:creationId xmlns:a16="http://schemas.microsoft.com/office/drawing/2014/main" id="{99B79395-7542-F1DF-D333-8FDCF8663128}"/>
              </a:ext>
            </a:extLst>
          </p:cNvPr>
          <p:cNvSpPr>
            <a:spLocks noGrp="1"/>
          </p:cNvSpPr>
          <p:nvPr>
            <p:ph idx="13"/>
          </p:nvPr>
        </p:nvSpPr>
        <p:spPr>
          <a:xfrm>
            <a:off x="609600" y="1600201"/>
            <a:ext cx="10352394" cy="4525963"/>
          </a:xfrm>
        </p:spPr>
        <p:txBody>
          <a:bodyPr>
            <a:normAutofit/>
          </a:bodyPr>
          <a:lstStyle/>
          <a:p>
            <a:pPr marL="0" indent="0" algn="just">
              <a:buNone/>
            </a:pPr>
            <a:endParaRPr lang="es-MX" dirty="0"/>
          </a:p>
          <a:p>
            <a:pPr algn="just"/>
            <a:r>
              <a:rPr lang="es-MX" dirty="0"/>
              <a:t>Minimizar el costo total de calidad.</a:t>
            </a:r>
          </a:p>
          <a:p>
            <a:pPr algn="just"/>
            <a:r>
              <a:rPr lang="es-MX" dirty="0"/>
              <a:t>Invertir más en prevención y evaluación para reducir los costos por fallos.</a:t>
            </a:r>
          </a:p>
          <a:p>
            <a:pPr marL="0" indent="0" algn="just">
              <a:buNone/>
            </a:pPr>
            <a:endParaRPr lang="es-MX" dirty="0"/>
          </a:p>
          <a:p>
            <a:pPr marL="0" indent="0" algn="just">
              <a:buNone/>
            </a:pPr>
            <a:r>
              <a:rPr lang="es-MX" b="1" i="1" dirty="0"/>
              <a:t>"Es más barato prevenir errores que corregirlos tarde."</a:t>
            </a:r>
          </a:p>
        </p:txBody>
      </p:sp>
      <p:sp>
        <p:nvSpPr>
          <p:cNvPr id="3" name="Marcador de contenido 2">
            <a:extLst>
              <a:ext uri="{FF2B5EF4-FFF2-40B4-BE49-F238E27FC236}">
                <a16:creationId xmlns:a16="http://schemas.microsoft.com/office/drawing/2014/main" id="{1540B114-15DB-FE79-5E4D-6B932919D7BF}"/>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10F6AE3E-97AF-8D87-54E8-16E186EF1961}"/>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F5A2BC17-7CB7-8C21-AD78-4A4BCB03711D}"/>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AE3A6097-EE5C-3607-AD29-AF4C0D6A075E}"/>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98451BAE-855D-23AC-91B1-C183F11644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DEC1CBDB-38FF-942B-0D2E-6432B478CB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4162799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F7A3C-F337-6E89-0D03-4ED8A63BA9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19C720-F7BD-9F94-A280-7A106ABDDEE3}"/>
              </a:ext>
            </a:extLst>
          </p:cNvPr>
          <p:cNvSpPr>
            <a:spLocks noGrp="1"/>
          </p:cNvSpPr>
          <p:nvPr>
            <p:ph type="title"/>
          </p:nvPr>
        </p:nvSpPr>
        <p:spPr>
          <a:xfrm>
            <a:off x="609600" y="274638"/>
            <a:ext cx="8148638" cy="1143000"/>
          </a:xfrm>
        </p:spPr>
        <p:txBody>
          <a:bodyPr>
            <a:normAutofit/>
          </a:bodyPr>
          <a:lstStyle/>
          <a:p>
            <a:pPr algn="just"/>
            <a:r>
              <a:rPr lang="es-MX" dirty="0"/>
              <a:t>Riesgos</a:t>
            </a:r>
          </a:p>
        </p:txBody>
      </p:sp>
      <p:sp>
        <p:nvSpPr>
          <p:cNvPr id="4" name="Marcador de contenido 3">
            <a:extLst>
              <a:ext uri="{FF2B5EF4-FFF2-40B4-BE49-F238E27FC236}">
                <a16:creationId xmlns:a16="http://schemas.microsoft.com/office/drawing/2014/main" id="{77295235-6573-2A39-3592-492D14324A96}"/>
              </a:ext>
            </a:extLst>
          </p:cNvPr>
          <p:cNvSpPr>
            <a:spLocks noGrp="1"/>
          </p:cNvSpPr>
          <p:nvPr>
            <p:ph idx="13"/>
          </p:nvPr>
        </p:nvSpPr>
        <p:spPr>
          <a:xfrm>
            <a:off x="609600" y="1600201"/>
            <a:ext cx="10352394" cy="4525963"/>
          </a:xfrm>
        </p:spPr>
        <p:txBody>
          <a:bodyPr>
            <a:normAutofit/>
          </a:bodyPr>
          <a:lstStyle/>
          <a:p>
            <a:pPr marL="0" indent="0" algn="just">
              <a:buNone/>
            </a:pPr>
            <a:r>
              <a:rPr lang="es-MX" dirty="0"/>
              <a:t>Durante el mes de noviembre del año 2000 en un hospital de Panamá, 28 pacientes recibieron dosis masivas de rayos gama durante su tratamiento para una variedad de canceres. En los siguientes meses 5 de esos pacientes murieron de envenenamiento por radiación y otros 15 desarrollaron complicaciones graves.</a:t>
            </a:r>
          </a:p>
          <a:p>
            <a:pPr marL="0" indent="0" algn="just">
              <a:buNone/>
            </a:pPr>
            <a:r>
              <a:rPr lang="es-MX" dirty="0"/>
              <a:t>¿Qué fue lo que provoco esta tragedia?</a:t>
            </a:r>
          </a:p>
          <a:p>
            <a:pPr marL="0" indent="0" algn="just">
              <a:buNone/>
            </a:pPr>
            <a:r>
              <a:rPr lang="es-MX" dirty="0"/>
              <a:t>Los técnicos del hospital modificaron un paquete de software, desarrollado por una empresa estadounidense, para calcular dosis modificadas de radiación para cada paciente.</a:t>
            </a:r>
            <a:endParaRPr lang="es-MX" b="1" i="1" dirty="0"/>
          </a:p>
        </p:txBody>
      </p:sp>
      <p:sp>
        <p:nvSpPr>
          <p:cNvPr id="3" name="Marcador de contenido 2">
            <a:extLst>
              <a:ext uri="{FF2B5EF4-FFF2-40B4-BE49-F238E27FC236}">
                <a16:creationId xmlns:a16="http://schemas.microsoft.com/office/drawing/2014/main" id="{45654C50-3DC8-AAD2-63DC-1925A7EAEB7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6AD18ADE-89B1-7CA1-5FBC-F6BA92ED1F3D}"/>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9B59E477-9FDA-C6E2-6154-8D69F92B4BE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A4262285-3CD2-F801-A065-861936C7825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81032963-4EF5-AB1D-91D2-AEFC61839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024A10B4-5A57-BDBB-EE1B-4A2C471E0E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1260450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C27E7-546B-54E9-CD29-DF0DCE3336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21CE4F-9529-5C52-F408-5182E8068362}"/>
              </a:ext>
            </a:extLst>
          </p:cNvPr>
          <p:cNvSpPr>
            <a:spLocks noGrp="1"/>
          </p:cNvSpPr>
          <p:nvPr>
            <p:ph type="title"/>
          </p:nvPr>
        </p:nvSpPr>
        <p:spPr>
          <a:xfrm>
            <a:off x="609600" y="274638"/>
            <a:ext cx="8148638" cy="1143000"/>
          </a:xfrm>
        </p:spPr>
        <p:txBody>
          <a:bodyPr>
            <a:normAutofit/>
          </a:bodyPr>
          <a:lstStyle/>
          <a:p>
            <a:pPr algn="just"/>
            <a:r>
              <a:rPr lang="es-MX" dirty="0"/>
              <a:t>Riesgos</a:t>
            </a:r>
          </a:p>
        </p:txBody>
      </p:sp>
      <p:sp>
        <p:nvSpPr>
          <p:cNvPr id="4" name="Marcador de contenido 3">
            <a:extLst>
              <a:ext uri="{FF2B5EF4-FFF2-40B4-BE49-F238E27FC236}">
                <a16:creationId xmlns:a16="http://schemas.microsoft.com/office/drawing/2014/main" id="{3C317B42-479C-8B38-7D67-2D82C6CF0B5C}"/>
              </a:ext>
            </a:extLst>
          </p:cNvPr>
          <p:cNvSpPr>
            <a:spLocks noGrp="1"/>
          </p:cNvSpPr>
          <p:nvPr>
            <p:ph idx="13"/>
          </p:nvPr>
        </p:nvSpPr>
        <p:spPr>
          <a:xfrm>
            <a:off x="609600" y="1600201"/>
            <a:ext cx="10352394" cy="4525963"/>
          </a:xfrm>
        </p:spPr>
        <p:txBody>
          <a:bodyPr>
            <a:normAutofit/>
          </a:bodyPr>
          <a:lstStyle/>
          <a:p>
            <a:pPr marL="0" indent="0" algn="just">
              <a:buNone/>
            </a:pPr>
            <a:endParaRPr lang="es-MX" b="1" dirty="0"/>
          </a:p>
          <a:p>
            <a:pPr marL="0" indent="0" algn="just">
              <a:buNone/>
            </a:pPr>
            <a:endParaRPr lang="es-MX" b="1" dirty="0"/>
          </a:p>
          <a:p>
            <a:pPr marL="0" indent="0" algn="just">
              <a:buNone/>
            </a:pPr>
            <a:endParaRPr lang="es-MX" b="1" dirty="0"/>
          </a:p>
          <a:p>
            <a:pPr marL="0" indent="0" algn="just">
              <a:buNone/>
            </a:pPr>
            <a:r>
              <a:rPr lang="es-MX" b="1" dirty="0"/>
              <a:t>“La mala calidad conduce a riesgos y estos pueden ser muy graves.”</a:t>
            </a:r>
            <a:endParaRPr lang="es-MX" b="1" i="1" dirty="0"/>
          </a:p>
        </p:txBody>
      </p:sp>
      <p:sp>
        <p:nvSpPr>
          <p:cNvPr id="3" name="Marcador de contenido 2">
            <a:extLst>
              <a:ext uri="{FF2B5EF4-FFF2-40B4-BE49-F238E27FC236}">
                <a16:creationId xmlns:a16="http://schemas.microsoft.com/office/drawing/2014/main" id="{14DD38F6-A516-9C66-B75F-0340A4258A5B}"/>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B76B4663-F9D9-C670-6B7A-40675FC4D0E8}"/>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7F4F2FC-4848-DEDB-02D4-BF5C30B575C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E30F0BA5-19A8-4012-E288-0129D2624E51}"/>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7F69541-7456-D0D5-2572-DDF8E0C83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A62F3B31-ADA1-7D82-3DDA-0C974D0657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2474747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DAFA5-7B66-4582-B911-1B7F1DEF46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CC4C63-1B09-0A50-67C9-2DB0B04855DA}"/>
              </a:ext>
            </a:extLst>
          </p:cNvPr>
          <p:cNvSpPr>
            <a:spLocks noGrp="1"/>
          </p:cNvSpPr>
          <p:nvPr>
            <p:ph type="title"/>
          </p:nvPr>
        </p:nvSpPr>
        <p:spPr>
          <a:xfrm>
            <a:off x="609600" y="274638"/>
            <a:ext cx="8148638" cy="1143000"/>
          </a:xfrm>
        </p:spPr>
        <p:txBody>
          <a:bodyPr>
            <a:normAutofit fontScale="90000"/>
          </a:bodyPr>
          <a:lstStyle/>
          <a:p>
            <a:pPr algn="just"/>
            <a:r>
              <a:rPr lang="es-MX" dirty="0"/>
              <a:t>Tipos de riesgos en proyectos de software</a:t>
            </a:r>
          </a:p>
        </p:txBody>
      </p:sp>
      <p:sp>
        <p:nvSpPr>
          <p:cNvPr id="4" name="Marcador de contenido 3">
            <a:extLst>
              <a:ext uri="{FF2B5EF4-FFF2-40B4-BE49-F238E27FC236}">
                <a16:creationId xmlns:a16="http://schemas.microsoft.com/office/drawing/2014/main" id="{AD35A491-3566-025C-AA95-70369FFC3736}"/>
              </a:ext>
            </a:extLst>
          </p:cNvPr>
          <p:cNvSpPr>
            <a:spLocks noGrp="1"/>
          </p:cNvSpPr>
          <p:nvPr>
            <p:ph idx="13"/>
          </p:nvPr>
        </p:nvSpPr>
        <p:spPr>
          <a:xfrm>
            <a:off x="609600" y="1600201"/>
            <a:ext cx="10352394" cy="4525963"/>
          </a:xfrm>
        </p:spPr>
        <p:txBody>
          <a:bodyPr>
            <a:normAutofit/>
          </a:bodyPr>
          <a:lstStyle/>
          <a:p>
            <a:pPr marL="0" indent="0" algn="just">
              <a:buNone/>
            </a:pPr>
            <a:r>
              <a:rPr lang="es-MX" dirty="0"/>
              <a:t>1. Riesgos del personal / equipo</a:t>
            </a:r>
          </a:p>
          <a:p>
            <a:pPr lvl="1" algn="just"/>
            <a:r>
              <a:rPr lang="es-MX" dirty="0"/>
              <a:t>Falta de experiencia del equipo.</a:t>
            </a:r>
          </a:p>
          <a:p>
            <a:pPr lvl="1" algn="just"/>
            <a:r>
              <a:rPr lang="es-MX" dirty="0"/>
              <a:t>Alta rotación de personal.</a:t>
            </a:r>
          </a:p>
          <a:p>
            <a:pPr lvl="1" algn="just"/>
            <a:r>
              <a:rPr lang="es-MX" dirty="0"/>
              <a:t>Conflictos entre desarrolladores.</a:t>
            </a:r>
          </a:p>
          <a:p>
            <a:pPr lvl="1" algn="just"/>
            <a:r>
              <a:rPr lang="es-MX" dirty="0"/>
              <a:t>Poca disponibilidad de expertos técnicos.</a:t>
            </a:r>
          </a:p>
          <a:p>
            <a:pPr marL="0" indent="0" algn="just">
              <a:buNone/>
            </a:pPr>
            <a:r>
              <a:rPr lang="es-MX" dirty="0"/>
              <a:t>2. Riesgos técnicos</a:t>
            </a:r>
          </a:p>
          <a:p>
            <a:pPr lvl="1" algn="just"/>
            <a:r>
              <a:rPr lang="es-MX" dirty="0"/>
              <a:t>Tecnologías nuevas o poco probadas.</a:t>
            </a:r>
          </a:p>
          <a:p>
            <a:pPr lvl="1" algn="just"/>
            <a:r>
              <a:rPr lang="es-MX" dirty="0"/>
              <a:t>Problemas de integración entre sistemas.</a:t>
            </a:r>
          </a:p>
          <a:p>
            <a:pPr lvl="1" algn="just"/>
            <a:r>
              <a:rPr lang="es-MX" dirty="0"/>
              <a:t>Requerimientos no definidos claramente.</a:t>
            </a:r>
          </a:p>
          <a:p>
            <a:pPr lvl="1" algn="just"/>
            <a:r>
              <a:rPr lang="es-MX" dirty="0"/>
              <a:t>Cambios de plataforma o herramientas durante el proyecto.</a:t>
            </a:r>
          </a:p>
          <a:p>
            <a:pPr marL="0" indent="0" algn="just">
              <a:buNone/>
            </a:pPr>
            <a:endParaRPr lang="es-MX" dirty="0"/>
          </a:p>
        </p:txBody>
      </p:sp>
      <p:sp>
        <p:nvSpPr>
          <p:cNvPr id="3" name="Marcador de contenido 2">
            <a:extLst>
              <a:ext uri="{FF2B5EF4-FFF2-40B4-BE49-F238E27FC236}">
                <a16:creationId xmlns:a16="http://schemas.microsoft.com/office/drawing/2014/main" id="{672217F6-0B90-A832-1E78-CCF9406AD84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3DF66E48-114C-B14F-92E5-268AFF288333}"/>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9B51B7AF-806B-3533-5EA4-6C90B01D96B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A0097376-EDFC-962F-6728-CDB9C8CD3F7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4FF3AF8F-0976-CE43-EFF0-30E8ACF3A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B5FED4BA-8D99-F67A-0D0D-D766CC4FA2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243428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7A49-08CC-FA00-C710-06FA7E3C11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A341F1-753F-42DB-61DD-4FC13EA88F73}"/>
              </a:ext>
            </a:extLst>
          </p:cNvPr>
          <p:cNvSpPr>
            <a:spLocks noGrp="1"/>
          </p:cNvSpPr>
          <p:nvPr>
            <p:ph type="title"/>
          </p:nvPr>
        </p:nvSpPr>
        <p:spPr>
          <a:xfrm>
            <a:off x="609600" y="274638"/>
            <a:ext cx="8148638" cy="1143000"/>
          </a:xfrm>
        </p:spPr>
        <p:txBody>
          <a:bodyPr>
            <a:normAutofit fontScale="90000"/>
          </a:bodyPr>
          <a:lstStyle/>
          <a:p>
            <a:pPr algn="just"/>
            <a:r>
              <a:rPr lang="es-MX" dirty="0"/>
              <a:t>Tipos de riesgos en proyectos de software</a:t>
            </a:r>
          </a:p>
        </p:txBody>
      </p:sp>
      <p:sp>
        <p:nvSpPr>
          <p:cNvPr id="4" name="Marcador de contenido 3">
            <a:extLst>
              <a:ext uri="{FF2B5EF4-FFF2-40B4-BE49-F238E27FC236}">
                <a16:creationId xmlns:a16="http://schemas.microsoft.com/office/drawing/2014/main" id="{38337BF3-AC01-F06C-238C-FA4DFD863BF3}"/>
              </a:ext>
            </a:extLst>
          </p:cNvPr>
          <p:cNvSpPr>
            <a:spLocks noGrp="1"/>
          </p:cNvSpPr>
          <p:nvPr>
            <p:ph idx="13"/>
          </p:nvPr>
        </p:nvSpPr>
        <p:spPr>
          <a:xfrm>
            <a:off x="609600" y="1600201"/>
            <a:ext cx="10352394" cy="4525963"/>
          </a:xfrm>
        </p:spPr>
        <p:txBody>
          <a:bodyPr>
            <a:normAutofit/>
          </a:bodyPr>
          <a:lstStyle/>
          <a:p>
            <a:pPr marL="0" indent="0" algn="just">
              <a:buNone/>
            </a:pPr>
            <a:r>
              <a:rPr lang="es-MX" dirty="0"/>
              <a:t>3.  Riesgos de planificación</a:t>
            </a:r>
          </a:p>
          <a:p>
            <a:pPr lvl="1" algn="just"/>
            <a:r>
              <a:rPr lang="es-MX" dirty="0"/>
              <a:t>Estimaciones de tiempo o esfuerzo incorrectas.</a:t>
            </a:r>
          </a:p>
          <a:p>
            <a:pPr lvl="1" algn="just"/>
            <a:r>
              <a:rPr lang="es-MX" dirty="0"/>
              <a:t>Fechas de entrega poco realistas.</a:t>
            </a:r>
          </a:p>
          <a:p>
            <a:pPr lvl="1" algn="just"/>
            <a:r>
              <a:rPr lang="es-MX" dirty="0"/>
              <a:t>Mala asignación de tareas.</a:t>
            </a:r>
          </a:p>
          <a:p>
            <a:pPr marL="0" indent="0" algn="just">
              <a:buNone/>
            </a:pPr>
            <a:r>
              <a:rPr lang="es-MX" dirty="0"/>
              <a:t>4. Riesgos financieros</a:t>
            </a:r>
          </a:p>
          <a:p>
            <a:pPr lvl="1" algn="just"/>
            <a:r>
              <a:rPr lang="es-MX" dirty="0"/>
              <a:t>Cambios en el presupuesto.</a:t>
            </a:r>
          </a:p>
          <a:p>
            <a:pPr lvl="1" algn="just"/>
            <a:r>
              <a:rPr lang="es-MX" dirty="0"/>
              <a:t>Aumento inesperado de costos.</a:t>
            </a:r>
          </a:p>
          <a:p>
            <a:pPr lvl="1" algn="just"/>
            <a:r>
              <a:rPr lang="es-MX" dirty="0"/>
              <a:t>Retrasos que aumentan el gasto.</a:t>
            </a:r>
          </a:p>
        </p:txBody>
      </p:sp>
      <p:sp>
        <p:nvSpPr>
          <p:cNvPr id="3" name="Marcador de contenido 2">
            <a:extLst>
              <a:ext uri="{FF2B5EF4-FFF2-40B4-BE49-F238E27FC236}">
                <a16:creationId xmlns:a16="http://schemas.microsoft.com/office/drawing/2014/main" id="{81903022-4663-761F-EE6B-364E5A7369B2}"/>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556EDAE3-9B09-9856-541F-2DBE5115279E}"/>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3FF2687A-AF4E-3E88-0A46-37BBC89A6F04}"/>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B0DAD44E-30E4-8B17-0014-339F57B1E16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DDBC49C6-F468-FC6E-E251-DACA010607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94162996-CA3B-D569-7FEB-267E302444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8415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A8E4-DD65-3D8F-F8D1-02C44158B5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11823B-D1DC-0548-B624-D6192D20576E}"/>
              </a:ext>
            </a:extLst>
          </p:cNvPr>
          <p:cNvSpPr>
            <a:spLocks noGrp="1"/>
          </p:cNvSpPr>
          <p:nvPr>
            <p:ph type="title"/>
          </p:nvPr>
        </p:nvSpPr>
        <p:spPr>
          <a:xfrm>
            <a:off x="609600" y="274638"/>
            <a:ext cx="8148638" cy="1143000"/>
          </a:xfrm>
        </p:spPr>
        <p:txBody>
          <a:bodyPr>
            <a:normAutofit fontScale="90000"/>
          </a:bodyPr>
          <a:lstStyle/>
          <a:p>
            <a:pPr algn="just"/>
            <a:r>
              <a:rPr lang="es-MX" dirty="0"/>
              <a:t>Tipos de riesgos en proyectos de software</a:t>
            </a:r>
          </a:p>
        </p:txBody>
      </p:sp>
      <p:sp>
        <p:nvSpPr>
          <p:cNvPr id="4" name="Marcador de contenido 3">
            <a:extLst>
              <a:ext uri="{FF2B5EF4-FFF2-40B4-BE49-F238E27FC236}">
                <a16:creationId xmlns:a16="http://schemas.microsoft.com/office/drawing/2014/main" id="{442C9190-B61B-4A54-B394-DE6FDFEC747A}"/>
              </a:ext>
            </a:extLst>
          </p:cNvPr>
          <p:cNvSpPr>
            <a:spLocks noGrp="1"/>
          </p:cNvSpPr>
          <p:nvPr>
            <p:ph idx="13"/>
          </p:nvPr>
        </p:nvSpPr>
        <p:spPr>
          <a:xfrm>
            <a:off x="609600" y="1600201"/>
            <a:ext cx="10352394" cy="4525963"/>
          </a:xfrm>
        </p:spPr>
        <p:txBody>
          <a:bodyPr>
            <a:normAutofit/>
          </a:bodyPr>
          <a:lstStyle/>
          <a:p>
            <a:pPr marL="0" indent="0" algn="just">
              <a:buNone/>
            </a:pPr>
            <a:r>
              <a:rPr lang="es-MX" dirty="0"/>
              <a:t>5. Riesgos de requerimientos</a:t>
            </a:r>
          </a:p>
          <a:p>
            <a:pPr lvl="1" algn="just"/>
            <a:r>
              <a:rPr lang="es-MX" dirty="0"/>
              <a:t>Requisitos cambiantes o mal definidos.</a:t>
            </a:r>
          </a:p>
          <a:p>
            <a:pPr lvl="1" algn="just"/>
            <a:r>
              <a:rPr lang="es-MX" dirty="0"/>
              <a:t>Clientes que no se comunican con claridad.</a:t>
            </a:r>
          </a:p>
          <a:p>
            <a:pPr lvl="1" algn="just"/>
            <a:r>
              <a:rPr lang="es-MX" dirty="0"/>
              <a:t>Cambios frecuentes durante el desarrollo.</a:t>
            </a:r>
          </a:p>
          <a:p>
            <a:pPr marL="0" indent="0" algn="just">
              <a:buNone/>
            </a:pPr>
            <a:endParaRPr lang="es-MX" dirty="0"/>
          </a:p>
          <a:p>
            <a:pPr marL="0" indent="0" algn="just">
              <a:buNone/>
            </a:pPr>
            <a:r>
              <a:rPr lang="es-MX" dirty="0"/>
              <a:t>6. Riesgos de calidad</a:t>
            </a:r>
          </a:p>
          <a:p>
            <a:pPr lvl="1" algn="just"/>
            <a:r>
              <a:rPr lang="es-MX" dirty="0"/>
              <a:t>Ausencia de pruebas adecuadas.</a:t>
            </a:r>
          </a:p>
          <a:p>
            <a:pPr lvl="1" algn="just"/>
            <a:r>
              <a:rPr lang="es-MX" dirty="0"/>
              <a:t>Errores que llegan a producción.</a:t>
            </a:r>
          </a:p>
          <a:p>
            <a:pPr lvl="1" algn="just"/>
            <a:r>
              <a:rPr lang="es-MX" dirty="0"/>
              <a:t>No cumplir con normativas o estándares.</a:t>
            </a:r>
          </a:p>
          <a:p>
            <a:pPr marL="0" indent="0" algn="just">
              <a:buNone/>
            </a:pPr>
            <a:endParaRPr lang="es-MX" dirty="0"/>
          </a:p>
        </p:txBody>
      </p:sp>
      <p:sp>
        <p:nvSpPr>
          <p:cNvPr id="3" name="Marcador de contenido 2">
            <a:extLst>
              <a:ext uri="{FF2B5EF4-FFF2-40B4-BE49-F238E27FC236}">
                <a16:creationId xmlns:a16="http://schemas.microsoft.com/office/drawing/2014/main" id="{1517C78F-11EC-9EA4-8DB2-BB1A7C2B8D5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2459B82C-00FF-4F1A-4B2B-E146220CEAB8}"/>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12FBCEAC-1781-CD9D-2481-F6E59EE86703}"/>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B9DE224C-8D9A-3D25-317C-48E0764CE3F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38F6EB1-50F6-DE73-DA78-6D8746BDD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E6772C2B-405E-1026-4E05-DD701E3DFB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4000193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5FA82-8BC8-932C-E037-9215208A11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A7358E-5C35-0CCD-F2D6-D943E465974C}"/>
              </a:ext>
            </a:extLst>
          </p:cNvPr>
          <p:cNvSpPr>
            <a:spLocks noGrp="1"/>
          </p:cNvSpPr>
          <p:nvPr>
            <p:ph type="title"/>
          </p:nvPr>
        </p:nvSpPr>
        <p:spPr>
          <a:xfrm>
            <a:off x="609600" y="274638"/>
            <a:ext cx="8148638" cy="1143000"/>
          </a:xfrm>
        </p:spPr>
        <p:txBody>
          <a:bodyPr>
            <a:normAutofit fontScale="90000"/>
          </a:bodyPr>
          <a:lstStyle/>
          <a:p>
            <a:pPr algn="just"/>
            <a:r>
              <a:rPr lang="es-MX" dirty="0"/>
              <a:t>El impacto de las acciones gerenciales</a:t>
            </a:r>
          </a:p>
        </p:txBody>
      </p:sp>
      <p:sp>
        <p:nvSpPr>
          <p:cNvPr id="4" name="Marcador de contenido 3">
            <a:extLst>
              <a:ext uri="{FF2B5EF4-FFF2-40B4-BE49-F238E27FC236}">
                <a16:creationId xmlns:a16="http://schemas.microsoft.com/office/drawing/2014/main" id="{B530FCA6-C5F8-6526-1FB6-6D8F56202C69}"/>
              </a:ext>
            </a:extLst>
          </p:cNvPr>
          <p:cNvSpPr>
            <a:spLocks noGrp="1"/>
          </p:cNvSpPr>
          <p:nvPr>
            <p:ph idx="13"/>
          </p:nvPr>
        </p:nvSpPr>
        <p:spPr>
          <a:xfrm>
            <a:off x="609600" y="1600201"/>
            <a:ext cx="10352394" cy="4525963"/>
          </a:xfrm>
        </p:spPr>
        <p:txBody>
          <a:bodyPr>
            <a:normAutofit/>
          </a:bodyPr>
          <a:lstStyle/>
          <a:p>
            <a:pPr marL="0" indent="0" algn="just">
              <a:buNone/>
            </a:pPr>
            <a:r>
              <a:rPr lang="es-MX" dirty="0"/>
              <a:t>En muchos casos, existe una enorme presión por acortar el tiempo de desarrollo para la comercialización del software, lo que obliga al equipo a aceptar fechas de entrega poco realistas. Como consecuencia, se toman atajos e incluso se omiten actividades que contribuirían a desarrollar un software de mayor calidad.</a:t>
            </a:r>
          </a:p>
          <a:p>
            <a:pPr marL="0" indent="0" algn="just">
              <a:buNone/>
            </a:pPr>
            <a:endParaRPr lang="es-MX" dirty="0"/>
          </a:p>
          <a:p>
            <a:pPr algn="just"/>
            <a:r>
              <a:rPr lang="es-MX" dirty="0"/>
              <a:t>Si una fecha es irracional, es importante </a:t>
            </a:r>
            <a:r>
              <a:rPr lang="es-MX" b="1" dirty="0"/>
              <a:t>mantenerse firme</a:t>
            </a:r>
            <a:r>
              <a:rPr lang="es-MX" dirty="0"/>
              <a:t>, explicar por qué se necesita más tiempo o sugerir un subconjunto de </a:t>
            </a:r>
            <a:r>
              <a:rPr lang="es-MX" b="1" dirty="0"/>
              <a:t>funcionalidades</a:t>
            </a:r>
            <a:r>
              <a:rPr lang="es-MX" dirty="0"/>
              <a:t> (</a:t>
            </a:r>
            <a:r>
              <a:rPr lang="es-MX" b="1" dirty="0"/>
              <a:t>de alta calidad</a:t>
            </a:r>
            <a:r>
              <a:rPr lang="es-MX" dirty="0"/>
              <a:t>) que pueda entregarse dentro del plazo asignado.</a:t>
            </a:r>
          </a:p>
        </p:txBody>
      </p:sp>
      <p:sp>
        <p:nvSpPr>
          <p:cNvPr id="3" name="Marcador de contenido 2">
            <a:extLst>
              <a:ext uri="{FF2B5EF4-FFF2-40B4-BE49-F238E27FC236}">
                <a16:creationId xmlns:a16="http://schemas.microsoft.com/office/drawing/2014/main" id="{785FBAF1-081B-9D8C-4DB5-7340AF846C58}"/>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AF9D0F9C-2E86-5F8B-1147-F89163E12E41}"/>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19283F4A-2537-E3FD-7967-3FCE5A0D1E29}"/>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80F8A289-6ECC-2F6F-A031-F200B6A645AB}"/>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5CD98F4-7163-EC31-4CED-F876E95069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13171518-7D20-9E62-ADBF-F31E57D612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3774662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62574-B4FA-CF17-F2EB-9F9AA08064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5DF826-95A6-8753-CF11-CA7C5E568D2D}"/>
              </a:ext>
            </a:extLst>
          </p:cNvPr>
          <p:cNvSpPr>
            <a:spLocks noGrp="1"/>
          </p:cNvSpPr>
          <p:nvPr>
            <p:ph type="title"/>
          </p:nvPr>
        </p:nvSpPr>
        <p:spPr>
          <a:xfrm>
            <a:off x="609600" y="274638"/>
            <a:ext cx="8148638" cy="1143000"/>
          </a:xfrm>
        </p:spPr>
        <p:txBody>
          <a:bodyPr>
            <a:normAutofit/>
          </a:bodyPr>
          <a:lstStyle/>
          <a:p>
            <a:pPr algn="just"/>
            <a:endParaRPr lang="es-MX" dirty="0"/>
          </a:p>
        </p:txBody>
      </p:sp>
      <p:sp>
        <p:nvSpPr>
          <p:cNvPr id="4" name="Marcador de contenido 3">
            <a:extLst>
              <a:ext uri="{FF2B5EF4-FFF2-40B4-BE49-F238E27FC236}">
                <a16:creationId xmlns:a16="http://schemas.microsoft.com/office/drawing/2014/main" id="{9B2EB17D-93A0-3D43-251F-206CBCCD9B6F}"/>
              </a:ext>
            </a:extLst>
          </p:cNvPr>
          <p:cNvSpPr>
            <a:spLocks noGrp="1"/>
          </p:cNvSpPr>
          <p:nvPr>
            <p:ph idx="13"/>
          </p:nvPr>
        </p:nvSpPr>
        <p:spPr>
          <a:xfrm>
            <a:off x="609600" y="1600201"/>
            <a:ext cx="10352394" cy="4525963"/>
          </a:xfrm>
        </p:spPr>
        <p:txBody>
          <a:bodyPr>
            <a:normAutofit/>
          </a:bodyPr>
          <a:lstStyle/>
          <a:p>
            <a:pPr marL="0" indent="0" algn="just">
              <a:buNone/>
            </a:pPr>
            <a:endParaRPr lang="es-MX" b="1" dirty="0"/>
          </a:p>
          <a:p>
            <a:pPr marL="0" indent="0" algn="just">
              <a:buNone/>
            </a:pPr>
            <a:endParaRPr lang="es-MX" b="1" dirty="0"/>
          </a:p>
          <a:p>
            <a:pPr marL="0" indent="0" algn="just">
              <a:buNone/>
            </a:pPr>
            <a:endParaRPr lang="es-MX" b="1" dirty="0"/>
          </a:p>
          <a:p>
            <a:pPr marL="0" indent="0" algn="ctr">
              <a:buNone/>
            </a:pPr>
            <a:r>
              <a:rPr lang="es-MX" b="1" i="1" dirty="0"/>
              <a:t>“La esencia de la ingeniería de software es construir soluciones de calidad que generen valor real.”</a:t>
            </a:r>
          </a:p>
        </p:txBody>
      </p:sp>
      <p:sp>
        <p:nvSpPr>
          <p:cNvPr id="3" name="Marcador de contenido 2">
            <a:extLst>
              <a:ext uri="{FF2B5EF4-FFF2-40B4-BE49-F238E27FC236}">
                <a16:creationId xmlns:a16="http://schemas.microsoft.com/office/drawing/2014/main" id="{83D95959-7F0B-CB9E-273F-3CE64D599A6B}"/>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2BF44848-C1AA-BA82-4152-FD04560BDB3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FAC69F8A-42EF-66FE-78A9-7C30E6BD8C26}"/>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1360157C-0E6F-9855-0F6C-D52705F742BC}"/>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DC85929D-9397-6FDD-ACEE-526AB56C10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27EE17F8-3632-AABD-64BF-D176F2E0B6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Tree>
    <p:extLst>
      <p:ext uri="{BB962C8B-B14F-4D97-AF65-F5344CB8AC3E}">
        <p14:creationId xmlns:p14="http://schemas.microsoft.com/office/powerpoint/2010/main" val="849362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a:extLst>
              <a:ext uri="{FF2B5EF4-FFF2-40B4-BE49-F238E27FC236}">
                <a16:creationId xmlns:a16="http://schemas.microsoft.com/office/drawing/2014/main" id="{8ADFA9A2-1A70-4586-A9E0-3C117E6A0C8C}"/>
              </a:ext>
            </a:extLst>
          </p:cNvPr>
          <p:cNvSpPr txBox="1">
            <a:spLocks noChangeArrowheads="1"/>
          </p:cNvSpPr>
          <p:nvPr/>
        </p:nvSpPr>
        <p:spPr bwMode="auto">
          <a:xfrm>
            <a:off x="3303402" y="5887325"/>
            <a:ext cx="685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b="1" dirty="0">
                <a:solidFill>
                  <a:schemeClr val="bg1"/>
                </a:solidFill>
                <a:latin typeface="Arial" charset="0"/>
              </a:rPr>
              <a:t>ARICA - CHILE</a:t>
            </a:r>
            <a:endParaRPr lang="en-US" sz="2400" dirty="0">
              <a:solidFill>
                <a:schemeClr val="bg1"/>
              </a:solidFill>
              <a:latin typeface="Eurostile BoldExtendedTwo" charset="0"/>
            </a:endParaRPr>
          </a:p>
        </p:txBody>
      </p:sp>
      <p:pic>
        <p:nvPicPr>
          <p:cNvPr id="12" name="Imagen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8"/>
            <a:ext cx="12192000" cy="6430945"/>
          </a:xfrm>
          <a:prstGeom prst="rect">
            <a:avLst/>
          </a:prstGeom>
          <a:ln>
            <a:noFill/>
          </a:ln>
        </p:spPr>
      </p:pic>
      <p:sp>
        <p:nvSpPr>
          <p:cNvPr id="13" name="Rectangle 18">
            <a:extLst>
              <a:ext uri="{FF2B5EF4-FFF2-40B4-BE49-F238E27FC236}">
                <a16:creationId xmlns:a16="http://schemas.microsoft.com/office/drawing/2014/main" id="{996DAE91-E53D-4FFB-8098-8AFE46881F1D}"/>
              </a:ext>
            </a:extLst>
          </p:cNvPr>
          <p:cNvSpPr/>
          <p:nvPr/>
        </p:nvSpPr>
        <p:spPr>
          <a:xfrm flipV="1">
            <a:off x="1" y="13618"/>
            <a:ext cx="5972452" cy="6417325"/>
          </a:xfrm>
          <a:prstGeom prst="rect">
            <a:avLst/>
          </a:prstGeom>
          <a:gradFill>
            <a:gsLst>
              <a:gs pos="100000">
                <a:schemeClr val="accent1">
                  <a:lumMod val="5000"/>
                  <a:lumOff val="95000"/>
                  <a:alpha val="0"/>
                </a:schemeClr>
              </a:gs>
              <a:gs pos="32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angle 18">
            <a:extLst>
              <a:ext uri="{FF2B5EF4-FFF2-40B4-BE49-F238E27FC236}">
                <a16:creationId xmlns:a16="http://schemas.microsoft.com/office/drawing/2014/main" id="{996DAE91-E53D-4FFB-8098-8AFE46881F1D}"/>
              </a:ext>
            </a:extLst>
          </p:cNvPr>
          <p:cNvSpPr/>
          <p:nvPr/>
        </p:nvSpPr>
        <p:spPr>
          <a:xfrm flipV="1">
            <a:off x="1" y="5688710"/>
            <a:ext cx="12192000" cy="11699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2402" y="2951018"/>
            <a:ext cx="4282247" cy="1496484"/>
          </a:xfrm>
          <a:prstGeom prst="rect">
            <a:avLst/>
          </a:prstGeom>
        </p:spPr>
      </p:pic>
      <p:pic>
        <p:nvPicPr>
          <p:cNvPr id="3" name="Imagen 2"/>
          <p:cNvPicPr>
            <a:picLocks noChangeAspect="1"/>
          </p:cNvPicPr>
          <p:nvPr/>
        </p:nvPicPr>
        <p:blipFill>
          <a:blip r:embed="rId5">
            <a:alphaModFix amt="31000"/>
            <a:extLst>
              <a:ext uri="{28A0092B-C50C-407E-A947-70E740481C1C}">
                <a14:useLocalDpi xmlns:a14="http://schemas.microsoft.com/office/drawing/2010/main" val="0"/>
              </a:ext>
            </a:extLst>
          </a:blip>
          <a:stretch>
            <a:fillRect/>
          </a:stretch>
        </p:blipFill>
        <p:spPr>
          <a:xfrm>
            <a:off x="0" y="2419690"/>
            <a:ext cx="5966423" cy="1621108"/>
          </a:xfrm>
          <a:prstGeom prst="rect">
            <a:avLst/>
          </a:prstGeom>
        </p:spPr>
      </p:pic>
      <p:pic>
        <p:nvPicPr>
          <p:cNvPr id="5" name="Imagen 4" descr="Interfaz de usuario gráfica, Aplicación&#10;&#10;Descripción generada automáticamente">
            <a:extLst>
              <a:ext uri="{FF2B5EF4-FFF2-40B4-BE49-F238E27FC236}">
                <a16:creationId xmlns:a16="http://schemas.microsoft.com/office/drawing/2014/main" id="{56F54D0E-9772-4A28-255B-A44403E3D9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3184" y="4230126"/>
            <a:ext cx="4060054" cy="1439894"/>
          </a:xfrm>
          <a:prstGeom prst="rect">
            <a:avLst/>
          </a:prstGeom>
        </p:spPr>
      </p:pic>
    </p:spTree>
    <p:extLst>
      <p:ext uri="{BB962C8B-B14F-4D97-AF65-F5344CB8AC3E}">
        <p14:creationId xmlns:p14="http://schemas.microsoft.com/office/powerpoint/2010/main" val="157956294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3188</TotalTime>
  <Words>1974</Words>
  <Application>Microsoft Office PowerPoint</Application>
  <PresentationFormat>Panorámica</PresentationFormat>
  <Paragraphs>202</Paragraphs>
  <Slides>27</Slides>
  <Notes>27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Calibri Light</vt:lpstr>
      <vt:lpstr>Eurostile BoldExtendedTwo</vt:lpstr>
      <vt:lpstr>Tema de Office</vt:lpstr>
      <vt:lpstr>Presentación de PowerPoint</vt:lpstr>
      <vt:lpstr>Presentación de PowerPoint</vt:lpstr>
      <vt:lpstr>Calidad</vt:lpstr>
      <vt:lpstr>¿Qué es la calidad?</vt:lpstr>
      <vt:lpstr>¿Qué es la calidad?</vt:lpstr>
      <vt:lpstr>Calidad del diseño</vt:lpstr>
      <vt:lpstr>Calidad del diseño</vt:lpstr>
      <vt:lpstr>Calidad del software</vt:lpstr>
      <vt:lpstr>1. Un Proceso Efectivo (¿Cómo lo hacemos?)</vt:lpstr>
      <vt:lpstr>2. Un Producto Útil (¿Qué entregamos?)</vt:lpstr>
      <vt:lpstr>3. Valor Cuantificable (¿Qué ganamos todos?)</vt:lpstr>
      <vt:lpstr>Dilema de la calidad de software</vt:lpstr>
      <vt:lpstr>Software "suficientemente bueno"</vt:lpstr>
      <vt:lpstr>¿Qué es el Costo de la Calidad?</vt:lpstr>
      <vt:lpstr>Costos de Prevención</vt:lpstr>
      <vt:lpstr>Costos de Evaluación (o Detección)</vt:lpstr>
      <vt:lpstr>Costos por Fallos Internos</vt:lpstr>
      <vt:lpstr>Costos por Fallos Externos</vt:lpstr>
      <vt:lpstr>¿Cuál es el objetivo?</vt:lpstr>
      <vt:lpstr>Riesgos</vt:lpstr>
      <vt:lpstr>Riesgos</vt:lpstr>
      <vt:lpstr>Tipos de riesgos en proyectos de software</vt:lpstr>
      <vt:lpstr>Tipos de riesgos en proyectos de software</vt:lpstr>
      <vt:lpstr>Tipos de riesgos en proyectos de software</vt:lpstr>
      <vt:lpstr>El impacto de las acciones gerenciales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Alejandro Rodriguez</dc:creator>
  <cp:lastModifiedBy>Diego Supanta</cp:lastModifiedBy>
  <cp:revision>219</cp:revision>
  <dcterms:created xsi:type="dcterms:W3CDTF">2019-05-21T16:47:52Z</dcterms:created>
  <dcterms:modified xsi:type="dcterms:W3CDTF">2026-06-26T13:53:39Z</dcterms:modified>
</cp:coreProperties>
</file>