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40" r:id="rId2"/>
    <p:sldId id="335" r:id="rId3"/>
    <p:sldId id="344" r:id="rId4"/>
    <p:sldId id="345" r:id="rId5"/>
    <p:sldId id="260" r:id="rId6"/>
    <p:sldId id="341" r:id="rId7"/>
    <p:sldId id="342" r:id="rId8"/>
    <p:sldId id="343" r:id="rId9"/>
    <p:sldId id="347" r:id="rId10"/>
    <p:sldId id="348" r:id="rId11"/>
    <p:sldId id="346" r:id="rId12"/>
    <p:sldId id="349" r:id="rId13"/>
    <p:sldId id="352" r:id="rId14"/>
    <p:sldId id="350" r:id="rId15"/>
    <p:sldId id="353" r:id="rId16"/>
    <p:sldId id="320" r:id="rId1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rge Díaz Ramirez" initials="JDR" lastIdx="1" clrIdx="0">
    <p:extLst>
      <p:ext uri="{19B8F6BF-5375-455C-9EA6-DF929625EA0E}">
        <p15:presenceInfo xmlns:p15="http://schemas.microsoft.com/office/powerpoint/2012/main" userId="S::jdiazr@utaicin.onmicrosoft.com::24a050a3-dd5e-4216-aec0-1116f1ad97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8B"/>
    <a:srgbClr val="E59356"/>
    <a:srgbClr val="313967"/>
    <a:srgbClr val="21B7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91" autoAdjust="0"/>
    <p:restoredTop sz="95154" autoAdjust="0"/>
  </p:normalViewPr>
  <p:slideViewPr>
    <p:cSldViewPr snapToGrid="0">
      <p:cViewPr varScale="1">
        <p:scale>
          <a:sx n="89" d="100"/>
          <a:sy n="89" d="100"/>
        </p:scale>
        <p:origin x="1043" y="87"/>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69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DEBD1-2A31-CD48-AEF6-F7D6115C2ADE}" type="datetimeFigureOut">
              <a:rPr lang="es-ES_tradnl" smtClean="0"/>
              <a:t>24/03/2026</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8C247B-BF22-8347-871C-504C859AB74A}" type="slidenum">
              <a:rPr lang="es-ES_tradnl" smtClean="0"/>
              <a:t>‹Nº›</a:t>
            </a:fld>
            <a:endParaRPr lang="es-ES_tradnl"/>
          </a:p>
        </p:txBody>
      </p:sp>
    </p:spTree>
    <p:extLst>
      <p:ext uri="{BB962C8B-B14F-4D97-AF65-F5344CB8AC3E}">
        <p14:creationId xmlns:p14="http://schemas.microsoft.com/office/powerpoint/2010/main" val="48799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1</a:t>
            </a:fld>
            <a:endParaRPr lang="es-ES_tradnl"/>
          </a:p>
        </p:txBody>
      </p:sp>
    </p:spTree>
    <p:extLst>
      <p:ext uri="{BB962C8B-B14F-4D97-AF65-F5344CB8AC3E}">
        <p14:creationId xmlns:p14="http://schemas.microsoft.com/office/powerpoint/2010/main" val="1756536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2</a:t>
            </a:fld>
            <a:endParaRPr lang="es-ES_tradnl"/>
          </a:p>
        </p:txBody>
      </p:sp>
    </p:spTree>
    <p:extLst>
      <p:ext uri="{BB962C8B-B14F-4D97-AF65-F5344CB8AC3E}">
        <p14:creationId xmlns:p14="http://schemas.microsoft.com/office/powerpoint/2010/main" val="248077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61823-C5D7-CBA6-1444-396D84EFE6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7DE8E4-D965-186C-461A-51921ECAEE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8FFDF3-71B6-C7B5-4F42-467DD97DA7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68327DAA-D6E1-AB12-E0A2-E0DBA9B0890B}"/>
              </a:ext>
            </a:extLst>
          </p:cNvPr>
          <p:cNvSpPr>
            <a:spLocks noGrp="1"/>
          </p:cNvSpPr>
          <p:nvPr>
            <p:ph type="sldNum" sz="quarter" idx="10"/>
          </p:nvPr>
        </p:nvSpPr>
        <p:spPr/>
        <p:txBody>
          <a:bodyPr/>
          <a:lstStyle/>
          <a:p>
            <a:fld id="{A05B3F6B-FD3D-4789-A80B-DDBE7372AE8C}" type="slidenum">
              <a:rPr lang="es-CL" smtClean="0"/>
              <a:t>3</a:t>
            </a:fld>
            <a:endParaRPr lang="es-CL"/>
          </a:p>
        </p:txBody>
      </p:sp>
    </p:spTree>
    <p:extLst>
      <p:ext uri="{BB962C8B-B14F-4D97-AF65-F5344CB8AC3E}">
        <p14:creationId xmlns:p14="http://schemas.microsoft.com/office/powerpoint/2010/main" val="4220971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CFD03-D377-6088-6F64-3144E479F59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2E0FDA-E71C-E22C-5F35-CFCCB6BB29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9C468B-64C2-476D-16F1-0A85462795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518FACFD-0AFC-9E1B-2892-43F0DC5C6D80}"/>
              </a:ext>
            </a:extLst>
          </p:cNvPr>
          <p:cNvSpPr>
            <a:spLocks noGrp="1"/>
          </p:cNvSpPr>
          <p:nvPr>
            <p:ph type="sldNum" sz="quarter" idx="10"/>
          </p:nvPr>
        </p:nvSpPr>
        <p:spPr/>
        <p:txBody>
          <a:bodyPr/>
          <a:lstStyle/>
          <a:p>
            <a:fld id="{A05B3F6B-FD3D-4789-A80B-DDBE7372AE8C}" type="slidenum">
              <a:rPr lang="es-CL" smtClean="0"/>
              <a:t>4</a:t>
            </a:fld>
            <a:endParaRPr lang="es-CL"/>
          </a:p>
        </p:txBody>
      </p:sp>
    </p:spTree>
    <p:extLst>
      <p:ext uri="{BB962C8B-B14F-4D97-AF65-F5344CB8AC3E}">
        <p14:creationId xmlns:p14="http://schemas.microsoft.com/office/powerpoint/2010/main" val="2283795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p:cNvSpPr>
            <a:spLocks noGrp="1"/>
          </p:cNvSpPr>
          <p:nvPr>
            <p:ph type="sldNum" sz="quarter" idx="10"/>
          </p:nvPr>
        </p:nvSpPr>
        <p:spPr/>
        <p:txBody>
          <a:bodyPr/>
          <a:lstStyle/>
          <a:p>
            <a:fld id="{A05B3F6B-FD3D-4789-A80B-DDBE7372AE8C}" type="slidenum">
              <a:rPr lang="es-CL" smtClean="0"/>
              <a:t>5</a:t>
            </a:fld>
            <a:endParaRPr lang="es-CL"/>
          </a:p>
        </p:txBody>
      </p:sp>
    </p:spTree>
    <p:extLst>
      <p:ext uri="{BB962C8B-B14F-4D97-AF65-F5344CB8AC3E}">
        <p14:creationId xmlns:p14="http://schemas.microsoft.com/office/powerpoint/2010/main" val="3781419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EC455-A42E-4128-73B3-D95E87B3AD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215F32-D3BB-58A7-0232-7D9FF2C869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3F483A-5FE1-6ECF-D994-2741B00BDC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803F33E3-C7B9-71CB-82C4-228356641212}"/>
              </a:ext>
            </a:extLst>
          </p:cNvPr>
          <p:cNvSpPr>
            <a:spLocks noGrp="1"/>
          </p:cNvSpPr>
          <p:nvPr>
            <p:ph type="sldNum" sz="quarter" idx="10"/>
          </p:nvPr>
        </p:nvSpPr>
        <p:spPr/>
        <p:txBody>
          <a:bodyPr/>
          <a:lstStyle/>
          <a:p>
            <a:fld id="{A05B3F6B-FD3D-4789-A80B-DDBE7372AE8C}" type="slidenum">
              <a:rPr lang="es-CL" smtClean="0"/>
              <a:t>6</a:t>
            </a:fld>
            <a:endParaRPr lang="es-CL"/>
          </a:p>
        </p:txBody>
      </p:sp>
    </p:spTree>
    <p:extLst>
      <p:ext uri="{BB962C8B-B14F-4D97-AF65-F5344CB8AC3E}">
        <p14:creationId xmlns:p14="http://schemas.microsoft.com/office/powerpoint/2010/main" val="3097145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9BCDF-8F46-F5E2-D0A2-5017D2EB96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022BDE-332C-BB07-21C9-C272314512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4BA079-3377-40AB-2B68-9532400293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6964196C-C0F9-1F0D-5114-650AB85A100D}"/>
              </a:ext>
            </a:extLst>
          </p:cNvPr>
          <p:cNvSpPr>
            <a:spLocks noGrp="1"/>
          </p:cNvSpPr>
          <p:nvPr>
            <p:ph type="sldNum" sz="quarter" idx="10"/>
          </p:nvPr>
        </p:nvSpPr>
        <p:spPr/>
        <p:txBody>
          <a:bodyPr/>
          <a:lstStyle/>
          <a:p>
            <a:fld id="{A05B3F6B-FD3D-4789-A80B-DDBE7372AE8C}" type="slidenum">
              <a:rPr lang="es-CL" smtClean="0"/>
              <a:t>7</a:t>
            </a:fld>
            <a:endParaRPr lang="es-CL"/>
          </a:p>
        </p:txBody>
      </p:sp>
    </p:spTree>
    <p:extLst>
      <p:ext uri="{BB962C8B-B14F-4D97-AF65-F5344CB8AC3E}">
        <p14:creationId xmlns:p14="http://schemas.microsoft.com/office/powerpoint/2010/main" val="1694863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CC87B-20E0-E550-A81D-AFAB93B211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09F2DC-47C9-00E8-DBF2-17D89F003A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18DE9A-8957-636C-3E90-1B6BAF874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4549D02-69C3-3EDE-ECAD-A9EB73D41E8D}"/>
              </a:ext>
            </a:extLst>
          </p:cNvPr>
          <p:cNvSpPr>
            <a:spLocks noGrp="1"/>
          </p:cNvSpPr>
          <p:nvPr>
            <p:ph type="sldNum" sz="quarter" idx="10"/>
          </p:nvPr>
        </p:nvSpPr>
        <p:spPr/>
        <p:txBody>
          <a:bodyPr/>
          <a:lstStyle/>
          <a:p>
            <a:fld id="{A05B3F6B-FD3D-4789-A80B-DDBE7372AE8C}" type="slidenum">
              <a:rPr lang="es-CL" smtClean="0"/>
              <a:t>8</a:t>
            </a:fld>
            <a:endParaRPr lang="es-CL"/>
          </a:p>
        </p:txBody>
      </p:sp>
    </p:spTree>
    <p:extLst>
      <p:ext uri="{BB962C8B-B14F-4D97-AF65-F5344CB8AC3E}">
        <p14:creationId xmlns:p14="http://schemas.microsoft.com/office/powerpoint/2010/main" val="2752514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D337A-51AC-A039-ACCB-E4D5BA5CF3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50C0AB-37DB-6EF7-DF62-2118503ACC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01E27B9-225C-568E-9536-2435ED8FD5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C2F6F83-F5A2-604B-8D81-350D141F9D96}"/>
              </a:ext>
            </a:extLst>
          </p:cNvPr>
          <p:cNvSpPr>
            <a:spLocks noGrp="1"/>
          </p:cNvSpPr>
          <p:nvPr>
            <p:ph type="sldNum" sz="quarter" idx="10"/>
          </p:nvPr>
        </p:nvSpPr>
        <p:spPr/>
        <p:txBody>
          <a:bodyPr/>
          <a:lstStyle/>
          <a:p>
            <a:fld id="{A05B3F6B-FD3D-4789-A80B-DDBE7372AE8C}" type="slidenum">
              <a:rPr lang="es-CL" smtClean="0"/>
              <a:t>9</a:t>
            </a:fld>
            <a:endParaRPr lang="es-CL"/>
          </a:p>
        </p:txBody>
      </p:sp>
    </p:spTree>
    <p:extLst>
      <p:ext uri="{BB962C8B-B14F-4D97-AF65-F5344CB8AC3E}">
        <p14:creationId xmlns:p14="http://schemas.microsoft.com/office/powerpoint/2010/main" val="2257313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5FB6-8893-B97E-9CD5-C0E33B1960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E405D6-BBD5-E3B2-493B-E65E92DDAA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8A6C70-7C31-8108-1F30-AFA45450A4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050C84CF-CD90-399C-268E-D4E2B5001638}"/>
              </a:ext>
            </a:extLst>
          </p:cNvPr>
          <p:cNvSpPr>
            <a:spLocks noGrp="1"/>
          </p:cNvSpPr>
          <p:nvPr>
            <p:ph type="sldNum" sz="quarter" idx="10"/>
          </p:nvPr>
        </p:nvSpPr>
        <p:spPr/>
        <p:txBody>
          <a:bodyPr/>
          <a:lstStyle/>
          <a:p>
            <a:fld id="{A05B3F6B-FD3D-4789-A80B-DDBE7372AE8C}" type="slidenum">
              <a:rPr lang="es-CL" smtClean="0"/>
              <a:t>10</a:t>
            </a:fld>
            <a:endParaRPr lang="es-CL"/>
          </a:p>
        </p:txBody>
      </p:sp>
    </p:spTree>
    <p:extLst>
      <p:ext uri="{BB962C8B-B14F-4D97-AF65-F5344CB8AC3E}">
        <p14:creationId xmlns:p14="http://schemas.microsoft.com/office/powerpoint/2010/main" val="2787222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81363-F4B9-A07A-750A-421C91C8BD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54FD3E-7087-E51C-EDFB-48F9B2EDC71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E8EA8B-8029-0744-8076-3F7D4C4A1A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4D203EBA-D3B5-A939-9CA2-DDD8D11A0FF3}"/>
              </a:ext>
            </a:extLst>
          </p:cNvPr>
          <p:cNvSpPr>
            <a:spLocks noGrp="1"/>
          </p:cNvSpPr>
          <p:nvPr>
            <p:ph type="sldNum" sz="quarter" idx="10"/>
          </p:nvPr>
        </p:nvSpPr>
        <p:spPr/>
        <p:txBody>
          <a:bodyPr/>
          <a:lstStyle/>
          <a:p>
            <a:fld id="{A05B3F6B-FD3D-4789-A80B-DDBE7372AE8C}" type="slidenum">
              <a:rPr lang="es-CL" smtClean="0"/>
              <a:t>11</a:t>
            </a:fld>
            <a:endParaRPr lang="es-CL"/>
          </a:p>
        </p:txBody>
      </p:sp>
    </p:spTree>
    <p:extLst>
      <p:ext uri="{BB962C8B-B14F-4D97-AF65-F5344CB8AC3E}">
        <p14:creationId xmlns:p14="http://schemas.microsoft.com/office/powerpoint/2010/main" val="1859682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3CBFA-3613-2D7C-419D-21B694B972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277F5B-BD0F-4590-91EF-D8CFA8DE60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FD27F80-5CF4-1464-643C-DE939DD952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01FA8F4-1112-E966-84F0-EAF94E429F99}"/>
              </a:ext>
            </a:extLst>
          </p:cNvPr>
          <p:cNvSpPr>
            <a:spLocks noGrp="1"/>
          </p:cNvSpPr>
          <p:nvPr>
            <p:ph type="sldNum" sz="quarter" idx="10"/>
          </p:nvPr>
        </p:nvSpPr>
        <p:spPr/>
        <p:txBody>
          <a:bodyPr/>
          <a:lstStyle/>
          <a:p>
            <a:fld id="{A05B3F6B-FD3D-4789-A80B-DDBE7372AE8C}" type="slidenum">
              <a:rPr lang="es-CL" smtClean="0"/>
              <a:t>12</a:t>
            </a:fld>
            <a:endParaRPr lang="es-CL"/>
          </a:p>
        </p:txBody>
      </p:sp>
    </p:spTree>
    <p:extLst>
      <p:ext uri="{BB962C8B-B14F-4D97-AF65-F5344CB8AC3E}">
        <p14:creationId xmlns:p14="http://schemas.microsoft.com/office/powerpoint/2010/main" val="2114177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89736-A3EA-233A-AA77-771FBBEF7BF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770B47-1BD8-042B-F331-FC045BB9E2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41ADE3-9C2E-6596-0D7A-B57887FC22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B9AD8B6-FD14-4AC7-5AA2-7C8625658298}"/>
              </a:ext>
            </a:extLst>
          </p:cNvPr>
          <p:cNvSpPr>
            <a:spLocks noGrp="1"/>
          </p:cNvSpPr>
          <p:nvPr>
            <p:ph type="sldNum" sz="quarter" idx="10"/>
          </p:nvPr>
        </p:nvSpPr>
        <p:spPr/>
        <p:txBody>
          <a:bodyPr/>
          <a:lstStyle/>
          <a:p>
            <a:fld id="{A05B3F6B-FD3D-4789-A80B-DDBE7372AE8C}" type="slidenum">
              <a:rPr lang="es-CL" smtClean="0"/>
              <a:t>13</a:t>
            </a:fld>
            <a:endParaRPr lang="es-CL"/>
          </a:p>
        </p:txBody>
      </p:sp>
    </p:spTree>
    <p:extLst>
      <p:ext uri="{BB962C8B-B14F-4D97-AF65-F5344CB8AC3E}">
        <p14:creationId xmlns:p14="http://schemas.microsoft.com/office/powerpoint/2010/main" val="1012024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7FFA-B9AF-6E8F-8D0A-499FCDA090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B7E701-6088-1D78-B736-B6FC09FB2F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9A83F0-EE3E-E4D4-DA36-D90DFA3065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F9FA362E-F1FD-6279-C2CE-AAC4FC5BC57B}"/>
              </a:ext>
            </a:extLst>
          </p:cNvPr>
          <p:cNvSpPr>
            <a:spLocks noGrp="1"/>
          </p:cNvSpPr>
          <p:nvPr>
            <p:ph type="sldNum" sz="quarter" idx="10"/>
          </p:nvPr>
        </p:nvSpPr>
        <p:spPr/>
        <p:txBody>
          <a:bodyPr/>
          <a:lstStyle/>
          <a:p>
            <a:fld id="{A05B3F6B-FD3D-4789-A80B-DDBE7372AE8C}" type="slidenum">
              <a:rPr lang="es-CL" smtClean="0"/>
              <a:t>14</a:t>
            </a:fld>
            <a:endParaRPr lang="es-CL"/>
          </a:p>
        </p:txBody>
      </p:sp>
    </p:spTree>
    <p:extLst>
      <p:ext uri="{BB962C8B-B14F-4D97-AF65-F5344CB8AC3E}">
        <p14:creationId xmlns:p14="http://schemas.microsoft.com/office/powerpoint/2010/main" val="2017996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13EBB-BD67-5D6D-9F59-2152FA0AD0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733170-F9D8-C83A-B734-A993EBE4AF0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0F3E2FA-2560-8CB1-7866-F821C0C24C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7137685D-30FE-C50D-07FB-919892DF7906}"/>
              </a:ext>
            </a:extLst>
          </p:cNvPr>
          <p:cNvSpPr>
            <a:spLocks noGrp="1"/>
          </p:cNvSpPr>
          <p:nvPr>
            <p:ph type="sldNum" sz="quarter" idx="10"/>
          </p:nvPr>
        </p:nvSpPr>
        <p:spPr/>
        <p:txBody>
          <a:bodyPr/>
          <a:lstStyle/>
          <a:p>
            <a:fld id="{A05B3F6B-FD3D-4789-A80B-DDBE7372AE8C}" type="slidenum">
              <a:rPr lang="es-CL" smtClean="0"/>
              <a:t>15</a:t>
            </a:fld>
            <a:endParaRPr lang="es-CL"/>
          </a:p>
        </p:txBody>
      </p:sp>
    </p:spTree>
    <p:extLst>
      <p:ext uri="{BB962C8B-B14F-4D97-AF65-F5344CB8AC3E}">
        <p14:creationId xmlns:p14="http://schemas.microsoft.com/office/powerpoint/2010/main" val="620238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_tradnl"/>
              <a:t> </a:t>
            </a:r>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16</a:t>
            </a:fld>
            <a:endParaRPr lang="es-ES_tradnl"/>
          </a:p>
        </p:txBody>
      </p:sp>
    </p:spTree>
    <p:extLst>
      <p:ext uri="{BB962C8B-B14F-4D97-AF65-F5344CB8AC3E}">
        <p14:creationId xmlns:p14="http://schemas.microsoft.com/office/powerpoint/2010/main" val="1646625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2FD61C-0A90-4B9A-A315-3352DD7666C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BDDF5D3-A263-4863-96AA-6D12D8E5C3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BAF12CE5-C309-4B2D-BD10-0B7E82ABCAB4}"/>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5" name="Marcador de pie de página 4">
            <a:extLst>
              <a:ext uri="{FF2B5EF4-FFF2-40B4-BE49-F238E27FC236}">
                <a16:creationId xmlns:a16="http://schemas.microsoft.com/office/drawing/2014/main" id="{D4B1AD1E-A33A-461A-BED1-AAFF577C582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A513482-8FCA-43F3-ACFF-A812379D4B4F}"/>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396148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6DE8B-6551-4B7F-B63E-815A6341CE7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2A0A3D7-77B3-46D3-AE54-4F9D6BEA823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B4F2BFCD-DDD8-4F96-82E2-713C08732049}"/>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5" name="Marcador de pie de página 4">
            <a:extLst>
              <a:ext uri="{FF2B5EF4-FFF2-40B4-BE49-F238E27FC236}">
                <a16:creationId xmlns:a16="http://schemas.microsoft.com/office/drawing/2014/main" id="{0B40AEEB-1DA1-4197-96DA-AD62BE8B06F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89690DF-3D9A-4C6A-AD36-5A24BB909504}"/>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97704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94D864-4966-49DA-B249-8501969ABF5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C3EA68D-43FF-4618-AB62-E544AE9DD5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9B8C3B9-76FF-4222-99FB-9217B8D65DBD}"/>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5" name="Marcador de pie de página 4">
            <a:extLst>
              <a:ext uri="{FF2B5EF4-FFF2-40B4-BE49-F238E27FC236}">
                <a16:creationId xmlns:a16="http://schemas.microsoft.com/office/drawing/2014/main" id="{2FBA531C-D6D2-49A3-91F5-6D96EA9ACAB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2AA51F6-8B98-4630-BB14-C36D0F5553FF}"/>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191201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A0161-C576-4CEA-B1E9-8FA2852358E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C19F4BF3-C1AF-4910-9597-5A55AC43906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D748A99F-4AD1-4C69-9A10-919EB711C7C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E9EB02A-C1AC-418C-A930-C585FF05E954}"/>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6" name="Marcador de pie de página 5">
            <a:extLst>
              <a:ext uri="{FF2B5EF4-FFF2-40B4-BE49-F238E27FC236}">
                <a16:creationId xmlns:a16="http://schemas.microsoft.com/office/drawing/2014/main" id="{9E74E7B3-D0B5-433B-857E-25A13C04E51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54B8614-7433-45BC-8EC8-56E68443BD1B}"/>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520775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A9C18-7D1B-4166-9AEE-545CA1761A8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57F95075-0256-468A-AD8F-A1F61BD082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BB9E5E0-11B2-4B05-8789-85B0EE1FEE4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6E901DD3-B34A-4DD8-97CA-E2987EF30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47AAD9E-A074-42CF-9F72-8E1E7DFC5D6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BFD3C18F-D681-4F6D-BE42-609E883924F7}"/>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8" name="Marcador de pie de página 7">
            <a:extLst>
              <a:ext uri="{FF2B5EF4-FFF2-40B4-BE49-F238E27FC236}">
                <a16:creationId xmlns:a16="http://schemas.microsoft.com/office/drawing/2014/main" id="{F3EC7256-E19E-4965-8F6B-EFBABFABABB1}"/>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674FF0C1-9153-4A2B-8E4F-F4152A4F91EE}"/>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74614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039F0E-B6B3-413D-B8D5-3EBC57D1426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42873099-B246-4157-B167-31A34CBF0258}"/>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4" name="Marcador de pie de página 3">
            <a:extLst>
              <a:ext uri="{FF2B5EF4-FFF2-40B4-BE49-F238E27FC236}">
                <a16:creationId xmlns:a16="http://schemas.microsoft.com/office/drawing/2014/main" id="{269BD8DC-CF8D-421C-B582-E2834B32990C}"/>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5E83B244-BE08-415F-A652-086EC5A82E76}"/>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7503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E583E29-A1E4-4FC8-B85D-6BE7C231A952}"/>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3" name="Marcador de pie de página 2">
            <a:extLst>
              <a:ext uri="{FF2B5EF4-FFF2-40B4-BE49-F238E27FC236}">
                <a16:creationId xmlns:a16="http://schemas.microsoft.com/office/drawing/2014/main" id="{046CF79B-BA17-4D6D-BA75-5945303F7402}"/>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7890813B-FF99-42BE-A591-72FF1181350A}"/>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349257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F088D-2BE3-4F1B-987C-8B905E083C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B5BA28C-FB6A-486F-B219-12DC33399E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693A24BF-DD2F-442E-BB2E-79EB05656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195DAA-3224-49BF-B596-C1113FBBE3B4}"/>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6" name="Marcador de pie de página 5">
            <a:extLst>
              <a:ext uri="{FF2B5EF4-FFF2-40B4-BE49-F238E27FC236}">
                <a16:creationId xmlns:a16="http://schemas.microsoft.com/office/drawing/2014/main" id="{A5C48EA5-0BD0-4552-BA61-0390B0F05A8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3B22A88C-7103-4730-8BB6-AF641F0D0951}"/>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1994258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E449A-69B1-4F86-96DA-B146C800A56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3C1A6C1D-C402-4DEF-8993-5ADD947C4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F53F710F-DB16-4B8C-AD3D-F16A5E7BE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9293B3C-6CA9-4BD6-91F2-9DBFEA7394CC}"/>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6" name="Marcador de pie de página 5">
            <a:extLst>
              <a:ext uri="{FF2B5EF4-FFF2-40B4-BE49-F238E27FC236}">
                <a16:creationId xmlns:a16="http://schemas.microsoft.com/office/drawing/2014/main" id="{5C81912F-C394-4F33-9CE7-44AD534CC71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8308917-DFFC-4144-833E-8D05F22B8A86}"/>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388362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03DF0-44BB-459D-A838-EF8CDA8790D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CB7B1C5A-66F0-408C-BC62-0DA1AFF38AC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55D2308-48DE-4E9C-9E15-BEFCC70A9E79}"/>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5" name="Marcador de pie de página 4">
            <a:extLst>
              <a:ext uri="{FF2B5EF4-FFF2-40B4-BE49-F238E27FC236}">
                <a16:creationId xmlns:a16="http://schemas.microsoft.com/office/drawing/2014/main" id="{5930F8CE-545A-4BD0-895C-230FB50BFF6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4A02F44-FB0E-4A1A-80B4-D8CEC3A238EE}"/>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4067412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780EC09-2B9E-40D2-93FB-147D12F01C4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F58EEA2-F90F-4403-88FA-A9DF1626D5F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11CCB10-1A32-4DA2-B6B5-FCD7DDDC91F0}"/>
              </a:ext>
            </a:extLst>
          </p:cNvPr>
          <p:cNvSpPr>
            <a:spLocks noGrp="1"/>
          </p:cNvSpPr>
          <p:nvPr>
            <p:ph type="dt" sz="half" idx="10"/>
          </p:nvPr>
        </p:nvSpPr>
        <p:spPr/>
        <p:txBody>
          <a:bodyPr/>
          <a:lstStyle/>
          <a:p>
            <a:fld id="{8879C6B0-6393-4131-9540-C068361BDDD0}" type="datetimeFigureOut">
              <a:rPr lang="es-CL" smtClean="0"/>
              <a:t>24-03-2026</a:t>
            </a:fld>
            <a:endParaRPr lang="es-CL"/>
          </a:p>
        </p:txBody>
      </p:sp>
      <p:sp>
        <p:nvSpPr>
          <p:cNvPr id="5" name="Marcador de pie de página 4">
            <a:extLst>
              <a:ext uri="{FF2B5EF4-FFF2-40B4-BE49-F238E27FC236}">
                <a16:creationId xmlns:a16="http://schemas.microsoft.com/office/drawing/2014/main" id="{E864AA77-03F2-4456-AA16-C71D986CF10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10BDE9E-A2E7-4823-88CC-A641B66DB4B7}"/>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4062566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7118581" cy="1143000"/>
          </a:xfrm>
        </p:spPr>
        <p:txBody>
          <a:bodyPr/>
          <a:lstStyle/>
          <a:p>
            <a:r>
              <a:rPr lang="es-ES_tradnl"/>
              <a:t>Clic para editar título</a:t>
            </a:r>
            <a:endParaRPr lang="es-ES"/>
          </a:p>
        </p:txBody>
      </p:sp>
      <p:sp>
        <p:nvSpPr>
          <p:cNvPr id="4" name="Marcador de fecha 3"/>
          <p:cNvSpPr>
            <a:spLocks noGrp="1"/>
          </p:cNvSpPr>
          <p:nvPr>
            <p:ph type="dt" sz="half" idx="10"/>
          </p:nvPr>
        </p:nvSpPr>
        <p:spPr/>
        <p:txBody>
          <a:bodyPr/>
          <a:lstStyle/>
          <a:p>
            <a:pPr defTabSz="457200">
              <a:defRPr/>
            </a:pPr>
            <a:fld id="{AC604C90-5466-0B48-96CB-E2890ED738F2}" type="datetimeFigureOut">
              <a:rPr lang="es-ES" smtClean="0">
                <a:solidFill>
                  <a:prstClr val="black">
                    <a:tint val="75000"/>
                  </a:prstClr>
                </a:solidFill>
              </a:rPr>
              <a:pPr defTabSz="457200">
                <a:defRPr/>
              </a:pPr>
              <a:t>24/03/2026</a:t>
            </a:fld>
            <a:endParaRPr lang="es-ES">
              <a:solidFill>
                <a:prstClr val="black">
                  <a:tint val="75000"/>
                </a:prstClr>
              </a:solidFill>
            </a:endParaRPr>
          </a:p>
        </p:txBody>
      </p:sp>
      <p:sp>
        <p:nvSpPr>
          <p:cNvPr id="5" name="Marcador de pie de página 4"/>
          <p:cNvSpPr>
            <a:spLocks noGrp="1"/>
          </p:cNvSpPr>
          <p:nvPr>
            <p:ph type="ftr" sz="quarter" idx="11"/>
          </p:nvPr>
        </p:nvSpPr>
        <p:spPr/>
        <p:txBody>
          <a:bodyPr/>
          <a:lstStyle/>
          <a:p>
            <a:pPr defTabSz="457200">
              <a:defRPr/>
            </a:pPr>
            <a:endParaRPr lang="es-ES">
              <a:solidFill>
                <a:prstClr val="black">
                  <a:tint val="75000"/>
                </a:prstClr>
              </a:solidFill>
            </a:endParaRPr>
          </a:p>
        </p:txBody>
      </p:sp>
      <p:sp>
        <p:nvSpPr>
          <p:cNvPr id="6" name="Marcador de número de diapositiva 5"/>
          <p:cNvSpPr>
            <a:spLocks noGrp="1"/>
          </p:cNvSpPr>
          <p:nvPr>
            <p:ph type="sldNum" sz="quarter" idx="12"/>
          </p:nvPr>
        </p:nvSpPr>
        <p:spPr/>
        <p:txBody>
          <a:bodyPr/>
          <a:lstStyle/>
          <a:p>
            <a:pPr defTabSz="457200">
              <a:defRPr/>
            </a:pPr>
            <a:fld id="{9DC25825-B1DE-1B44-BAFE-9EA3DBC1CEEA}" type="slidenum">
              <a:rPr lang="es-ES" smtClean="0">
                <a:solidFill>
                  <a:prstClr val="black">
                    <a:tint val="75000"/>
                  </a:prstClr>
                </a:solidFill>
              </a:rPr>
              <a:pPr defTabSz="457200">
                <a:defRPr/>
              </a:pPr>
              <a:t>‹Nº›</a:t>
            </a:fld>
            <a:endParaRPr lang="es-ES">
              <a:solidFill>
                <a:prstClr val="black">
                  <a:tint val="75000"/>
                </a:prstClr>
              </a:solidFill>
            </a:endParaRPr>
          </a:p>
        </p:txBody>
      </p:sp>
      <p:sp>
        <p:nvSpPr>
          <p:cNvPr id="7" name="Marcador de contenido 2"/>
          <p:cNvSpPr>
            <a:spLocks noGrp="1"/>
          </p:cNvSpPr>
          <p:nvPr>
            <p:ph idx="13"/>
          </p:nvPr>
        </p:nvSpPr>
        <p:spPr>
          <a:xfrm>
            <a:off x="609600" y="1600201"/>
            <a:ext cx="10972800" cy="4525963"/>
          </a:xfrm>
        </p:spPr>
        <p:txBody>
          <a:bodyPr>
            <a:normAutofit/>
          </a:bodyPr>
          <a:lstStyle>
            <a:lvl1pPr>
              <a:buClr>
                <a:srgbClr val="C00000"/>
              </a:buClr>
              <a:defRPr sz="2800"/>
            </a:lvl1pPr>
            <a:lvl2pPr>
              <a:buClr>
                <a:srgbClr val="C00000"/>
              </a:buClr>
              <a:defRPr sz="2400"/>
            </a:lvl2pPr>
            <a:lvl3pPr>
              <a:buClr>
                <a:srgbClr val="C00000"/>
              </a:buClr>
              <a:defRPr sz="2000"/>
            </a:lvl3pPr>
            <a:lvl4pPr>
              <a:buClr>
                <a:srgbClr val="C00000"/>
              </a:buClr>
              <a:defRPr sz="1800"/>
            </a:lvl4pPr>
            <a:lvl5pPr>
              <a:buClr>
                <a:srgbClr val="C00000"/>
              </a:buClr>
              <a:defRPr sz="18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1411065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5409B45-06C2-4FB9-B509-A3427AB240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399B8760-EA6E-4D6E-B268-4352C5049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558343C-E792-4C94-A41E-2EF624E8F8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79C6B0-6393-4131-9540-C068361BDDD0}" type="datetimeFigureOut">
              <a:rPr lang="es-CL" smtClean="0"/>
              <a:t>24-03-2026</a:t>
            </a:fld>
            <a:endParaRPr lang="es-CL"/>
          </a:p>
        </p:txBody>
      </p:sp>
      <p:sp>
        <p:nvSpPr>
          <p:cNvPr id="5" name="Marcador de pie de página 4">
            <a:extLst>
              <a:ext uri="{FF2B5EF4-FFF2-40B4-BE49-F238E27FC236}">
                <a16:creationId xmlns:a16="http://schemas.microsoft.com/office/drawing/2014/main" id="{14EAAD5A-6B54-414C-9F0A-B594F6AC7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D1633233-6333-443C-BD19-C54F679A2C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3AD1CF-B5AB-4551-A2BB-1D29A214764D}" type="slidenum">
              <a:rPr lang="es-CL" smtClean="0"/>
              <a:t>‹Nº›</a:t>
            </a:fld>
            <a:endParaRPr lang="es-CL"/>
          </a:p>
        </p:txBody>
      </p:sp>
    </p:spTree>
    <p:extLst>
      <p:ext uri="{BB962C8B-B14F-4D97-AF65-F5344CB8AC3E}">
        <p14:creationId xmlns:p14="http://schemas.microsoft.com/office/powerpoint/2010/main" val="3132743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41E8D970-9CF6-25DC-7BFE-B2A2EE5EB84E}"/>
              </a:ext>
            </a:extLst>
          </p:cNvPr>
          <p:cNvGrpSpPr/>
          <p:nvPr/>
        </p:nvGrpSpPr>
        <p:grpSpPr>
          <a:xfrm>
            <a:off x="0" y="-16914"/>
            <a:ext cx="12192001" cy="6874914"/>
            <a:chOff x="0" y="-16914"/>
            <a:chExt cx="12192001" cy="6874914"/>
          </a:xfrm>
        </p:grpSpPr>
        <p:pic>
          <p:nvPicPr>
            <p:cNvPr id="13" name="Imagen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183" y="2826327"/>
              <a:ext cx="10875818" cy="2227783"/>
            </a:xfrm>
            <a:prstGeom prst="rect">
              <a:avLst/>
            </a:prstGeom>
          </p:spPr>
        </p:pic>
        <p:sp>
          <p:nvSpPr>
            <p:cNvPr id="10" name="Rectangle 18">
              <a:extLst>
                <a:ext uri="{FF2B5EF4-FFF2-40B4-BE49-F238E27FC236}">
                  <a16:creationId xmlns:a16="http://schemas.microsoft.com/office/drawing/2014/main" id="{996DAE91-E53D-4FFB-8098-8AFE46881F1D}"/>
                </a:ext>
              </a:extLst>
            </p:cNvPr>
            <p:cNvSpPr/>
            <p:nvPr/>
          </p:nvSpPr>
          <p:spPr>
            <a:xfrm flipV="1">
              <a:off x="1" y="-16914"/>
              <a:ext cx="12192000" cy="354751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2" name="Imagen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7901" y="5803165"/>
              <a:ext cx="2745501" cy="940998"/>
            </a:xfrm>
            <a:prstGeom prst="rect">
              <a:avLst/>
            </a:prstGeom>
          </p:spPr>
        </p:pic>
        <p:pic>
          <p:nvPicPr>
            <p:cNvPr id="5" name="Imagen 4"/>
            <p:cNvPicPr>
              <a:picLocks noChangeAspect="1"/>
            </p:cNvPicPr>
            <p:nvPr/>
          </p:nvPicPr>
          <p:blipFill>
            <a:blip r:embed="rId5">
              <a:alphaModFix amt="6000"/>
              <a:extLst>
                <a:ext uri="{28A0092B-C50C-407E-A947-70E740481C1C}">
                  <a14:useLocalDpi xmlns:a14="http://schemas.microsoft.com/office/drawing/2010/main" val="0"/>
                </a:ext>
              </a:extLst>
            </a:blip>
            <a:stretch>
              <a:fillRect/>
            </a:stretch>
          </p:blipFill>
          <p:spPr>
            <a:xfrm>
              <a:off x="1" y="373477"/>
              <a:ext cx="12192000" cy="3312629"/>
            </a:xfrm>
            <a:prstGeom prst="rect">
              <a:avLst/>
            </a:prstGeom>
          </p:spPr>
        </p:pic>
        <p:pic>
          <p:nvPicPr>
            <p:cNvPr id="9" name="Imagen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530600"/>
              <a:ext cx="3393948" cy="3327400"/>
            </a:xfrm>
            <a:prstGeom prst="rect">
              <a:avLst/>
            </a:prstGeom>
          </p:spPr>
        </p:pic>
        <p:pic>
          <p:nvPicPr>
            <p:cNvPr id="11" name="Imagen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255" y="1073299"/>
              <a:ext cx="2672079" cy="933791"/>
            </a:xfrm>
            <a:prstGeom prst="rect">
              <a:avLst/>
            </a:prstGeom>
          </p:spPr>
        </p:pic>
        <p:pic>
          <p:nvPicPr>
            <p:cNvPr id="8" name="Imagen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6001" y="1050420"/>
              <a:ext cx="5303520" cy="281940"/>
            </a:xfrm>
            <a:prstGeom prst="rect">
              <a:avLst/>
            </a:prstGeom>
          </p:spPr>
        </p:pic>
        <p:pic>
          <p:nvPicPr>
            <p:cNvPr id="3" name="Imagen 2" descr="Imagen que contiene alimentos&#10;&#10;Descripción generada automáticamente">
              <a:extLst>
                <a:ext uri="{FF2B5EF4-FFF2-40B4-BE49-F238E27FC236}">
                  <a16:creationId xmlns:a16="http://schemas.microsoft.com/office/drawing/2014/main" id="{5B34141F-EC2F-144F-8268-7D4182D95AA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98054" y="5356904"/>
              <a:ext cx="2971800" cy="1079500"/>
            </a:xfrm>
            <a:prstGeom prst="rect">
              <a:avLst/>
            </a:prstGeom>
          </p:spPr>
        </p:pic>
        <p:sp>
          <p:nvSpPr>
            <p:cNvPr id="4" name="CuadroTexto 3">
              <a:extLst>
                <a:ext uri="{FF2B5EF4-FFF2-40B4-BE49-F238E27FC236}">
                  <a16:creationId xmlns:a16="http://schemas.microsoft.com/office/drawing/2014/main" id="{202FC531-FC77-0243-AE81-8F245A6FA785}"/>
                </a:ext>
              </a:extLst>
            </p:cNvPr>
            <p:cNvSpPr txBox="1"/>
            <p:nvPr/>
          </p:nvSpPr>
          <p:spPr>
            <a:xfrm>
              <a:off x="8616096" y="6468320"/>
              <a:ext cx="3498843" cy="369332"/>
            </a:xfrm>
            <a:prstGeom prst="rect">
              <a:avLst/>
            </a:prstGeom>
            <a:noFill/>
          </p:spPr>
          <p:txBody>
            <a:bodyPr wrap="none" rtlCol="0">
              <a:spAutoFit/>
            </a:bodyPr>
            <a:lstStyle/>
            <a:p>
              <a:r>
                <a:rPr lang="es-CL" dirty="0">
                  <a:solidFill>
                    <a:srgbClr val="004C8B"/>
                  </a:solidFill>
                </a:rPr>
                <a:t>INGENIERÍA CIVIL EN INFORMÁTICA</a:t>
              </a:r>
            </a:p>
          </p:txBody>
        </p:sp>
      </p:grpSp>
      <p:sp>
        <p:nvSpPr>
          <p:cNvPr id="6" name="CuadroTexto 5">
            <a:extLst>
              <a:ext uri="{FF2B5EF4-FFF2-40B4-BE49-F238E27FC236}">
                <a16:creationId xmlns:a16="http://schemas.microsoft.com/office/drawing/2014/main" id="{1C2C39FD-2AC4-F200-12F6-8C5DF1474347}"/>
              </a:ext>
            </a:extLst>
          </p:cNvPr>
          <p:cNvSpPr txBox="1"/>
          <p:nvPr/>
        </p:nvSpPr>
        <p:spPr>
          <a:xfrm>
            <a:off x="2632852" y="2284905"/>
            <a:ext cx="7651102"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s-MX" sz="5400" dirty="0">
                <a:solidFill>
                  <a:schemeClr val="bg1">
                    <a:lumMod val="95000"/>
                  </a:schemeClr>
                </a:solidFill>
              </a:rPr>
              <a:t>Ingeniería de Software</a:t>
            </a:r>
            <a:endParaRPr lang="es-CL" sz="5400" dirty="0">
              <a:solidFill>
                <a:schemeClr val="bg1">
                  <a:lumMod val="95000"/>
                </a:schemeClr>
              </a:solidFill>
            </a:endParaRPr>
          </a:p>
        </p:txBody>
      </p:sp>
    </p:spTree>
    <p:extLst>
      <p:ext uri="{BB962C8B-B14F-4D97-AF65-F5344CB8AC3E}">
        <p14:creationId xmlns:p14="http://schemas.microsoft.com/office/powerpoint/2010/main" val="208229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a:extLst>
              <a:ext uri="{FF2B5EF4-FFF2-40B4-BE49-F238E27FC236}">
                <a16:creationId xmlns:a16="http://schemas.microsoft.com/office/drawing/2014/main" id="{8ADFA9A2-1A70-4586-A9E0-3C117E6A0C8C}"/>
              </a:ext>
            </a:extLst>
          </p:cNvPr>
          <p:cNvSpPr txBox="1">
            <a:spLocks noChangeArrowheads="1"/>
          </p:cNvSpPr>
          <p:nvPr/>
        </p:nvSpPr>
        <p:spPr bwMode="auto">
          <a:xfrm>
            <a:off x="3303402" y="5887325"/>
            <a:ext cx="6858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b="1" dirty="0">
                <a:solidFill>
                  <a:schemeClr val="bg1"/>
                </a:solidFill>
                <a:latin typeface="Arial" charset="0"/>
              </a:rPr>
              <a:t>ARICA - CHILE</a:t>
            </a:r>
            <a:endParaRPr lang="en-US" sz="2400" dirty="0">
              <a:solidFill>
                <a:schemeClr val="bg1"/>
              </a:solidFill>
              <a:latin typeface="Eurostile BoldExtendedTwo"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171"/>
            <a:ext cx="12192000" cy="6890172"/>
          </a:xfrm>
          <a:prstGeom prst="rect">
            <a:avLst/>
          </a:prstGeom>
        </p:spPr>
      </p:pic>
      <p:pic>
        <p:nvPicPr>
          <p:cNvPr id="17" name="Imagen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03673" y="1073299"/>
            <a:ext cx="2672079" cy="933791"/>
          </a:xfrm>
          <a:prstGeom prst="rect">
            <a:avLst/>
          </a:prstGeom>
        </p:spPr>
      </p:pic>
      <p:sp>
        <p:nvSpPr>
          <p:cNvPr id="2" name="CuadroTexto 1">
            <a:extLst>
              <a:ext uri="{FF2B5EF4-FFF2-40B4-BE49-F238E27FC236}">
                <a16:creationId xmlns:a16="http://schemas.microsoft.com/office/drawing/2014/main" id="{007C69F4-A719-9282-A5A3-B9E0B388ED8A}"/>
              </a:ext>
            </a:extLst>
          </p:cNvPr>
          <p:cNvSpPr txBox="1"/>
          <p:nvPr/>
        </p:nvSpPr>
        <p:spPr>
          <a:xfrm>
            <a:off x="852544" y="1831834"/>
            <a:ext cx="9116008" cy="3200876"/>
          </a:xfrm>
          <a:prstGeom prst="rect">
            <a:avLst/>
          </a:prstGeom>
          <a:noFill/>
        </p:spPr>
        <p:txBody>
          <a:bodyPr wrap="square" rtlCol="0">
            <a:spAutoFit/>
          </a:bodyPr>
          <a:lstStyle/>
          <a:p>
            <a:pPr marL="742950" lvl="1" indent="-285750">
              <a:buFont typeface="Arial" panose="020B0604020202020204" pitchFamily="34" charset="0"/>
              <a:buChar char="•"/>
            </a:pPr>
            <a:r>
              <a:rPr lang="es-CL" sz="2800" dirty="0">
                <a:solidFill>
                  <a:schemeClr val="bg1"/>
                </a:solidFill>
              </a:rPr>
              <a:t>¿Qué es Agilidad?</a:t>
            </a:r>
          </a:p>
          <a:p>
            <a:pPr marL="742950" lvl="1" indent="-285750">
              <a:buFont typeface="Arial" panose="020B0604020202020204" pitchFamily="34" charset="0"/>
              <a:buChar char="•"/>
            </a:pPr>
            <a:r>
              <a:rPr lang="es-MX" sz="2800" dirty="0">
                <a:solidFill>
                  <a:schemeClr val="bg1"/>
                </a:solidFill>
              </a:rPr>
              <a:t>12 principios de agilidad </a:t>
            </a:r>
            <a:r>
              <a:rPr lang="es-CL" sz="2800" dirty="0">
                <a:solidFill>
                  <a:schemeClr val="bg1"/>
                </a:solidFill>
              </a:rPr>
              <a:t>Software Heredado</a:t>
            </a:r>
          </a:p>
          <a:p>
            <a:pPr marL="742950" lvl="1" indent="-285750">
              <a:buFont typeface="Arial" panose="020B0604020202020204" pitchFamily="34" charset="0"/>
              <a:buChar char="•"/>
            </a:pPr>
            <a:r>
              <a:rPr lang="es-CL" sz="2800" dirty="0">
                <a:solidFill>
                  <a:schemeClr val="bg1"/>
                </a:solidFill>
              </a:rPr>
              <a:t>Características de un equipo ágil</a:t>
            </a:r>
          </a:p>
          <a:p>
            <a:pPr marL="742950" lvl="1" indent="-285750">
              <a:buFont typeface="Arial" panose="020B0604020202020204" pitchFamily="34" charset="0"/>
              <a:buChar char="•"/>
            </a:pPr>
            <a:r>
              <a:rPr lang="es-CL" sz="2800" dirty="0">
                <a:solidFill>
                  <a:schemeClr val="bg1"/>
                </a:solidFill>
              </a:rPr>
              <a:t>Programación Extrema (XP)</a:t>
            </a:r>
            <a:endParaRPr lang="es-MX" dirty="0">
              <a:solidFill>
                <a:schemeClr val="bg1">
                  <a:lumMod val="95000"/>
                </a:schemeClr>
              </a:solidFill>
            </a:endParaRPr>
          </a:p>
          <a:p>
            <a:endParaRPr lang="es-MX" dirty="0"/>
          </a:p>
          <a:p>
            <a:endParaRPr lang="es-MX" dirty="0"/>
          </a:p>
          <a:p>
            <a:endParaRPr lang="es-MX" dirty="0"/>
          </a:p>
          <a:p>
            <a:endParaRPr lang="es-MX" dirty="0"/>
          </a:p>
          <a:p>
            <a:endParaRPr lang="es-CL" dirty="0"/>
          </a:p>
        </p:txBody>
      </p:sp>
      <p:sp>
        <p:nvSpPr>
          <p:cNvPr id="3" name="Título 2">
            <a:extLst>
              <a:ext uri="{FF2B5EF4-FFF2-40B4-BE49-F238E27FC236}">
                <a16:creationId xmlns:a16="http://schemas.microsoft.com/office/drawing/2014/main" id="{F14CD258-5EE0-1498-AC63-F3716870C703}"/>
              </a:ext>
            </a:extLst>
          </p:cNvPr>
          <p:cNvSpPr>
            <a:spLocks noGrp="1"/>
          </p:cNvSpPr>
          <p:nvPr>
            <p:ph type="title"/>
          </p:nvPr>
        </p:nvSpPr>
        <p:spPr/>
        <p:txBody>
          <a:bodyPr>
            <a:normAutofit/>
          </a:bodyPr>
          <a:lstStyle/>
          <a:p>
            <a:r>
              <a:rPr lang="es-MX" sz="4400" dirty="0">
                <a:solidFill>
                  <a:schemeClr val="bg1">
                    <a:lumMod val="95000"/>
                  </a:schemeClr>
                </a:solidFill>
              </a:rPr>
              <a:t>Índice de contenidos</a:t>
            </a:r>
            <a:endParaRPr lang="es-CL" dirty="0"/>
          </a:p>
        </p:txBody>
      </p:sp>
    </p:spTree>
    <p:extLst>
      <p:ext uri="{BB962C8B-B14F-4D97-AF65-F5344CB8AC3E}">
        <p14:creationId xmlns:p14="http://schemas.microsoft.com/office/powerpoint/2010/main" val="1427113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67D19-3507-36BC-1DB2-19B45DEAEA0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A19E8C-FA8D-9819-8053-F985D2001E1F}"/>
              </a:ext>
            </a:extLst>
          </p:cNvPr>
          <p:cNvSpPr>
            <a:spLocks noGrp="1"/>
          </p:cNvSpPr>
          <p:nvPr>
            <p:ph type="title"/>
          </p:nvPr>
        </p:nvSpPr>
        <p:spPr/>
        <p:txBody>
          <a:bodyPr>
            <a:normAutofit fontScale="90000"/>
          </a:bodyPr>
          <a:lstStyle/>
          <a:p>
            <a:pPr algn="l"/>
            <a:r>
              <a:rPr lang="es-CL" dirty="0"/>
              <a:t>¿Qué es Agilidad?</a:t>
            </a:r>
            <a:br>
              <a:rPr lang="es-CL" dirty="0"/>
            </a:br>
            <a:endParaRPr lang="es-CL" dirty="0"/>
          </a:p>
        </p:txBody>
      </p:sp>
      <p:sp>
        <p:nvSpPr>
          <p:cNvPr id="3" name="Marcador de contenido 2">
            <a:extLst>
              <a:ext uri="{FF2B5EF4-FFF2-40B4-BE49-F238E27FC236}">
                <a16:creationId xmlns:a16="http://schemas.microsoft.com/office/drawing/2014/main" id="{A2603022-8A4E-365C-6B9D-E1548D2C759E}"/>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103D585-52F9-F866-DA08-0946B6B7D87E}"/>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88FFF4CB-8E47-B4D0-64C6-3CC6DC98A14E}"/>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0E6FFA83-C2B2-AC88-40CA-915F5FD6149D}"/>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D7BBF0B8-FD87-7C7D-8486-9A6ECB8B19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D973C317-3C06-833D-AEB6-5CF9F51308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DDEED0C4-B115-61FF-83BA-9C7585A99581}"/>
              </a:ext>
            </a:extLst>
          </p:cNvPr>
          <p:cNvSpPr>
            <a:spLocks noGrp="1"/>
          </p:cNvSpPr>
          <p:nvPr>
            <p:ph idx="13"/>
          </p:nvPr>
        </p:nvSpPr>
        <p:spPr>
          <a:xfrm>
            <a:off x="609600" y="1600201"/>
            <a:ext cx="10213910" cy="4893576"/>
          </a:xfrm>
        </p:spPr>
        <p:txBody>
          <a:bodyPr>
            <a:normAutofit/>
          </a:bodyPr>
          <a:lstStyle/>
          <a:p>
            <a:pPr algn="just"/>
            <a:r>
              <a:rPr lang="es-MX" dirty="0"/>
              <a:t>La agilidad en el desarrollo de software se refiere a la capacidad de adaptarse rápidamente a cambios, responder de manera flexible a las necesidades del cliente y entregar valor de forma continua. Se basa en la colaboración, la mejora constante y la entrega incremental de productos funcionales.</a:t>
            </a:r>
            <a:endParaRPr lang="es-CL" sz="2400" i="1" dirty="0"/>
          </a:p>
        </p:txBody>
      </p:sp>
    </p:spTree>
    <p:extLst>
      <p:ext uri="{BB962C8B-B14F-4D97-AF65-F5344CB8AC3E}">
        <p14:creationId xmlns:p14="http://schemas.microsoft.com/office/powerpoint/2010/main" val="4116095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0FC58-77F4-37D3-EE3B-A3639BCCA1B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F34F57-9E1C-E10D-0286-705325116779}"/>
              </a:ext>
            </a:extLst>
          </p:cNvPr>
          <p:cNvSpPr>
            <a:spLocks noGrp="1"/>
          </p:cNvSpPr>
          <p:nvPr>
            <p:ph type="title"/>
          </p:nvPr>
        </p:nvSpPr>
        <p:spPr/>
        <p:txBody>
          <a:bodyPr>
            <a:normAutofit/>
          </a:bodyPr>
          <a:lstStyle/>
          <a:p>
            <a:pPr algn="l"/>
            <a:r>
              <a:rPr lang="es-MX" dirty="0"/>
              <a:t>¿Qué es un Proceso Ágil?</a:t>
            </a:r>
            <a:endParaRPr lang="es-CL" dirty="0"/>
          </a:p>
        </p:txBody>
      </p:sp>
      <p:sp>
        <p:nvSpPr>
          <p:cNvPr id="3" name="Marcador de contenido 2">
            <a:extLst>
              <a:ext uri="{FF2B5EF4-FFF2-40B4-BE49-F238E27FC236}">
                <a16:creationId xmlns:a16="http://schemas.microsoft.com/office/drawing/2014/main" id="{C196C267-909C-77C7-0422-932ABE852E3C}"/>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A868A8D-5CDC-E731-509A-8A6A16F62863}"/>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758E4BC1-3466-D920-812D-E81FAD55993C}"/>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D1605E83-7E9A-9FCE-A6A5-FB33DF0B57F8}"/>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75FAEB36-A938-4CB7-28C6-4C99EE3F8C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C2687942-32D6-1F27-EC31-0751E3A498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E390E196-3EDA-89F1-8FB4-571969877B03}"/>
              </a:ext>
            </a:extLst>
          </p:cNvPr>
          <p:cNvSpPr>
            <a:spLocks noGrp="1"/>
          </p:cNvSpPr>
          <p:nvPr>
            <p:ph idx="13"/>
          </p:nvPr>
        </p:nvSpPr>
        <p:spPr>
          <a:xfrm>
            <a:off x="609600" y="1600201"/>
            <a:ext cx="10213910" cy="4893576"/>
          </a:xfrm>
        </p:spPr>
        <p:txBody>
          <a:bodyPr>
            <a:normAutofit/>
          </a:bodyPr>
          <a:lstStyle/>
          <a:p>
            <a:pPr algn="just"/>
            <a:r>
              <a:rPr lang="es-MX" dirty="0"/>
              <a:t>Un proceso ágil es un conjunto de prácticas y metodologías que permiten desarrollar software de manera iterativa e incremental, enfocándose en la comunicación con el cliente, la entrega frecuente de software funcional y la adaptación al cambio. Ejemplos de procesos ágiles incluyen Scrum, Kanban y Extreme </a:t>
            </a:r>
            <a:r>
              <a:rPr lang="es-MX" dirty="0" err="1"/>
              <a:t>Programming</a:t>
            </a:r>
            <a:r>
              <a:rPr lang="es-MX" dirty="0"/>
              <a:t> (XP).</a:t>
            </a:r>
          </a:p>
          <a:p>
            <a:pPr algn="just"/>
            <a:endParaRPr lang="es-CL" sz="2400" i="1" dirty="0"/>
          </a:p>
        </p:txBody>
      </p:sp>
    </p:spTree>
    <p:extLst>
      <p:ext uri="{BB962C8B-B14F-4D97-AF65-F5344CB8AC3E}">
        <p14:creationId xmlns:p14="http://schemas.microsoft.com/office/powerpoint/2010/main" val="168365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l"/>
            <a:r>
              <a:rPr lang="es-CL" dirty="0"/>
              <a:t>Agilidad y proceso</a:t>
            </a:r>
          </a:p>
        </p:txBody>
      </p:sp>
      <p:sp>
        <p:nvSpPr>
          <p:cNvPr id="3" name="Marcador de contenido 2"/>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A0F68CF3-2050-4A6F-AF5F-CB6DCB46DCEE}"/>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13D1E45-2E41-49FD-8CBC-ECAD056683EC}"/>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BC3B1013-3A74-4808-9459-EF0A0BE2B450}"/>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6108630-1BE7-4C16-ACBC-7DAC474851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808AAB99-AA43-457A-BFA2-8B68AFA22B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73805F8D-6818-F87F-486C-503A8D185351}"/>
              </a:ext>
            </a:extLst>
          </p:cNvPr>
          <p:cNvSpPr>
            <a:spLocks noGrp="1"/>
          </p:cNvSpPr>
          <p:nvPr>
            <p:ph idx="13"/>
          </p:nvPr>
        </p:nvSpPr>
        <p:spPr>
          <a:xfrm>
            <a:off x="609600" y="1600201"/>
            <a:ext cx="10213910" cy="4893576"/>
          </a:xfrm>
        </p:spPr>
        <p:txBody>
          <a:bodyPr>
            <a:normAutofit/>
          </a:bodyPr>
          <a:lstStyle/>
          <a:p>
            <a:pPr algn="just"/>
            <a:r>
              <a:rPr lang="es-MX" dirty="0"/>
              <a:t>Un grupo de desarrolladores en el 2001 firmaron el “Manifiesto por el desarrollo ágil de software”. En él se establecía lo siguiente:</a:t>
            </a:r>
          </a:p>
          <a:p>
            <a:pPr algn="just"/>
            <a:r>
              <a:rPr lang="es-MX" sz="2400" i="1" dirty="0"/>
              <a:t>Estamos descubriendo formas mejores de desarrollar software, por medio de hacerlo y de dar ayuda a otros para que lo hagan. Ese trabajo nos ha hecho valorar:</a:t>
            </a:r>
          </a:p>
          <a:p>
            <a:pPr lvl="1" algn="just"/>
            <a:r>
              <a:rPr lang="es-MX" sz="2000" i="1" dirty="0"/>
              <a:t>Los individuos y sus interacciones, sobre los procesos y las herramientas.</a:t>
            </a:r>
          </a:p>
          <a:p>
            <a:pPr lvl="1" algn="just"/>
            <a:r>
              <a:rPr lang="es-MX" sz="2000" i="1" dirty="0"/>
              <a:t>El software que funciona, más que la documentación exhaustiva.</a:t>
            </a:r>
          </a:p>
          <a:p>
            <a:pPr lvl="1" algn="just"/>
            <a:r>
              <a:rPr lang="es-MX" sz="2000" i="1" dirty="0"/>
              <a:t>La colaboración con el cliente, y no tanto la negociación del contrato.</a:t>
            </a:r>
          </a:p>
          <a:p>
            <a:pPr lvl="1" algn="just"/>
            <a:r>
              <a:rPr lang="es-MX" sz="2000" i="1" dirty="0"/>
              <a:t>Responder al cambio, mejor que apegarse a un plan.</a:t>
            </a:r>
          </a:p>
          <a:p>
            <a:pPr algn="just"/>
            <a:r>
              <a:rPr lang="es-MX" sz="2400" i="1" dirty="0"/>
              <a:t>Es decir, si bien son valiosos los conceptos que aparecen en segundo lugar, valoramos más los que aparecen en primer sitio.</a:t>
            </a:r>
            <a:endParaRPr lang="es-CL" sz="2400" i="1" dirty="0"/>
          </a:p>
        </p:txBody>
      </p:sp>
    </p:spTree>
    <p:extLst>
      <p:ext uri="{BB962C8B-B14F-4D97-AF65-F5344CB8AC3E}">
        <p14:creationId xmlns:p14="http://schemas.microsoft.com/office/powerpoint/2010/main" val="2707598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61A2B-F3AF-2009-264F-607F83DE3A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9E1483-93EB-F406-47D6-7DCA7C0984FC}"/>
              </a:ext>
            </a:extLst>
          </p:cNvPr>
          <p:cNvSpPr>
            <a:spLocks noGrp="1"/>
          </p:cNvSpPr>
          <p:nvPr>
            <p:ph type="title"/>
          </p:nvPr>
        </p:nvSpPr>
        <p:spPr>
          <a:xfrm>
            <a:off x="609600" y="274638"/>
            <a:ext cx="8049208" cy="1143000"/>
          </a:xfrm>
        </p:spPr>
        <p:txBody>
          <a:bodyPr>
            <a:normAutofit fontScale="90000"/>
          </a:bodyPr>
          <a:lstStyle/>
          <a:p>
            <a:pPr algn="just"/>
            <a:r>
              <a:rPr lang="es-MX" dirty="0"/>
              <a:t>12 principios de agilidad para aquellos que la quieran alcanzar:</a:t>
            </a:r>
          </a:p>
        </p:txBody>
      </p:sp>
      <p:sp>
        <p:nvSpPr>
          <p:cNvPr id="3" name="Marcador de contenido 2">
            <a:extLst>
              <a:ext uri="{FF2B5EF4-FFF2-40B4-BE49-F238E27FC236}">
                <a16:creationId xmlns:a16="http://schemas.microsoft.com/office/drawing/2014/main" id="{31617E57-DF44-B732-6861-4A8765139F6D}"/>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06142D8-458D-FFB3-960D-15F1E910F1FA}"/>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3CD1C018-F3C0-7D84-888C-A46C8F0BBC40}"/>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75FC9E32-9723-C6FE-AD59-C345E5DFA5E5}"/>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7D6976A3-0EC9-4108-400C-8B962C45CB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97D756CE-92B6-AFA6-0BF1-EF1F5FB109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73B64F74-E190-19A2-35A2-A885651FDCA8}"/>
              </a:ext>
            </a:extLst>
          </p:cNvPr>
          <p:cNvSpPr>
            <a:spLocks noGrp="1"/>
          </p:cNvSpPr>
          <p:nvPr>
            <p:ph idx="13"/>
          </p:nvPr>
        </p:nvSpPr>
        <p:spPr>
          <a:xfrm>
            <a:off x="609600" y="1600201"/>
            <a:ext cx="10213910" cy="4893576"/>
          </a:xfrm>
        </p:spPr>
        <p:txBody>
          <a:bodyPr>
            <a:normAutofit/>
          </a:bodyPr>
          <a:lstStyle/>
          <a:p>
            <a:pPr algn="just"/>
            <a:r>
              <a:rPr lang="es-MX" sz="2000" dirty="0"/>
              <a:t>1. La prioridad más alta es satisfacer al cliente a través de la entrega pronta y continua de software valioso.</a:t>
            </a:r>
          </a:p>
          <a:p>
            <a:pPr algn="just"/>
            <a:r>
              <a:rPr lang="es-MX" sz="2000" dirty="0"/>
              <a:t>2. Son bienvenidos los requerimientos cambiantes, aun en una etapa avanzada del desarrollo. Los procesos ágiles dominan el cambio para provecho de la ventaja competitiva del cliente.</a:t>
            </a:r>
          </a:p>
          <a:p>
            <a:pPr algn="just"/>
            <a:r>
              <a:rPr lang="es-MX" sz="2000" dirty="0"/>
              <a:t>3. Entregar con frecuencia software que funcione, de dos semanas a un par de meses, de preferencia lo más pronto que se pueda.</a:t>
            </a:r>
          </a:p>
          <a:p>
            <a:pPr algn="just"/>
            <a:r>
              <a:rPr lang="es-MX" sz="2000" dirty="0"/>
              <a:t>4. Las personas de negocios y los desarrolladores deben trabajar juntos, a diario y durante todo el proyecto.</a:t>
            </a:r>
          </a:p>
          <a:p>
            <a:pPr algn="just"/>
            <a:r>
              <a:rPr lang="es-MX" sz="2000" dirty="0"/>
              <a:t>5. Hay que desarrollar los proyectos con individuos motivados. Debe darse a éstos el ambiente y el apoyo que necesiten, y confiar en que harán el trabajo.</a:t>
            </a:r>
          </a:p>
          <a:p>
            <a:pPr algn="just"/>
            <a:r>
              <a:rPr lang="es-MX" sz="2000" dirty="0"/>
              <a:t>6. El método más eficiente y eficaz para transmitir información a los integrantes de un equipo de desarrollo, y entre éstos, es la conversación cara a cara.</a:t>
            </a:r>
          </a:p>
        </p:txBody>
      </p:sp>
    </p:spTree>
    <p:extLst>
      <p:ext uri="{BB962C8B-B14F-4D97-AF65-F5344CB8AC3E}">
        <p14:creationId xmlns:p14="http://schemas.microsoft.com/office/powerpoint/2010/main" val="2737134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F9342-4BEA-96FF-F676-D0BDD333FC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36C959-6211-6676-A165-CA56ACD60DA4}"/>
              </a:ext>
            </a:extLst>
          </p:cNvPr>
          <p:cNvSpPr>
            <a:spLocks noGrp="1"/>
          </p:cNvSpPr>
          <p:nvPr>
            <p:ph type="title"/>
          </p:nvPr>
        </p:nvSpPr>
        <p:spPr>
          <a:xfrm>
            <a:off x="609600" y="274638"/>
            <a:ext cx="8049208" cy="1143000"/>
          </a:xfrm>
        </p:spPr>
        <p:txBody>
          <a:bodyPr>
            <a:normAutofit fontScale="90000"/>
          </a:bodyPr>
          <a:lstStyle/>
          <a:p>
            <a:pPr algn="just"/>
            <a:r>
              <a:rPr lang="es-MX" dirty="0"/>
              <a:t>12 principios de agilidad para aquellos que la quieran alcanzar:</a:t>
            </a:r>
          </a:p>
        </p:txBody>
      </p:sp>
      <p:sp>
        <p:nvSpPr>
          <p:cNvPr id="3" name="Marcador de contenido 2">
            <a:extLst>
              <a:ext uri="{FF2B5EF4-FFF2-40B4-BE49-F238E27FC236}">
                <a16:creationId xmlns:a16="http://schemas.microsoft.com/office/drawing/2014/main" id="{65285ECA-2947-BE45-9B7E-3D478EE4A6D7}"/>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96C4763A-A937-CCBD-E705-CE79439C4AD2}"/>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8FD03475-C69C-3DB8-6FD7-5E873342A502}"/>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DA8D6320-E2BA-34D4-8845-33FEFA769120}"/>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0E01D6BA-A77B-6EEB-3FC4-2E052C32A2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390E46E4-CBD7-D8F4-19CF-68743E5293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18D48E85-BF0C-F476-4ECE-A244D7360C52}"/>
              </a:ext>
            </a:extLst>
          </p:cNvPr>
          <p:cNvSpPr>
            <a:spLocks noGrp="1"/>
          </p:cNvSpPr>
          <p:nvPr>
            <p:ph idx="13"/>
          </p:nvPr>
        </p:nvSpPr>
        <p:spPr>
          <a:xfrm>
            <a:off x="609600" y="1600201"/>
            <a:ext cx="10213910" cy="4893576"/>
          </a:xfrm>
        </p:spPr>
        <p:txBody>
          <a:bodyPr>
            <a:normAutofit/>
          </a:bodyPr>
          <a:lstStyle/>
          <a:p>
            <a:pPr algn="just"/>
            <a:r>
              <a:rPr lang="es-MX" sz="2000" dirty="0"/>
              <a:t>7. La medida principal de avance es el software que funciona.</a:t>
            </a:r>
          </a:p>
          <a:p>
            <a:pPr algn="just"/>
            <a:r>
              <a:rPr lang="es-MX" sz="2000" dirty="0"/>
              <a:t>8. Los procesos ágiles promueven el desarrollo sostenible. Los patrocinadores, desarrolladores y usuarios deben poder mantener un ritmo constante en forma indefinida.</a:t>
            </a:r>
          </a:p>
          <a:p>
            <a:pPr algn="just"/>
            <a:r>
              <a:rPr lang="es-MX" sz="2000" dirty="0"/>
              <a:t>9. La atención continua a la excelencia técnica y el buen diseño mejora la agilidad.</a:t>
            </a:r>
          </a:p>
          <a:p>
            <a:pPr algn="just"/>
            <a:r>
              <a:rPr lang="es-MX" sz="2000" dirty="0"/>
              <a:t>10. Es esencial la simplicidad: el arte de maximizar la cantidad de trabajo no realizado.</a:t>
            </a:r>
          </a:p>
          <a:p>
            <a:pPr algn="just"/>
            <a:r>
              <a:rPr lang="es-MX" sz="2000" dirty="0"/>
              <a:t>11. Las mejores arquitecturas, requerimientos y diseños surgen de los equipos con organización propia.</a:t>
            </a:r>
          </a:p>
          <a:p>
            <a:pPr algn="just"/>
            <a:r>
              <a:rPr lang="es-MX" sz="2000" dirty="0"/>
              <a:t>12. El equipo reflexiona a intervalos regulares sobre cómo ser más eficaz, para después afinar y ajustar su comportamiento en consecuencia</a:t>
            </a:r>
            <a:endParaRPr lang="es-CL" sz="2000" i="1" dirty="0"/>
          </a:p>
        </p:txBody>
      </p:sp>
    </p:spTree>
    <p:extLst>
      <p:ext uri="{BB962C8B-B14F-4D97-AF65-F5344CB8AC3E}">
        <p14:creationId xmlns:p14="http://schemas.microsoft.com/office/powerpoint/2010/main" val="2622496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0429C-20AB-0D56-42AC-DCA0C5076D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9BB585-A7D5-BF80-D594-96B6B56EAAE9}"/>
              </a:ext>
            </a:extLst>
          </p:cNvPr>
          <p:cNvSpPr>
            <a:spLocks noGrp="1"/>
          </p:cNvSpPr>
          <p:nvPr>
            <p:ph type="title"/>
          </p:nvPr>
        </p:nvSpPr>
        <p:spPr>
          <a:xfrm>
            <a:off x="609600" y="274638"/>
            <a:ext cx="8049208" cy="1143000"/>
          </a:xfrm>
        </p:spPr>
        <p:txBody>
          <a:bodyPr>
            <a:normAutofit/>
          </a:bodyPr>
          <a:lstStyle/>
          <a:p>
            <a:pPr algn="just"/>
            <a:r>
              <a:rPr lang="es-MX" dirty="0"/>
              <a:t>Características de un equipo ágil</a:t>
            </a:r>
          </a:p>
        </p:txBody>
      </p:sp>
      <p:sp>
        <p:nvSpPr>
          <p:cNvPr id="3" name="Marcador de contenido 2">
            <a:extLst>
              <a:ext uri="{FF2B5EF4-FFF2-40B4-BE49-F238E27FC236}">
                <a16:creationId xmlns:a16="http://schemas.microsoft.com/office/drawing/2014/main" id="{5332F6E4-797D-FC0E-1DB9-69E7DBCDA575}"/>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ECBD37D8-3361-2653-E933-E24A27EE65C7}"/>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8735331D-59A2-B176-7F62-59FE59B6E352}"/>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DB0B681D-FB40-6E08-E145-F436488D40DE}"/>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14C496BA-AB73-2086-5B2A-0CA36595B5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F3B9420C-24CF-18F0-EA1D-E87DC03A1C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BF2953AC-ABED-B1CC-AB79-6FB166E2578B}"/>
              </a:ext>
            </a:extLst>
          </p:cNvPr>
          <p:cNvSpPr>
            <a:spLocks noGrp="1"/>
          </p:cNvSpPr>
          <p:nvPr>
            <p:ph idx="13"/>
          </p:nvPr>
        </p:nvSpPr>
        <p:spPr>
          <a:xfrm>
            <a:off x="609600" y="1600201"/>
            <a:ext cx="10213910" cy="4893576"/>
          </a:xfrm>
        </p:spPr>
        <p:txBody>
          <a:bodyPr>
            <a:normAutofit/>
          </a:bodyPr>
          <a:lstStyle/>
          <a:p>
            <a:pPr algn="just"/>
            <a:r>
              <a:rPr lang="es-MX" sz="2000" i="1" dirty="0"/>
              <a:t>Competencia</a:t>
            </a:r>
          </a:p>
          <a:p>
            <a:pPr lvl="1" algn="just"/>
            <a:r>
              <a:rPr lang="es-MX" sz="1600" i="1" dirty="0"/>
              <a:t>Talento, habilidades técnicas y conocimiento del proceso ágil.</a:t>
            </a:r>
          </a:p>
          <a:p>
            <a:pPr algn="just"/>
            <a:r>
              <a:rPr lang="es-MX" sz="2000" i="1" dirty="0"/>
              <a:t>Enfoque Común</a:t>
            </a:r>
          </a:p>
          <a:p>
            <a:pPr lvl="1" algn="just"/>
            <a:r>
              <a:rPr lang="es-MX" sz="1600" i="1" dirty="0"/>
              <a:t>Todos trabajan hacia una meta: entregar software funcional en cada iteración.</a:t>
            </a:r>
          </a:p>
          <a:p>
            <a:pPr algn="just"/>
            <a:r>
              <a:rPr lang="es-MX" sz="2000" i="1" dirty="0"/>
              <a:t>Colaboración</a:t>
            </a:r>
          </a:p>
          <a:p>
            <a:pPr lvl="1" algn="just"/>
            <a:r>
              <a:rPr lang="es-MX" sz="1600" i="1" dirty="0"/>
              <a:t>Comunicación constante y trabajo conjunto entre miembros del equipo y </a:t>
            </a:r>
            <a:r>
              <a:rPr lang="es-MX" sz="1600" i="1" dirty="0" err="1"/>
              <a:t>stakeholders</a:t>
            </a:r>
            <a:r>
              <a:rPr lang="es-MX" sz="1600" i="1" dirty="0"/>
              <a:t>.</a:t>
            </a:r>
          </a:p>
          <a:p>
            <a:pPr algn="just"/>
            <a:r>
              <a:rPr lang="es-MX" sz="2000" i="1" dirty="0"/>
              <a:t>Toma de Decisiones</a:t>
            </a:r>
          </a:p>
          <a:p>
            <a:pPr lvl="1" algn="just"/>
            <a:r>
              <a:rPr lang="es-MX" sz="1600" i="1" dirty="0"/>
              <a:t>Autonomía para decidir sobre aspectos técnicos y de gestión del proyecto.</a:t>
            </a:r>
          </a:p>
          <a:p>
            <a:pPr algn="just"/>
            <a:r>
              <a:rPr lang="es-MX" sz="2000" i="1" dirty="0"/>
              <a:t>Resolución de Problemas Difusos</a:t>
            </a:r>
          </a:p>
          <a:p>
            <a:pPr lvl="1" algn="just"/>
            <a:r>
              <a:rPr lang="es-MX" sz="1600" i="1" dirty="0"/>
              <a:t>Capacidad de adaptarse a cambios e incertidumbre en los requisitos.</a:t>
            </a:r>
          </a:p>
          <a:p>
            <a:pPr algn="just"/>
            <a:r>
              <a:rPr lang="es-MX" sz="2000" i="1" dirty="0"/>
              <a:t>Confianza y Respeto Mutuos</a:t>
            </a:r>
          </a:p>
          <a:p>
            <a:pPr lvl="1" algn="just"/>
            <a:r>
              <a:rPr lang="es-MX" sz="1600" i="1" dirty="0"/>
              <a:t>Un equipo cohesionado que trabaja mejor en conjunto.</a:t>
            </a:r>
          </a:p>
          <a:p>
            <a:pPr algn="just"/>
            <a:r>
              <a:rPr lang="es-MX" sz="2000" i="1" dirty="0"/>
              <a:t>Organización Propia</a:t>
            </a:r>
          </a:p>
          <a:p>
            <a:pPr lvl="1" algn="just"/>
            <a:r>
              <a:rPr lang="es-MX" sz="1600" i="1" dirty="0"/>
              <a:t>Autogestión en tareas, procesos y planificación para optimizar entregas.</a:t>
            </a:r>
            <a:endParaRPr lang="es-CL" sz="1600" i="1" dirty="0"/>
          </a:p>
        </p:txBody>
      </p:sp>
    </p:spTree>
    <p:extLst>
      <p:ext uri="{BB962C8B-B14F-4D97-AF65-F5344CB8AC3E}">
        <p14:creationId xmlns:p14="http://schemas.microsoft.com/office/powerpoint/2010/main" val="3619514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CFAE0-DCC7-8AFF-A48D-0553432B03D1}"/>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FF82890-7118-79A0-ADC1-86C7FB0F660A}"/>
              </a:ext>
            </a:extLst>
          </p:cNvPr>
          <p:cNvSpPr>
            <a:spLocks noGrp="1"/>
          </p:cNvSpPr>
          <p:nvPr>
            <p:ph type="title"/>
          </p:nvPr>
        </p:nvSpPr>
        <p:spPr/>
        <p:txBody>
          <a:bodyPr/>
          <a:lstStyle/>
          <a:p>
            <a:r>
              <a:rPr lang="es-MX" dirty="0"/>
              <a:t>Programación Extrema (XP)</a:t>
            </a:r>
            <a:endParaRPr lang="es-CL" dirty="0"/>
          </a:p>
        </p:txBody>
      </p:sp>
      <p:sp>
        <p:nvSpPr>
          <p:cNvPr id="10" name="Marcador de contenido 9">
            <a:extLst>
              <a:ext uri="{FF2B5EF4-FFF2-40B4-BE49-F238E27FC236}">
                <a16:creationId xmlns:a16="http://schemas.microsoft.com/office/drawing/2014/main" id="{BF434D88-B457-34CB-DA06-3805100D6215}"/>
              </a:ext>
            </a:extLst>
          </p:cNvPr>
          <p:cNvSpPr>
            <a:spLocks noGrp="1"/>
          </p:cNvSpPr>
          <p:nvPr>
            <p:ph idx="13"/>
          </p:nvPr>
        </p:nvSpPr>
        <p:spPr>
          <a:xfrm>
            <a:off x="609600" y="1600201"/>
            <a:ext cx="10260563" cy="4525963"/>
          </a:xfrm>
        </p:spPr>
        <p:txBody>
          <a:bodyPr/>
          <a:lstStyle/>
          <a:p>
            <a:r>
              <a:rPr lang="es-MX" dirty="0"/>
              <a:t>Es una metodología ágil enfocada en mejorar la calidad del software y la capacidad de respuesta a los cambios mediante prácticas técnicas y colaboración estrecha con el cliente.</a:t>
            </a:r>
          </a:p>
          <a:p>
            <a:r>
              <a:rPr lang="es-MX" dirty="0"/>
              <a:t>Usa un enfoque orientado a objetos como paradigma preferido de desarrollo, y engloba un conjunto de reglas y prácticas que ocurren en el contexto de cuatro actividades estructurales: planeación, diseño, codificación y pruebas. </a:t>
            </a:r>
            <a:endParaRPr lang="es-CL" dirty="0"/>
          </a:p>
        </p:txBody>
      </p:sp>
      <p:sp>
        <p:nvSpPr>
          <p:cNvPr id="3" name="Marcador de contenido 2">
            <a:extLst>
              <a:ext uri="{FF2B5EF4-FFF2-40B4-BE49-F238E27FC236}">
                <a16:creationId xmlns:a16="http://schemas.microsoft.com/office/drawing/2014/main" id="{15BBD064-52D5-5C14-E43F-0AFCF2AD42AC}"/>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1BC9AD3B-A96C-F267-362A-64FCE021E70C}"/>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DD0EFD36-B18E-61EA-94F9-2660317EDFAA}"/>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80F532C8-8487-CB58-2D22-4F1F7679A046}"/>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A49AFB5A-BE70-F88E-E191-CEDE94F2D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50EA525D-BDDD-AF80-B76B-09AEDB84CD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340848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20B7-20B9-57F1-755D-FB8E9B35D3FE}"/>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4A9A6028-45A4-7E9F-C0D5-435C23AE1E04}"/>
              </a:ext>
            </a:extLst>
          </p:cNvPr>
          <p:cNvSpPr>
            <a:spLocks noGrp="1"/>
          </p:cNvSpPr>
          <p:nvPr>
            <p:ph type="title"/>
          </p:nvPr>
        </p:nvSpPr>
        <p:spPr/>
        <p:txBody>
          <a:bodyPr/>
          <a:lstStyle/>
          <a:p>
            <a:r>
              <a:rPr lang="es-MX" dirty="0"/>
              <a:t>Programación Extrema XP</a:t>
            </a:r>
            <a:endParaRPr lang="es-CL" dirty="0"/>
          </a:p>
        </p:txBody>
      </p:sp>
      <p:sp>
        <p:nvSpPr>
          <p:cNvPr id="10" name="Marcador de contenido 9">
            <a:extLst>
              <a:ext uri="{FF2B5EF4-FFF2-40B4-BE49-F238E27FC236}">
                <a16:creationId xmlns:a16="http://schemas.microsoft.com/office/drawing/2014/main" id="{33D87BAF-CF00-A050-4173-1405C60AB09D}"/>
              </a:ext>
            </a:extLst>
          </p:cNvPr>
          <p:cNvSpPr>
            <a:spLocks noGrp="1"/>
          </p:cNvSpPr>
          <p:nvPr>
            <p:ph idx="13"/>
          </p:nvPr>
        </p:nvSpPr>
        <p:spPr>
          <a:xfrm>
            <a:off x="609600" y="1600201"/>
            <a:ext cx="10260563" cy="4525963"/>
          </a:xfrm>
        </p:spPr>
        <p:txBody>
          <a:bodyPr/>
          <a:lstStyle/>
          <a:p>
            <a:endParaRPr lang="es-CL" dirty="0"/>
          </a:p>
        </p:txBody>
      </p:sp>
      <p:sp>
        <p:nvSpPr>
          <p:cNvPr id="3" name="Marcador de contenido 2">
            <a:extLst>
              <a:ext uri="{FF2B5EF4-FFF2-40B4-BE49-F238E27FC236}">
                <a16:creationId xmlns:a16="http://schemas.microsoft.com/office/drawing/2014/main" id="{8C09ED26-F6B9-B5F0-20B5-7FADD49AABF6}"/>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306A25AA-A146-6937-BD2D-DDF1B5B15847}"/>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E24BFEBB-5B91-62CC-A445-9FC17C605995}"/>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E146C09D-022B-55CD-6B46-7BC5F3A746B4}"/>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15FC12E3-EAC1-D778-A1F0-BCEFAB5BE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006C076D-769C-8E0A-7995-8F6702DB95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pic>
        <p:nvPicPr>
          <p:cNvPr id="11" name="Imagen 10">
            <a:extLst>
              <a:ext uri="{FF2B5EF4-FFF2-40B4-BE49-F238E27FC236}">
                <a16:creationId xmlns:a16="http://schemas.microsoft.com/office/drawing/2014/main" id="{E8CC6676-17D6-BF12-5A9A-813F30548755}"/>
              </a:ext>
            </a:extLst>
          </p:cNvPr>
          <p:cNvPicPr>
            <a:picLocks noChangeAspect="1"/>
          </p:cNvPicPr>
          <p:nvPr/>
        </p:nvPicPr>
        <p:blipFill>
          <a:blip r:embed="rId5"/>
          <a:stretch>
            <a:fillRect/>
          </a:stretch>
        </p:blipFill>
        <p:spPr>
          <a:xfrm>
            <a:off x="2052577" y="1554618"/>
            <a:ext cx="7404378" cy="4529228"/>
          </a:xfrm>
          <a:prstGeom prst="rect">
            <a:avLst/>
          </a:prstGeom>
        </p:spPr>
      </p:pic>
    </p:spTree>
    <p:extLst>
      <p:ext uri="{BB962C8B-B14F-4D97-AF65-F5344CB8AC3E}">
        <p14:creationId xmlns:p14="http://schemas.microsoft.com/office/powerpoint/2010/main" val="2544006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2DA8F-16F7-9DF4-B1F4-C64E0CF463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0C0D77-6954-0D42-318D-C84BF6365AE4}"/>
              </a:ext>
            </a:extLst>
          </p:cNvPr>
          <p:cNvSpPr>
            <a:spLocks noGrp="1"/>
          </p:cNvSpPr>
          <p:nvPr>
            <p:ph type="title"/>
          </p:nvPr>
        </p:nvSpPr>
        <p:spPr>
          <a:xfrm>
            <a:off x="609600" y="274638"/>
            <a:ext cx="8049208" cy="1143000"/>
          </a:xfrm>
        </p:spPr>
        <p:txBody>
          <a:bodyPr>
            <a:normAutofit/>
          </a:bodyPr>
          <a:lstStyle/>
          <a:p>
            <a:pPr algn="just"/>
            <a:r>
              <a:rPr lang="es-MX" sz="4400" i="1" dirty="0"/>
              <a:t>Planeación</a:t>
            </a:r>
            <a:endParaRPr lang="es-MX" dirty="0"/>
          </a:p>
        </p:txBody>
      </p:sp>
      <p:sp>
        <p:nvSpPr>
          <p:cNvPr id="3" name="Marcador de contenido 2">
            <a:extLst>
              <a:ext uri="{FF2B5EF4-FFF2-40B4-BE49-F238E27FC236}">
                <a16:creationId xmlns:a16="http://schemas.microsoft.com/office/drawing/2014/main" id="{2005AD54-D539-88B8-D690-EE018223E4ED}"/>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FC023CAA-C667-0090-8970-9F0833CA8528}"/>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82A7F0F7-AFB5-D3D2-A76B-F39E3B78652E}"/>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0EFF2BB6-2C7C-B0F5-46D6-19F72BED6252}"/>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6D76FB60-8826-5FFC-07A8-95DB0D1C6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873F7F38-4F54-AC99-3046-A5F3CBE7B3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8102D9F7-1D1B-00FF-5F58-225352563EDC}"/>
              </a:ext>
            </a:extLst>
          </p:cNvPr>
          <p:cNvSpPr>
            <a:spLocks noGrp="1"/>
          </p:cNvSpPr>
          <p:nvPr>
            <p:ph idx="13"/>
          </p:nvPr>
        </p:nvSpPr>
        <p:spPr>
          <a:xfrm>
            <a:off x="609600" y="1600201"/>
            <a:ext cx="10213910" cy="4893576"/>
          </a:xfrm>
        </p:spPr>
        <p:txBody>
          <a:bodyPr>
            <a:normAutofit/>
          </a:bodyPr>
          <a:lstStyle/>
          <a:p>
            <a:pPr algn="just"/>
            <a:r>
              <a:rPr lang="es-MX" sz="2000" i="1" dirty="0"/>
              <a:t>Objetivo: Definir qué debe hacer el software y establecer prioridades con el cliente.</a:t>
            </a:r>
          </a:p>
          <a:p>
            <a:pPr algn="just"/>
            <a:endParaRPr lang="es-MX" sz="2000" i="1" dirty="0"/>
          </a:p>
          <a:p>
            <a:pPr lvl="1" algn="just"/>
            <a:r>
              <a:rPr lang="es-MX" sz="1600" i="1" dirty="0"/>
              <a:t>Historias de usuario: El cliente describe funcionalidades en un lenguaje simple.</a:t>
            </a:r>
          </a:p>
          <a:p>
            <a:pPr lvl="1" algn="just"/>
            <a:r>
              <a:rPr lang="es-MX" sz="1600" i="1" dirty="0"/>
              <a:t>Priorización de historias: Se decide qué es más importante entregar primero.</a:t>
            </a:r>
          </a:p>
          <a:p>
            <a:pPr lvl="1" algn="just"/>
            <a:r>
              <a:rPr lang="es-MX" sz="1600" i="1" dirty="0"/>
              <a:t>Estimación de esfuerzo: Se analiza cuánto tiempo tomará cada historia.</a:t>
            </a:r>
          </a:p>
          <a:p>
            <a:pPr lvl="1" algn="just"/>
            <a:r>
              <a:rPr lang="es-MX" sz="1600" i="1" dirty="0"/>
              <a:t>Planificación de iteraciones: Se organizan tareas en ciclos cortos (1-2 semanas).</a:t>
            </a:r>
          </a:p>
          <a:p>
            <a:pPr lvl="1" algn="just"/>
            <a:endParaRPr lang="es-MX" sz="1600" i="1" dirty="0"/>
          </a:p>
          <a:p>
            <a:pPr marL="0" indent="0" algn="just">
              <a:buNone/>
            </a:pPr>
            <a:r>
              <a:rPr lang="es-MX" sz="2000" i="1" dirty="0"/>
              <a:t>Ejemplo:</a:t>
            </a:r>
          </a:p>
          <a:p>
            <a:pPr marL="0" indent="0" algn="just">
              <a:buNone/>
            </a:pPr>
            <a:r>
              <a:rPr lang="es-MX" sz="2000" i="1" dirty="0"/>
              <a:t>Un cliente de una tienda online solicita una función de "búsqueda de productos". El equipo escribe la historia de usuario y estima que tomará una semana implementarla en la siguiente iteración.</a:t>
            </a:r>
          </a:p>
        </p:txBody>
      </p:sp>
    </p:spTree>
    <p:extLst>
      <p:ext uri="{BB962C8B-B14F-4D97-AF65-F5344CB8AC3E}">
        <p14:creationId xmlns:p14="http://schemas.microsoft.com/office/powerpoint/2010/main" val="1057853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A409C-7E11-4518-9387-8C58C28470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00BBDC-F9AB-7218-98FE-AAA10553084B}"/>
              </a:ext>
            </a:extLst>
          </p:cNvPr>
          <p:cNvSpPr>
            <a:spLocks noGrp="1"/>
          </p:cNvSpPr>
          <p:nvPr>
            <p:ph type="title"/>
          </p:nvPr>
        </p:nvSpPr>
        <p:spPr>
          <a:xfrm>
            <a:off x="609600" y="274638"/>
            <a:ext cx="8049208" cy="1143000"/>
          </a:xfrm>
        </p:spPr>
        <p:txBody>
          <a:bodyPr>
            <a:normAutofit/>
          </a:bodyPr>
          <a:lstStyle/>
          <a:p>
            <a:pPr algn="just"/>
            <a:r>
              <a:rPr lang="es-MX" sz="4400" i="1" dirty="0"/>
              <a:t>Diseño</a:t>
            </a:r>
            <a:endParaRPr lang="es-MX" dirty="0"/>
          </a:p>
        </p:txBody>
      </p:sp>
      <p:sp>
        <p:nvSpPr>
          <p:cNvPr id="3" name="Marcador de contenido 2">
            <a:extLst>
              <a:ext uri="{FF2B5EF4-FFF2-40B4-BE49-F238E27FC236}">
                <a16:creationId xmlns:a16="http://schemas.microsoft.com/office/drawing/2014/main" id="{114F3FDC-D533-98C2-2CCD-CAFF636E476A}"/>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E6897F31-6636-F065-DD53-33226EAD4C24}"/>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1C200EB4-1685-FC40-AA6F-9165411220B0}"/>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7E990EA7-7512-0AEB-E097-DC83F27F4D3A}"/>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30DF4E77-4344-4885-3539-A684DCCC3C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81B515EE-1CB0-0D8D-EA73-924132BBE6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A0E434CA-F8F1-5809-E93B-3A90E970DB64}"/>
              </a:ext>
            </a:extLst>
          </p:cNvPr>
          <p:cNvSpPr>
            <a:spLocks noGrp="1"/>
          </p:cNvSpPr>
          <p:nvPr>
            <p:ph idx="13"/>
          </p:nvPr>
        </p:nvSpPr>
        <p:spPr>
          <a:xfrm>
            <a:off x="609600" y="1600201"/>
            <a:ext cx="10213910" cy="4893576"/>
          </a:xfrm>
        </p:spPr>
        <p:txBody>
          <a:bodyPr>
            <a:normAutofit/>
          </a:bodyPr>
          <a:lstStyle/>
          <a:p>
            <a:pPr algn="just"/>
            <a:r>
              <a:rPr lang="es-MX" sz="2000" i="1" dirty="0"/>
              <a:t>Objetivo: Crear una estructura simple y flexible para el software.</a:t>
            </a:r>
          </a:p>
          <a:p>
            <a:pPr algn="just"/>
            <a:endParaRPr lang="es-MX" sz="2000" i="1" dirty="0"/>
          </a:p>
          <a:p>
            <a:pPr lvl="1" algn="just"/>
            <a:r>
              <a:rPr lang="es-MX" sz="1600" i="1" dirty="0"/>
              <a:t>Diseño simple: Solo se construye lo necesario, evitando complejidad innecesaria.</a:t>
            </a:r>
          </a:p>
          <a:p>
            <a:pPr lvl="1" algn="just"/>
            <a:r>
              <a:rPr lang="es-MX" sz="1600" i="1" dirty="0"/>
              <a:t>Refactorización: Se mejora el código constantemente para mantenerlo limpio.</a:t>
            </a:r>
          </a:p>
          <a:p>
            <a:pPr lvl="1" algn="just"/>
            <a:r>
              <a:rPr lang="es-MX" sz="1600" i="1" dirty="0"/>
              <a:t>CRC </a:t>
            </a:r>
            <a:r>
              <a:rPr lang="es-MX" sz="1600" i="1" dirty="0" err="1"/>
              <a:t>Cards</a:t>
            </a:r>
            <a:r>
              <a:rPr lang="es-MX" sz="1600" i="1" dirty="0"/>
              <a:t> (</a:t>
            </a:r>
            <a:r>
              <a:rPr lang="es-MX" sz="1600" i="1" dirty="0" err="1"/>
              <a:t>Class-Responsibility-Collaboration</a:t>
            </a:r>
            <a:r>
              <a:rPr lang="es-MX" sz="1600" i="1" dirty="0"/>
              <a:t>): Se usan tarjetas físicas para visualizar las clases y sus relaciones en el sistema.</a:t>
            </a:r>
          </a:p>
          <a:p>
            <a:pPr lvl="1" algn="just"/>
            <a:endParaRPr lang="es-MX" sz="1600" i="1" dirty="0"/>
          </a:p>
          <a:p>
            <a:pPr marL="0" indent="0" algn="just">
              <a:buNone/>
            </a:pPr>
            <a:r>
              <a:rPr lang="es-MX" sz="2000" i="1" dirty="0"/>
              <a:t>Ejemplo:</a:t>
            </a:r>
          </a:p>
          <a:p>
            <a:pPr marL="0" indent="0" algn="just">
              <a:buNone/>
            </a:pPr>
            <a:r>
              <a:rPr lang="es-MX" sz="2000" i="1" dirty="0"/>
              <a:t>Antes de programar la función de "búsqueda de productos", el equipo define las clases necesarias, como Producto y Buscador, asegurando que sean fáciles de mantener.</a:t>
            </a:r>
            <a:endParaRPr lang="es-CL" sz="2000" i="1" dirty="0"/>
          </a:p>
        </p:txBody>
      </p:sp>
    </p:spTree>
    <p:extLst>
      <p:ext uri="{BB962C8B-B14F-4D97-AF65-F5344CB8AC3E}">
        <p14:creationId xmlns:p14="http://schemas.microsoft.com/office/powerpoint/2010/main" val="692200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C9C5B-1568-C23B-93BC-AFDDA64CB0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FBB666-505D-18F0-BCB1-500C5909F3B4}"/>
              </a:ext>
            </a:extLst>
          </p:cNvPr>
          <p:cNvSpPr>
            <a:spLocks noGrp="1"/>
          </p:cNvSpPr>
          <p:nvPr>
            <p:ph type="title"/>
          </p:nvPr>
        </p:nvSpPr>
        <p:spPr>
          <a:xfrm>
            <a:off x="609600" y="274638"/>
            <a:ext cx="8049208" cy="1143000"/>
          </a:xfrm>
        </p:spPr>
        <p:txBody>
          <a:bodyPr>
            <a:normAutofit/>
          </a:bodyPr>
          <a:lstStyle/>
          <a:p>
            <a:pPr algn="just"/>
            <a:r>
              <a:rPr lang="es-MX" dirty="0"/>
              <a:t>Codificación</a:t>
            </a:r>
          </a:p>
        </p:txBody>
      </p:sp>
      <p:sp>
        <p:nvSpPr>
          <p:cNvPr id="3" name="Marcador de contenido 2">
            <a:extLst>
              <a:ext uri="{FF2B5EF4-FFF2-40B4-BE49-F238E27FC236}">
                <a16:creationId xmlns:a16="http://schemas.microsoft.com/office/drawing/2014/main" id="{BF13261E-BDD1-601D-D9C6-A524DCA3097B}"/>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01D8EC3-4ED4-94BA-AA25-E722C546B70B}"/>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5788012-F035-44E3-6505-F235E0956D27}"/>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30CBC7D3-BBCB-AB85-9BF5-F9EFEC40B16C}"/>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3A9C5D0A-B8F5-3B8E-C585-22FF330F6D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F5AC8C5B-F1EA-6A16-0719-5E20C86348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68D2AC2E-517D-A6DA-B2C4-DF471E7E5E83}"/>
              </a:ext>
            </a:extLst>
          </p:cNvPr>
          <p:cNvSpPr>
            <a:spLocks noGrp="1"/>
          </p:cNvSpPr>
          <p:nvPr>
            <p:ph idx="13"/>
          </p:nvPr>
        </p:nvSpPr>
        <p:spPr>
          <a:xfrm>
            <a:off x="609600" y="1600201"/>
            <a:ext cx="10213910" cy="4893576"/>
          </a:xfrm>
        </p:spPr>
        <p:txBody>
          <a:bodyPr>
            <a:normAutofit/>
          </a:bodyPr>
          <a:lstStyle/>
          <a:p>
            <a:pPr algn="just"/>
            <a:r>
              <a:rPr lang="es-MX" sz="2000" i="1" dirty="0"/>
              <a:t>Objetivo: Escribir código funcional y de alta calidad.</a:t>
            </a:r>
          </a:p>
          <a:p>
            <a:pPr algn="just"/>
            <a:endParaRPr lang="es-MX" sz="2000" i="1" dirty="0"/>
          </a:p>
          <a:p>
            <a:pPr lvl="1" algn="just"/>
            <a:r>
              <a:rPr lang="es-MX" sz="1600" i="1" dirty="0"/>
              <a:t>Programación en pares: Dos desarrolladores trabajan juntos en el mismo código.</a:t>
            </a:r>
          </a:p>
          <a:p>
            <a:pPr lvl="1" algn="just"/>
            <a:r>
              <a:rPr lang="es-MX" sz="1600" i="1" dirty="0"/>
              <a:t>Propiedad colectiva del código: Cualquier miembro del equipo puede modificar el código.</a:t>
            </a:r>
          </a:p>
          <a:p>
            <a:pPr lvl="1" algn="just"/>
            <a:r>
              <a:rPr lang="es-MX" sz="1600" i="1" dirty="0"/>
              <a:t>Integración continua: Se sube código varias veces al día para detectar errores temprano.</a:t>
            </a:r>
          </a:p>
          <a:p>
            <a:pPr algn="just"/>
            <a:endParaRPr lang="es-MX" sz="2000" i="1" dirty="0"/>
          </a:p>
          <a:p>
            <a:pPr marL="0" indent="0" algn="just">
              <a:buNone/>
            </a:pPr>
            <a:r>
              <a:rPr lang="es-MX" sz="2000" i="1" dirty="0"/>
              <a:t>Ejemplo:</a:t>
            </a:r>
          </a:p>
          <a:p>
            <a:pPr marL="0" indent="0" algn="just">
              <a:buNone/>
            </a:pPr>
            <a:r>
              <a:rPr lang="es-MX" sz="2000" i="1" dirty="0"/>
              <a:t>Dos desarrolladores implementan la función de búsqueda juntos, mientras otro equipo revisa y mejora la estructura del código.</a:t>
            </a:r>
            <a:endParaRPr lang="es-CL" sz="2000" i="1" dirty="0"/>
          </a:p>
        </p:txBody>
      </p:sp>
    </p:spTree>
    <p:extLst>
      <p:ext uri="{BB962C8B-B14F-4D97-AF65-F5344CB8AC3E}">
        <p14:creationId xmlns:p14="http://schemas.microsoft.com/office/powerpoint/2010/main" val="199489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CE199-D6E5-C8C5-D377-C4417E0037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6A0860-3138-8856-4AD9-87701470E5E6}"/>
              </a:ext>
            </a:extLst>
          </p:cNvPr>
          <p:cNvSpPr>
            <a:spLocks noGrp="1"/>
          </p:cNvSpPr>
          <p:nvPr>
            <p:ph type="title"/>
          </p:nvPr>
        </p:nvSpPr>
        <p:spPr>
          <a:xfrm>
            <a:off x="609600" y="274638"/>
            <a:ext cx="8049208" cy="1143000"/>
          </a:xfrm>
        </p:spPr>
        <p:txBody>
          <a:bodyPr>
            <a:normAutofit/>
          </a:bodyPr>
          <a:lstStyle/>
          <a:p>
            <a:pPr algn="just"/>
            <a:r>
              <a:rPr lang="es-MX" dirty="0"/>
              <a:t>Pruebas</a:t>
            </a:r>
          </a:p>
        </p:txBody>
      </p:sp>
      <p:sp>
        <p:nvSpPr>
          <p:cNvPr id="3" name="Marcador de contenido 2">
            <a:extLst>
              <a:ext uri="{FF2B5EF4-FFF2-40B4-BE49-F238E27FC236}">
                <a16:creationId xmlns:a16="http://schemas.microsoft.com/office/drawing/2014/main" id="{2BA0A3CF-2B99-62EC-2606-72757D8D56BA}"/>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8685A82-8AD2-EF88-3B9F-FF567F5A7DE4}"/>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6B7CDE21-F271-D190-2868-ED68A6920BE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42438A66-081E-66CD-E8A8-946E256A14FA}"/>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73DBB34C-709C-5D15-8038-2FF06561DA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866AF67E-6E6C-3C68-122D-611D85066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7AB17C9A-A993-BA33-1DCA-F05DA5B86D58}"/>
              </a:ext>
            </a:extLst>
          </p:cNvPr>
          <p:cNvSpPr>
            <a:spLocks noGrp="1"/>
          </p:cNvSpPr>
          <p:nvPr>
            <p:ph idx="13"/>
          </p:nvPr>
        </p:nvSpPr>
        <p:spPr>
          <a:xfrm>
            <a:off x="609600" y="1600201"/>
            <a:ext cx="10213910" cy="4893576"/>
          </a:xfrm>
        </p:spPr>
        <p:txBody>
          <a:bodyPr>
            <a:normAutofit/>
          </a:bodyPr>
          <a:lstStyle/>
          <a:p>
            <a:pPr algn="just"/>
            <a:r>
              <a:rPr lang="es-MX" sz="2000" i="1" dirty="0"/>
              <a:t>Objetivo: Asegurar que el software funcione correctamente y sin errores.</a:t>
            </a:r>
          </a:p>
          <a:p>
            <a:pPr algn="just"/>
            <a:endParaRPr lang="es-MX" sz="2000" i="1" dirty="0"/>
          </a:p>
          <a:p>
            <a:pPr algn="just"/>
            <a:r>
              <a:rPr lang="es-MX" sz="2000" i="1" dirty="0"/>
              <a:t>Desarrollo guiado por pruebas (TDD): Se escriben pruebas antes de programar.</a:t>
            </a:r>
          </a:p>
          <a:p>
            <a:pPr algn="just"/>
            <a:r>
              <a:rPr lang="es-MX" sz="2000" i="1" dirty="0"/>
              <a:t>Pruebas automatizadas: Se crean pruebas unitarias y de integración.</a:t>
            </a:r>
          </a:p>
          <a:p>
            <a:pPr algn="just"/>
            <a:r>
              <a:rPr lang="es-MX" sz="2000" i="1" dirty="0"/>
              <a:t>Pruebas de aceptación: El cliente valida que el software cumple sus necesidades.</a:t>
            </a:r>
          </a:p>
          <a:p>
            <a:pPr algn="just"/>
            <a:endParaRPr lang="es-MX" sz="2000" i="1" dirty="0"/>
          </a:p>
          <a:p>
            <a:r>
              <a:rPr lang="es-MX" sz="2000" i="1" dirty="0"/>
              <a:t>Ejemplo:</a:t>
            </a:r>
          </a:p>
          <a:p>
            <a:pPr marL="0" indent="0">
              <a:buNone/>
            </a:pPr>
            <a:r>
              <a:rPr lang="es-MX" sz="2000" i="1" dirty="0"/>
              <a:t>Antes de codificar la función de búsqueda, se escribe una prueba automatizada que verifica que los productos correctos se muestran según la búsqueda. Solo cuando la prueba pasa, se considera lista la funcionalidad.</a:t>
            </a:r>
          </a:p>
          <a:p>
            <a:pPr algn="just"/>
            <a:endParaRPr lang="es-CL" sz="2000" i="1" dirty="0"/>
          </a:p>
        </p:txBody>
      </p:sp>
    </p:spTree>
    <p:extLst>
      <p:ext uri="{BB962C8B-B14F-4D97-AF65-F5344CB8AC3E}">
        <p14:creationId xmlns:p14="http://schemas.microsoft.com/office/powerpoint/2010/main" val="3329047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7F9-8EFC-6400-068E-8432BDEA58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9158F6-BA75-7F34-1263-9EE66AC9CA69}"/>
              </a:ext>
            </a:extLst>
          </p:cNvPr>
          <p:cNvSpPr>
            <a:spLocks noGrp="1"/>
          </p:cNvSpPr>
          <p:nvPr>
            <p:ph type="title"/>
          </p:nvPr>
        </p:nvSpPr>
        <p:spPr>
          <a:xfrm>
            <a:off x="609600" y="274638"/>
            <a:ext cx="8049208" cy="1143000"/>
          </a:xfrm>
        </p:spPr>
        <p:txBody>
          <a:bodyPr>
            <a:normAutofit/>
          </a:bodyPr>
          <a:lstStyle/>
          <a:p>
            <a:pPr algn="just"/>
            <a:r>
              <a:rPr lang="es-MX" dirty="0"/>
              <a:t>Scrum</a:t>
            </a:r>
          </a:p>
        </p:txBody>
      </p:sp>
      <p:sp>
        <p:nvSpPr>
          <p:cNvPr id="3" name="Marcador de contenido 2">
            <a:extLst>
              <a:ext uri="{FF2B5EF4-FFF2-40B4-BE49-F238E27FC236}">
                <a16:creationId xmlns:a16="http://schemas.microsoft.com/office/drawing/2014/main" id="{0544BBF3-06A5-CFB7-548E-2575692676B7}"/>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72D66F48-62D3-1DD2-28A7-B2C66AECD394}"/>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1B1B102C-7918-881D-0BFD-DCB818E1C7F6}"/>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099361A9-23EA-4C4F-315B-C7971EB47173}"/>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396D1740-B7C3-E1BF-0E38-174DFF0047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59AE1C2D-2AA0-5F97-C9E5-C12D72BB68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1E96A5A4-94A8-435D-71C9-AC2C1C89EF03}"/>
              </a:ext>
            </a:extLst>
          </p:cNvPr>
          <p:cNvSpPr>
            <a:spLocks noGrp="1"/>
          </p:cNvSpPr>
          <p:nvPr>
            <p:ph idx="13"/>
          </p:nvPr>
        </p:nvSpPr>
        <p:spPr>
          <a:xfrm>
            <a:off x="609600" y="1600201"/>
            <a:ext cx="10213910" cy="4893576"/>
          </a:xfrm>
        </p:spPr>
        <p:txBody>
          <a:bodyPr>
            <a:normAutofit/>
          </a:bodyPr>
          <a:lstStyle/>
          <a:p>
            <a:pPr marL="0" indent="0">
              <a:buNone/>
            </a:pPr>
            <a:r>
              <a:rPr lang="es-MX" sz="2000" noProof="0" dirty="0"/>
              <a:t>Leer </a:t>
            </a:r>
            <a:r>
              <a:rPr lang="es-MX" sz="2000" dirty="0"/>
              <a:t>los 4 capítulos</a:t>
            </a:r>
            <a:r>
              <a:rPr lang="es-MX" sz="2000" noProof="0" dirty="0"/>
              <a:t> del libro </a:t>
            </a:r>
          </a:p>
          <a:p>
            <a:pPr marL="0" indent="0">
              <a:buNone/>
            </a:pPr>
            <a:r>
              <a:rPr lang="es-MX" sz="2000" dirty="0"/>
              <a:t>Control Lectura </a:t>
            </a:r>
            <a:r>
              <a:rPr lang="es-MX" sz="2000"/>
              <a:t>próxima clase</a:t>
            </a:r>
            <a:endParaRPr lang="es-MX" sz="2000" noProof="0" dirty="0"/>
          </a:p>
          <a:p>
            <a:pPr algn="just"/>
            <a:endParaRPr lang="es-CL" sz="2000" i="1" dirty="0"/>
          </a:p>
        </p:txBody>
      </p:sp>
    </p:spTree>
    <p:extLst>
      <p:ext uri="{BB962C8B-B14F-4D97-AF65-F5344CB8AC3E}">
        <p14:creationId xmlns:p14="http://schemas.microsoft.com/office/powerpoint/2010/main" val="2255706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a:extLst>
              <a:ext uri="{FF2B5EF4-FFF2-40B4-BE49-F238E27FC236}">
                <a16:creationId xmlns:a16="http://schemas.microsoft.com/office/drawing/2014/main" id="{8ADFA9A2-1A70-4586-A9E0-3C117E6A0C8C}"/>
              </a:ext>
            </a:extLst>
          </p:cNvPr>
          <p:cNvSpPr txBox="1">
            <a:spLocks noChangeArrowheads="1"/>
          </p:cNvSpPr>
          <p:nvPr/>
        </p:nvSpPr>
        <p:spPr bwMode="auto">
          <a:xfrm>
            <a:off x="3303402" y="5887325"/>
            <a:ext cx="6858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b="1" dirty="0">
                <a:solidFill>
                  <a:schemeClr val="bg1"/>
                </a:solidFill>
                <a:latin typeface="Arial" charset="0"/>
              </a:rPr>
              <a:t>ARICA - CHILE</a:t>
            </a:r>
            <a:endParaRPr lang="en-US" sz="2400" dirty="0">
              <a:solidFill>
                <a:schemeClr val="bg1"/>
              </a:solidFill>
              <a:latin typeface="Eurostile BoldExtendedTwo" charset="0"/>
            </a:endParaRPr>
          </a:p>
        </p:txBody>
      </p:sp>
      <p:pic>
        <p:nvPicPr>
          <p:cNvPr id="12" name="Imagen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8"/>
            <a:ext cx="12192000" cy="6430945"/>
          </a:xfrm>
          <a:prstGeom prst="rect">
            <a:avLst/>
          </a:prstGeom>
          <a:ln>
            <a:noFill/>
          </a:ln>
        </p:spPr>
      </p:pic>
      <p:sp>
        <p:nvSpPr>
          <p:cNvPr id="13" name="Rectangle 18">
            <a:extLst>
              <a:ext uri="{FF2B5EF4-FFF2-40B4-BE49-F238E27FC236}">
                <a16:creationId xmlns:a16="http://schemas.microsoft.com/office/drawing/2014/main" id="{996DAE91-E53D-4FFB-8098-8AFE46881F1D}"/>
              </a:ext>
            </a:extLst>
          </p:cNvPr>
          <p:cNvSpPr/>
          <p:nvPr/>
        </p:nvSpPr>
        <p:spPr>
          <a:xfrm flipV="1">
            <a:off x="1" y="13618"/>
            <a:ext cx="5972452" cy="6417325"/>
          </a:xfrm>
          <a:prstGeom prst="rect">
            <a:avLst/>
          </a:prstGeom>
          <a:gradFill>
            <a:gsLst>
              <a:gs pos="100000">
                <a:schemeClr val="accent1">
                  <a:lumMod val="5000"/>
                  <a:lumOff val="95000"/>
                  <a:alpha val="0"/>
                </a:schemeClr>
              </a:gs>
              <a:gs pos="32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angle 18">
            <a:extLst>
              <a:ext uri="{FF2B5EF4-FFF2-40B4-BE49-F238E27FC236}">
                <a16:creationId xmlns:a16="http://schemas.microsoft.com/office/drawing/2014/main" id="{996DAE91-E53D-4FFB-8098-8AFE46881F1D}"/>
              </a:ext>
            </a:extLst>
          </p:cNvPr>
          <p:cNvSpPr/>
          <p:nvPr/>
        </p:nvSpPr>
        <p:spPr>
          <a:xfrm flipV="1">
            <a:off x="1" y="5688710"/>
            <a:ext cx="12192000" cy="11699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7" name="Imagen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2402" y="2951018"/>
            <a:ext cx="4282247" cy="1496484"/>
          </a:xfrm>
          <a:prstGeom prst="rect">
            <a:avLst/>
          </a:prstGeom>
        </p:spPr>
      </p:pic>
      <p:pic>
        <p:nvPicPr>
          <p:cNvPr id="3" name="Imagen 2"/>
          <p:cNvPicPr>
            <a:picLocks noChangeAspect="1"/>
          </p:cNvPicPr>
          <p:nvPr/>
        </p:nvPicPr>
        <p:blipFill>
          <a:blip r:embed="rId5">
            <a:alphaModFix amt="31000"/>
            <a:extLst>
              <a:ext uri="{28A0092B-C50C-407E-A947-70E740481C1C}">
                <a14:useLocalDpi xmlns:a14="http://schemas.microsoft.com/office/drawing/2010/main" val="0"/>
              </a:ext>
            </a:extLst>
          </a:blip>
          <a:stretch>
            <a:fillRect/>
          </a:stretch>
        </p:blipFill>
        <p:spPr>
          <a:xfrm>
            <a:off x="0" y="2419690"/>
            <a:ext cx="5966423" cy="1621108"/>
          </a:xfrm>
          <a:prstGeom prst="rect">
            <a:avLst/>
          </a:prstGeom>
        </p:spPr>
      </p:pic>
      <p:pic>
        <p:nvPicPr>
          <p:cNvPr id="5" name="Imagen 4" descr="Interfaz de usuario gráfica, Aplicación&#10;&#10;Descripción generada automáticamente">
            <a:extLst>
              <a:ext uri="{FF2B5EF4-FFF2-40B4-BE49-F238E27FC236}">
                <a16:creationId xmlns:a16="http://schemas.microsoft.com/office/drawing/2014/main" id="{56F54D0E-9772-4A28-255B-A44403E3D9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3184" y="4230126"/>
            <a:ext cx="4060054" cy="1439894"/>
          </a:xfrm>
          <a:prstGeom prst="rect">
            <a:avLst/>
          </a:prstGeom>
        </p:spPr>
      </p:pic>
    </p:spTree>
    <p:extLst>
      <p:ext uri="{BB962C8B-B14F-4D97-AF65-F5344CB8AC3E}">
        <p14:creationId xmlns:p14="http://schemas.microsoft.com/office/powerpoint/2010/main" val="157956294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5916</TotalTime>
  <Words>1238</Words>
  <Application>Microsoft Office PowerPoint</Application>
  <PresentationFormat>Panorámica</PresentationFormat>
  <Paragraphs>127</Paragraphs>
  <Slides>16</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Eurostile BoldExtendedTwo</vt:lpstr>
      <vt:lpstr>Tema de Office</vt:lpstr>
      <vt:lpstr>Presentación de PowerPoint</vt:lpstr>
      <vt:lpstr>Índice de contenidos</vt:lpstr>
      <vt:lpstr>¿Qué es Agilidad? </vt:lpstr>
      <vt:lpstr>¿Qué es un Proceso Ágil?</vt:lpstr>
      <vt:lpstr>Agilidad y proceso</vt:lpstr>
      <vt:lpstr>12 principios de agilidad para aquellos que la quieran alcanzar:</vt:lpstr>
      <vt:lpstr>12 principios de agilidad para aquellos que la quieran alcanzar:</vt:lpstr>
      <vt:lpstr>Características de un equipo ágil</vt:lpstr>
      <vt:lpstr>Programación Extrema (XP)</vt:lpstr>
      <vt:lpstr>Programación Extrema XP</vt:lpstr>
      <vt:lpstr>Planeación</vt:lpstr>
      <vt:lpstr>Diseño</vt:lpstr>
      <vt:lpstr>Codificación</vt:lpstr>
      <vt:lpstr>Pruebas</vt:lpstr>
      <vt:lpstr>Scrum</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Diego</dc:creator>
  <cp:lastModifiedBy>Diego Supanta</cp:lastModifiedBy>
  <cp:revision>230</cp:revision>
  <dcterms:created xsi:type="dcterms:W3CDTF">2019-05-21T16:47:52Z</dcterms:created>
  <dcterms:modified xsi:type="dcterms:W3CDTF">2026-03-24T14:57:16Z</dcterms:modified>
</cp:coreProperties>
</file>