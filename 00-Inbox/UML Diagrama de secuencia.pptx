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40" r:id="rId2"/>
    <p:sldId id="335" r:id="rId3"/>
    <p:sldId id="375" r:id="rId4"/>
    <p:sldId id="373" r:id="rId5"/>
    <p:sldId id="374" r:id="rId6"/>
    <p:sldId id="376" r:id="rId7"/>
    <p:sldId id="377" r:id="rId8"/>
    <p:sldId id="363" r:id="rId9"/>
    <p:sldId id="378" r:id="rId10"/>
    <p:sldId id="320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rge Díaz Ramirez" initials="JDR" lastIdx="1" clrIdx="0">
    <p:extLst>
      <p:ext uri="{19B8F6BF-5375-455C-9EA6-DF929625EA0E}">
        <p15:presenceInfo xmlns:p15="http://schemas.microsoft.com/office/powerpoint/2012/main" userId="S::jdiazr@utaicin.onmicrosoft.com::24a050a3-dd5e-4216-aec0-1116f1ad97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8B"/>
    <a:srgbClr val="E59356"/>
    <a:srgbClr val="313967"/>
    <a:srgbClr val="21B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1" autoAdjust="0"/>
    <p:restoredTop sz="95154" autoAdjust="0"/>
  </p:normalViewPr>
  <p:slideViewPr>
    <p:cSldViewPr snapToGrid="0">
      <p:cViewPr varScale="1">
        <p:scale>
          <a:sx n="93" d="100"/>
          <a:sy n="93" d="100"/>
        </p:scale>
        <p:origin x="973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DEBD1-2A31-CD48-AEF6-F7D6115C2ADE}" type="datetimeFigureOut">
              <a:rPr lang="es-ES_tradnl" smtClean="0"/>
              <a:t>18/05/2025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C247B-BF22-8347-871C-504C859AB74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79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6536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77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7A2C1-9BE9-A1C4-9DF9-EBE897F6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B69360-87C5-8315-B622-08C72E95D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E82922-7D9A-9C1B-7210-22EB01623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76D445-D6B7-2D80-687F-84001CA5F5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15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A2F6-AFE6-6A95-959B-B84A88A9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4C3911B-AEBD-4263-D60D-BB8A7067E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B6F589-90C8-0425-9CBB-F398DD50A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4FDAA8-F129-37D1-DA9C-BFDD0A9E0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0568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506DA-99B2-45BE-684D-5CCD50B18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61F6AB-C209-D270-C222-DCEBEDF7E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D8314A-2B9E-EDEF-D2BB-0F83C1594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543697-42E6-480E-3B5C-E5B79D6C21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7569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4E7E5-5F77-72DD-FFFD-52109521A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576915C-66C4-CCCD-F033-3CDAA6739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78F5BD-7C77-79CF-BDCC-A672C9822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6A24FB-C6D9-FFA2-FC40-E94EFA0BAF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4499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 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662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FD61C-0A90-4B9A-A315-3352DD766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DF5D3-A263-4863-96AA-6D12D8E5C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12CE5-C309-4B2D-BD10-0B7E82AB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18-05-2025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1AD1E-A33A-461A-BED1-AAFF577C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513482-8FCA-43F3-ACFF-A812379D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148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6DE8B-6551-4B7F-B63E-815A6341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0A3D7-77B3-46D3-AE54-4F9D6BEA8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F2BFCD-DDD8-4F96-82E2-713C0873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18-05-2025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40AEEB-1DA1-4197-96DA-AD62BE8B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9690DF-3D9A-4C6A-AD36-5A24BB90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704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4D864-4966-49DA-B249-8501969A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3EA68D-43FF-4618-AB62-E544AE9DD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8C3B9-76FF-4222-99FB-9217B8D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18-05-2025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BA531C-D6D2-49A3-91F5-6D96EA9A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AA51F6-8B98-4630-BB14-C36D0F55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20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A0161-C576-4CEA-B1E9-8FA28523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9F4BF3-C1AF-4910-9597-5A55AC439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48A99F-4AD1-4C69-9A10-919EB711C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EB02A-C1AC-418C-A930-C585FF05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18-05-2025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74E7B3-D0B5-433B-857E-25A13C04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4B8614-7433-45BC-8EC8-56E68443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077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A9C18-7D1B-4166-9AEE-545CA176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F95075-0256-468A-AD8F-A1F61BD08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B9E5E0-11B2-4B05-8789-85B0EE1FE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901DD3-B34A-4DD8-97CA-E2987EF30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7AAD9E-A074-42CF-9F72-8E1E7DFC5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D3C18F-D681-4F6D-BE42-609E8839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18-05-2025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EC7256-E19E-4965-8F6B-EFBABFAB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4FF0C1-9153-4A2B-8E4F-F4152A4F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614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39F0E-B6B3-413D-B8D5-3EBC57D1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873099-B246-4157-B167-31A34CBF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18-05-2025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9BD8DC-CF8D-421C-B582-E2834B32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83B244-BE08-415F-A652-086EC5A8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03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583E29-A1E4-4FC8-B85D-6BE7C231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18-05-2025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6CF79B-BA17-4D6D-BA75-5945303F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90813B-FF99-42BE-A591-72FF118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257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F088D-2BE3-4F1B-987C-8B905E08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5BA28C-FB6A-486F-B219-12DC33399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3A24BF-DD2F-442E-BB2E-79EB05656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195DAA-3224-49BF-B596-C1113FBB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18-05-2025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C48EA5-0BD0-4552-BA61-0390B0F0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22A88C-7103-4730-8BB6-AF641F0D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425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E449A-69B1-4F86-96DA-B146C800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1A6C1D-C402-4DEF-8993-5ADD947C4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3F710F-DB16-4B8C-AD3D-F16A5E7BE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293B3C-6CA9-4BD6-91F2-9DBFEA73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18-05-2025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81912F-C394-4F33-9CE7-44AD534C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308917-DFFC-4144-833E-8D05F22B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836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03DF0-44BB-459D-A838-EF8CDA87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7B1C5A-66F0-408C-BC62-0DA1AFF38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D2308-48DE-4E9C-9E15-BEFCC70A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18-05-2025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30F8CE-545A-4BD0-895C-230FB50B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A02F44-FB0E-4A1A-80B4-D8CEC3A2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741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80EC09-2B9E-40D2-93FB-147D12F01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58EEA2-F90F-4403-88FA-A9DF1626D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1CCB10-1A32-4DA2-B6B5-FCD7DDDC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18-05-2025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64AA77-03F2-4456-AA16-C71D986C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0BDE9E-A2E7-4823-88CC-A641B66D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566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18/05/2025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contenido 2"/>
          <p:cNvSpPr>
            <a:spLocks noGrp="1"/>
          </p:cNvSpPr>
          <p:nvPr>
            <p:ph idx="13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buClr>
                <a:srgbClr val="C00000"/>
              </a:buClr>
              <a:defRPr sz="2800"/>
            </a:lvl1pPr>
            <a:lvl2pPr>
              <a:buClr>
                <a:srgbClr val="C00000"/>
              </a:buClr>
              <a:defRPr sz="2400"/>
            </a:lvl2pPr>
            <a:lvl3pPr>
              <a:buClr>
                <a:srgbClr val="C00000"/>
              </a:buClr>
              <a:defRPr sz="2000"/>
            </a:lvl3pPr>
            <a:lvl4pPr>
              <a:buClr>
                <a:srgbClr val="C00000"/>
              </a:buClr>
              <a:defRPr sz="1800"/>
            </a:lvl4pPr>
            <a:lvl5pPr>
              <a:buClr>
                <a:srgbClr val="C0000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106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409B45-06C2-4FB9-B509-A3427AB2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9B8760-EA6E-4D6E-B268-4352C5049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8343C-E792-4C94-A41E-2EF624E8F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9C6B0-6393-4131-9540-C068361BDDD0}" type="datetimeFigureOut">
              <a:rPr lang="es-CL" smtClean="0"/>
              <a:t>18-05-2025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AAD5A-6B54-414C-9F0A-B594F6AC7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33233-6333-443C-BD19-C54F679A2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2743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83" y="2826327"/>
            <a:ext cx="10875818" cy="2227783"/>
          </a:xfrm>
          <a:prstGeom prst="rect">
            <a:avLst/>
          </a:prstGeom>
        </p:spPr>
      </p:pic>
      <p:sp>
        <p:nvSpPr>
          <p:cNvPr id="10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-16914"/>
            <a:ext cx="12192000" cy="354751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01" y="5803165"/>
            <a:ext cx="2745501" cy="9409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3477"/>
            <a:ext cx="12192000" cy="331262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0600"/>
            <a:ext cx="3393948" cy="33274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5" y="1073299"/>
            <a:ext cx="2672079" cy="93379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050420"/>
            <a:ext cx="5303520" cy="281940"/>
          </a:xfrm>
          <a:prstGeom prst="rect">
            <a:avLst/>
          </a:prstGeom>
        </p:spPr>
      </p:pic>
      <p:pic>
        <p:nvPicPr>
          <p:cNvPr id="3" name="Imagen 2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5B34141F-EC2F-144F-8268-7D4182D95A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054" y="5356904"/>
            <a:ext cx="2971800" cy="10795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2FC531-FC77-0243-AE81-8F245A6FA785}"/>
              </a:ext>
            </a:extLst>
          </p:cNvPr>
          <p:cNvSpPr txBox="1"/>
          <p:nvPr/>
        </p:nvSpPr>
        <p:spPr>
          <a:xfrm>
            <a:off x="8616096" y="6468320"/>
            <a:ext cx="3498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rgbClr val="004C8B"/>
                </a:solidFill>
              </a:rPr>
              <a:t>INGENIERÍA CIVIL EN INFORMÁTICA</a:t>
            </a:r>
          </a:p>
        </p:txBody>
      </p:sp>
    </p:spTree>
    <p:extLst>
      <p:ext uri="{BB962C8B-B14F-4D97-AF65-F5344CB8AC3E}">
        <p14:creationId xmlns:p14="http://schemas.microsoft.com/office/powerpoint/2010/main" val="208229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171"/>
            <a:ext cx="12192000" cy="6890172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673" y="1073299"/>
            <a:ext cx="2672079" cy="93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CDB9F-67D5-C650-4F03-3371B694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C6EDD-E6FC-B5DB-D465-C228471BF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dirty="0"/>
              <a:t>Diagrama de secuencia</a:t>
            </a:r>
            <a:endParaRPr lang="es-CL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F55B4DE5-40D4-2B10-5CCB-8022BCCC2D11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75BDB44-9E6F-F6B6-873B-7B3BEC531B3B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CBE4157-EDDA-DA8F-D77F-F7AE9AA9CEE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9CA93F0E-614E-D21E-2BA0-1BD17D1BD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18B9C2A-F997-70F7-B84E-86813681C3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88B1CCFF-6AC8-90D9-5F18-E1C24146726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/>
          <a:lstStyle/>
          <a:p>
            <a:pPr algn="just"/>
            <a:r>
              <a:rPr lang="es-MX" dirty="0"/>
              <a:t>Un diagrama de secuencia es un tipo de diagrama UML que muestra cómo los objetos interactúan entre sí a lo largo del tiempo para llevar a cabo un proceso o un caso de uso específico.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6146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7D60B-5D82-0561-94FB-FBC52690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AD14-F048-9539-BC4C-E9D7941F0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CL" dirty="0"/>
              <a:t>¿Para qué se usa?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DB746DCD-7B19-CE06-73A4-75A312D525B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D6F5218-5639-5C07-486C-A62ACBE91187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9B65D0C-ECF1-61CA-8DCD-A60CA6AC7667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6A9DC28B-71B4-E067-3349-800F49AF1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A761C5B-899F-3604-74BD-ECF7D38EA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8AB1E1D2-26B1-BD87-5841-63BC2AEA2F9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s-MX" dirty="0"/>
              <a:t>Para visualizar la secuencia de mensajes (llamadas de métodos, respuestas, etc.) entre objetos o componentes.</a:t>
            </a:r>
          </a:p>
          <a:p>
            <a:r>
              <a:rPr lang="es-MX" dirty="0"/>
              <a:t>Para detallar el flujo de ejecución paso a paso de un escenario.</a:t>
            </a:r>
          </a:p>
          <a:p>
            <a:r>
              <a:rPr lang="es-MX" dirty="0"/>
              <a:t>Para entender el comportamiento dinámico del sistema.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1234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0BA62-0592-9E4B-9F68-FCF9290E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ED5C5-B9B8-B150-3526-A17DAA072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dirty="0"/>
              <a:t>Elementos principales</a:t>
            </a:r>
            <a:endParaRPr lang="es-CL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0D26DCAC-C851-6BBC-321A-BF94D33D70C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C48F33A-0E36-4D5F-2191-7CA65BDDD7D8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799968F0-F54E-95D4-517A-C4E2D6752B0D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4ED475B4-C1D9-6316-595B-218527C26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6B74E58-2D1B-E6DF-5C6B-F36A91102E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D10EA8B-2888-7DD9-3D23-9ED72AFA73FC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677485679"/>
              </p:ext>
            </p:extLst>
          </p:nvPr>
        </p:nvGraphicFramePr>
        <p:xfrm>
          <a:off x="838200" y="2217261"/>
          <a:ext cx="10515600" cy="246888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810069">
                  <a:extLst>
                    <a:ext uri="{9D8B030D-6E8A-4147-A177-3AD203B41FA5}">
                      <a16:colId xmlns:a16="http://schemas.microsoft.com/office/drawing/2014/main" val="3337429769"/>
                    </a:ext>
                  </a:extLst>
                </a:gridCol>
                <a:gridCol w="7705531">
                  <a:extLst>
                    <a:ext uri="{9D8B030D-6E8A-4147-A177-3AD203B41FA5}">
                      <a16:colId xmlns:a16="http://schemas.microsoft.com/office/drawing/2014/main" val="4341208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b="1" i="1" dirty="0"/>
                        <a:t>Elemento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b="1" i="1" dirty="0"/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27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b="0" i="1" dirty="0"/>
                        <a:t>Actores / Objetos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Entidades que participan (usuario, sistema, clases,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083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b="0" i="1" dirty="0"/>
                        <a:t>Líneas de vida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Línea vertical que representa la existencia del objeto durante la interacción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217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b="0" i="1"/>
                        <a:t>Mensajes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Flechas que indican llamadas a métodos o respuestas entre objetos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0168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b="0" i="1"/>
                        <a:t>Bloques de activación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Rectángulos delgados sobre la línea de vida que indican cuándo un objeto está activo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704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b="0" i="1" dirty="0"/>
                        <a:t>Tiempo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Fluye de arriba hacia abajo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880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709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A2176-8228-55A9-3E05-FD87F95CE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2">
            <a:extLst>
              <a:ext uri="{FF2B5EF4-FFF2-40B4-BE49-F238E27FC236}">
                <a16:creationId xmlns:a16="http://schemas.microsoft.com/office/drawing/2014/main" id="{DBAF0B4A-8D5C-DC6A-4CEB-4174AC7757A7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EF7FD12-D7E9-A610-8E57-444FEE894B29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D49DDDB-620E-05C8-BEE1-757D0524C7AE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86C772EC-9AC2-D56C-5860-37C1876E4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460C624-DD25-9681-A372-F78E8946D5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2E3B80A-88C3-3977-4E09-60D36F9BDB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432" y="857250"/>
            <a:ext cx="62484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75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93808-887F-CC86-936F-3DF5B6C47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396A7-E908-E51C-9672-1D3AA664B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grpSp>
        <p:nvGrpSpPr>
          <p:cNvPr id="6" name="Agrupar 2">
            <a:extLst>
              <a:ext uri="{FF2B5EF4-FFF2-40B4-BE49-F238E27FC236}">
                <a16:creationId xmlns:a16="http://schemas.microsoft.com/office/drawing/2014/main" id="{9A9FBA61-8549-A512-236A-C97428383548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5496E8F-0034-8B2C-A651-23212206EBE9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D49CF2F-00D0-29E9-255E-2EA9B825D47A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B62B826A-5A9E-D2E5-8AA5-25FAEFCE7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4EA88D9-1B5B-BC80-D929-566066324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C9024258-D2D0-FA2A-DC23-9688C21E9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107457"/>
              </p:ext>
            </p:extLst>
          </p:nvPr>
        </p:nvGraphicFramePr>
        <p:xfrm>
          <a:off x="1831004" y="1779995"/>
          <a:ext cx="7686220" cy="4060480"/>
        </p:xfrm>
        <a:graphic>
          <a:graphicData uri="http://schemas.openxmlformats.org/drawingml/2006/table">
            <a:tbl>
              <a:tblPr firstRow="1" firstCol="1" bandRow="1" bandCol="1">
                <a:tableStyleId>{5A111915-BE36-4E01-A7E5-04B1672EAD32}</a:tableStyleId>
              </a:tblPr>
              <a:tblGrid>
                <a:gridCol w="1138544">
                  <a:extLst>
                    <a:ext uri="{9D8B030D-6E8A-4147-A177-3AD203B41FA5}">
                      <a16:colId xmlns:a16="http://schemas.microsoft.com/office/drawing/2014/main" val="89709439"/>
                    </a:ext>
                  </a:extLst>
                </a:gridCol>
                <a:gridCol w="865333">
                  <a:extLst>
                    <a:ext uri="{9D8B030D-6E8A-4147-A177-3AD203B41FA5}">
                      <a16:colId xmlns:a16="http://schemas.microsoft.com/office/drawing/2014/main" val="1847775132"/>
                    </a:ext>
                  </a:extLst>
                </a:gridCol>
                <a:gridCol w="2293154">
                  <a:extLst>
                    <a:ext uri="{9D8B030D-6E8A-4147-A177-3AD203B41FA5}">
                      <a16:colId xmlns:a16="http://schemas.microsoft.com/office/drawing/2014/main" val="3844594221"/>
                    </a:ext>
                  </a:extLst>
                </a:gridCol>
                <a:gridCol w="3389189">
                  <a:extLst>
                    <a:ext uri="{9D8B030D-6E8A-4147-A177-3AD203B41FA5}">
                      <a16:colId xmlns:a16="http://schemas.microsoft.com/office/drawing/2014/main" val="1202916188"/>
                    </a:ext>
                  </a:extLst>
                </a:gridCol>
              </a:tblGrid>
              <a:tr h="204437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</a:rPr>
                        <a:t>CU-03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</a:rPr>
                        <a:t>Buscar libro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396947"/>
                  </a:ext>
                </a:extLst>
              </a:tr>
              <a:tr h="383391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</a:rPr>
                        <a:t>Descripción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</a:rPr>
                        <a:t>Sistema deberá permitir al usuario pueda </a:t>
                      </a:r>
                      <a:r>
                        <a:rPr lang="es-MX" sz="1400" dirty="0"/>
                        <a:t>buscar libros por título, autor o categoría</a:t>
                      </a:r>
                      <a:r>
                        <a:rPr lang="es-ES" sz="1400" dirty="0">
                          <a:effectLst/>
                        </a:rPr>
                        <a:t>, según se describe en el siguiente caso de uso: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013489"/>
                  </a:ext>
                </a:extLst>
              </a:tr>
              <a:tr h="432150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>
                          <a:effectLst/>
                        </a:rPr>
                        <a:t>Precondición</a:t>
                      </a:r>
                      <a:endParaRPr lang="es-CL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lnSpc>
                          <a:spcPts val="12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s-ES" sz="1400" dirty="0">
                          <a:effectLst/>
                        </a:rPr>
                        <a:t>El usuario debe estar </a:t>
                      </a:r>
                      <a:r>
                        <a:rPr lang="es-ES" sz="1400" dirty="0" err="1">
                          <a:effectLst/>
                        </a:rPr>
                        <a:t>logueado</a:t>
                      </a:r>
                      <a:r>
                        <a:rPr lang="es-ES" sz="1400" dirty="0">
                          <a:effectLst/>
                        </a:rPr>
                        <a:t> en el sistema</a:t>
                      </a:r>
                      <a:endParaRPr lang="es-CL" sz="1400" dirty="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12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s-ES" sz="1400" dirty="0">
                          <a:effectLst/>
                        </a:rPr>
                        <a:t>Seleccionar una opción “titulo”, “autor” o “categoría”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531578"/>
                  </a:ext>
                </a:extLst>
              </a:tr>
              <a:tr h="199395">
                <a:tc rowSpan="4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</a:rPr>
                        <a:t>Secuencia Normal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buNone/>
                      </a:pPr>
                      <a:r>
                        <a:rPr lang="es-ES" sz="1400" b="1">
                          <a:effectLst/>
                        </a:rPr>
                        <a:t>Paso </a:t>
                      </a:r>
                      <a:endParaRPr lang="es-CL" sz="14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buNone/>
                      </a:pPr>
                      <a:r>
                        <a:rPr lang="es-ES" sz="1400" b="1" dirty="0">
                          <a:effectLst/>
                        </a:rPr>
                        <a:t>Acción</a:t>
                      </a:r>
                      <a:endParaRPr lang="es-CL" sz="14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>
                          <a:effectLst/>
                        </a:rPr>
                        <a:t>Acción</a:t>
                      </a:r>
                      <a:endParaRPr lang="es-CL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extLst>
                  <a:ext uri="{0D108BD9-81ED-4DB2-BD59-A6C34878D82A}">
                    <a16:rowId xmlns:a16="http://schemas.microsoft.com/office/drawing/2014/main" val="222047785"/>
                  </a:ext>
                </a:extLst>
              </a:tr>
              <a:tr h="19939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  <a:latin typeface="+mn-lt"/>
                        </a:rPr>
                        <a:t>1</a:t>
                      </a:r>
                      <a:endParaRPr lang="es-CL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s-MX" sz="1400" dirty="0">
                          <a:latin typeface="+mn-lt"/>
                        </a:rPr>
                        <a:t>El usuario ingresa un texto de búsqueda</a:t>
                      </a:r>
                      <a:endParaRPr lang="es-CL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>
                          <a:effectLst/>
                        </a:rPr>
                        <a:t>Sistema: Despliega niveles</a:t>
                      </a:r>
                      <a:endParaRPr lang="es-CL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extLst>
                  <a:ext uri="{0D108BD9-81ED-4DB2-BD59-A6C34878D82A}">
                    <a16:rowId xmlns:a16="http://schemas.microsoft.com/office/drawing/2014/main" val="1808089381"/>
                  </a:ext>
                </a:extLst>
              </a:tr>
              <a:tr h="19939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buNone/>
                      </a:pPr>
                      <a:r>
                        <a:rPr lang="es-MX" sz="14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</a:t>
                      </a:r>
                      <a:endParaRPr lang="es-CL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s-MX" sz="14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El usuario debe presionar el botón buscar</a:t>
                      </a:r>
                      <a:endParaRPr lang="es-CL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993976"/>
                  </a:ext>
                </a:extLst>
              </a:tr>
              <a:tr h="19939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</a:t>
                      </a:r>
                      <a:endParaRPr lang="es-CL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+mn-lt"/>
                        </a:rPr>
                        <a:t>El sistema valida que se haya ingresado al menos un texto de búsqueda.</a:t>
                      </a:r>
                      <a:endParaRPr lang="es-CL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</a:rPr>
                        <a:t>Selecciona Nivel Universidad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extLst>
                  <a:ext uri="{0D108BD9-81ED-4DB2-BD59-A6C34878D82A}">
                    <a16:rowId xmlns:a16="http://schemas.microsoft.com/office/drawing/2014/main" val="1773712937"/>
                  </a:ext>
                </a:extLst>
              </a:tr>
              <a:tr h="199395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buNone/>
                      </a:pPr>
                      <a:r>
                        <a:rPr lang="es-MX" sz="14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</a:t>
                      </a:r>
                      <a:endParaRPr lang="es-CL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s-MX" sz="1400" dirty="0">
                          <a:latin typeface="+mn-lt"/>
                        </a:rPr>
                        <a:t>El sistema consulta la base de datos según el texto ingresado</a:t>
                      </a:r>
                      <a:endParaRPr lang="es-CL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069454"/>
                  </a:ext>
                </a:extLst>
              </a:tr>
              <a:tr h="199395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buNone/>
                      </a:pPr>
                      <a:r>
                        <a:rPr lang="es-MX" sz="14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5</a:t>
                      </a:r>
                      <a:endParaRPr lang="es-CL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s-MX" sz="14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El sistema devuelve el resultado de la consulta al usuario</a:t>
                      </a:r>
                      <a:endParaRPr lang="es-CL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680333"/>
                  </a:ext>
                </a:extLst>
              </a:tr>
              <a:tr h="322600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>
                          <a:effectLst/>
                        </a:rPr>
                        <a:t>Postcondición</a:t>
                      </a:r>
                      <a:endParaRPr lang="es-CL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</a:rPr>
                        <a:t>Al término del proceso el sistema cargará los datos de libros obtenidos y los mostrará en una tabla al usuario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790690"/>
                  </a:ext>
                </a:extLst>
              </a:tr>
              <a:tr h="199395">
                <a:tc rowSpan="2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>
                          <a:effectLst/>
                        </a:rPr>
                        <a:t>Excepciones</a:t>
                      </a:r>
                      <a:endParaRPr lang="es-CL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</a:rPr>
                        <a:t>Paso 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buNone/>
                      </a:pPr>
                      <a:endParaRPr lang="es-CL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>
                          <a:effectLst/>
                        </a:rPr>
                        <a:t>Acción</a:t>
                      </a:r>
                      <a:endParaRPr lang="es-CL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extLst>
                  <a:ext uri="{0D108BD9-81ED-4DB2-BD59-A6C34878D82A}">
                    <a16:rowId xmlns:a16="http://schemas.microsoft.com/office/drawing/2014/main" val="3194761317"/>
                  </a:ext>
                </a:extLst>
              </a:tr>
              <a:tr h="318566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buNone/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buNone/>
                      </a:pPr>
                      <a:endParaRPr lang="es-CL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</a:rPr>
                        <a:t>En caso de haber ingresado texto al campo de búsqueda, debe mostrar un mensaje de error al usuario.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extLst>
                  <a:ext uri="{0D108BD9-81ED-4DB2-BD59-A6C34878D82A}">
                    <a16:rowId xmlns:a16="http://schemas.microsoft.com/office/drawing/2014/main" val="3687874786"/>
                  </a:ext>
                </a:extLst>
              </a:tr>
              <a:tr h="204437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>
                          <a:effectLst/>
                        </a:rPr>
                        <a:t>Comentarios</a:t>
                      </a:r>
                      <a:endParaRPr lang="es-CL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911106"/>
                  </a:ext>
                </a:extLst>
              </a:tr>
              <a:tr h="217690">
                <a:tc rowSpan="3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>
                          <a:effectLst/>
                        </a:rPr>
                        <a:t>Historial:</a:t>
                      </a:r>
                      <a:endParaRPr lang="es-CL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</a:rPr>
                        <a:t>Analista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endParaRPr lang="es-CL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</a:rPr>
                        <a:t>Fecha</a:t>
                      </a:r>
                      <a:endParaRPr lang="es-CL" sz="1400"/>
                    </a:p>
                  </a:txBody>
                  <a:tcPr marL="20806" marR="20806" marT="0" marB="0" anchor="ctr"/>
                </a:tc>
                <a:extLst>
                  <a:ext uri="{0D108BD9-81ED-4DB2-BD59-A6C34878D82A}">
                    <a16:rowId xmlns:a16="http://schemas.microsoft.com/office/drawing/2014/main" val="1784365616"/>
                  </a:ext>
                </a:extLst>
              </a:tr>
              <a:tr h="21769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 dirty="0">
                          <a:effectLst/>
                        </a:rPr>
                        <a:t>Nombre del analista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endParaRPr lang="es-CL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02/05/2025</a:t>
                      </a:r>
                      <a:endParaRPr lang="es-CL" sz="1400" dirty="0"/>
                    </a:p>
                  </a:txBody>
                  <a:tcPr marL="20806" marR="20806" marT="0" marB="0" anchor="ctr"/>
                </a:tc>
                <a:extLst>
                  <a:ext uri="{0D108BD9-81ED-4DB2-BD59-A6C34878D82A}">
                    <a16:rowId xmlns:a16="http://schemas.microsoft.com/office/drawing/2014/main" val="1220383391"/>
                  </a:ext>
                </a:extLst>
              </a:tr>
              <a:tr h="21769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CL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buNone/>
                      </a:pPr>
                      <a:endParaRPr lang="es-CL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0806" marR="20806" marT="0" marB="0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CL" sz="1400" dirty="0"/>
                    </a:p>
                  </a:txBody>
                  <a:tcPr marL="20806" marR="20806" marT="0" marB="0" anchor="ctr"/>
                </a:tc>
                <a:extLst>
                  <a:ext uri="{0D108BD9-81ED-4DB2-BD59-A6C34878D82A}">
                    <a16:rowId xmlns:a16="http://schemas.microsoft.com/office/drawing/2014/main" val="3373680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82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850D2-3932-2A70-08B4-3C8149E8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grpSp>
        <p:nvGrpSpPr>
          <p:cNvPr id="6" name="Agrupar 2">
            <a:extLst>
              <a:ext uri="{FF2B5EF4-FFF2-40B4-BE49-F238E27FC236}">
                <a16:creationId xmlns:a16="http://schemas.microsoft.com/office/drawing/2014/main" id="{A2CE896D-F1E3-41DC-B00B-88EC48E988F8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A1079FA-6249-4C85-B136-9D7C7C50E2C7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56DE893-BC9A-4062-B2C1-78236DD347BC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29729EBC-000A-4213-BCB8-673594304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851D28B-277D-402D-AE6A-72AA2A26A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C6BDE4A-AA2B-CEC1-7804-B92A03CD1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968" y="1632222"/>
            <a:ext cx="6806832" cy="435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1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5F8CA-2F74-C68F-3FC5-B9E28A5A2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C1111-B3AE-AD07-C5ED-4858756E6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Actividad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5825BB-0FF5-3396-E194-9B0849EF5B6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s-MX" dirty="0"/>
              <a:t>Crear el diagrama de secuencia para cada requerimiento.</a:t>
            </a:r>
            <a:endParaRPr lang="es-CL" dirty="0"/>
          </a:p>
        </p:txBody>
      </p:sp>
      <p:grpSp>
        <p:nvGrpSpPr>
          <p:cNvPr id="6" name="Agrupar 2">
            <a:extLst>
              <a:ext uri="{FF2B5EF4-FFF2-40B4-BE49-F238E27FC236}">
                <a16:creationId xmlns:a16="http://schemas.microsoft.com/office/drawing/2014/main" id="{7826D3FF-2F3D-0E39-D26A-8CEB59E07122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E7AB6AD-CDE3-8748-410D-623956AD5BFA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211C03C9-61E5-7C3B-B7EF-969317654B9D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3C5C6AF5-DB4D-571C-652C-1A08A8D27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6EFAA28-BA19-8B12-51E7-AA31E6B61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93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8"/>
            <a:ext cx="12192000" cy="6430945"/>
          </a:xfrm>
          <a:prstGeom prst="rect">
            <a:avLst/>
          </a:prstGeom>
          <a:ln>
            <a:noFill/>
          </a:ln>
        </p:spPr>
      </p:pic>
      <p:sp>
        <p:nvSpPr>
          <p:cNvPr id="13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13618"/>
            <a:ext cx="5972452" cy="6417325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32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5688710"/>
            <a:ext cx="12192000" cy="11699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402" y="2951018"/>
            <a:ext cx="4282247" cy="149648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690"/>
            <a:ext cx="5966423" cy="1621108"/>
          </a:xfrm>
          <a:prstGeom prst="rect">
            <a:avLst/>
          </a:prstGeom>
        </p:spPr>
      </p:pic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6F54D0E-9772-4A28-255B-A44403E3D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84" y="4230126"/>
            <a:ext cx="4060054" cy="143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62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3484</TotalTime>
  <Words>375</Words>
  <Application>Microsoft Office PowerPoint</Application>
  <PresentationFormat>Panorámica</PresentationFormat>
  <Paragraphs>72</Paragraphs>
  <Slides>10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Eurostile BoldExtendedTwo</vt:lpstr>
      <vt:lpstr>Symbol</vt:lpstr>
      <vt:lpstr>Tema de Office</vt:lpstr>
      <vt:lpstr>Presentación de PowerPoint</vt:lpstr>
      <vt:lpstr>Presentación de PowerPoint</vt:lpstr>
      <vt:lpstr>Diagrama de secuencia</vt:lpstr>
      <vt:lpstr>¿Para qué se usa?</vt:lpstr>
      <vt:lpstr>Elementos principales</vt:lpstr>
      <vt:lpstr>Presentación de PowerPoint</vt:lpstr>
      <vt:lpstr>Presentación de PowerPoint</vt:lpstr>
      <vt:lpstr>Presentación de PowerPoint</vt:lpstr>
      <vt:lpstr>Actividad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Alejandro Rodriguez</dc:creator>
  <cp:lastModifiedBy>Diego Supanta</cp:lastModifiedBy>
  <cp:revision>221</cp:revision>
  <dcterms:created xsi:type="dcterms:W3CDTF">2019-05-21T16:47:52Z</dcterms:created>
  <dcterms:modified xsi:type="dcterms:W3CDTF">2025-05-18T21:08:09Z</dcterms:modified>
</cp:coreProperties>
</file>