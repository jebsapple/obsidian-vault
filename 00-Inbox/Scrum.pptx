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40" r:id="rId2"/>
    <p:sldId id="335" r:id="rId3"/>
    <p:sldId id="260" r:id="rId4"/>
    <p:sldId id="364" r:id="rId5"/>
    <p:sldId id="365" r:id="rId6"/>
    <p:sldId id="366" r:id="rId7"/>
    <p:sldId id="367" r:id="rId8"/>
    <p:sldId id="368" r:id="rId9"/>
    <p:sldId id="369" r:id="rId10"/>
    <p:sldId id="374" r:id="rId11"/>
    <p:sldId id="370" r:id="rId12"/>
    <p:sldId id="371" r:id="rId13"/>
    <p:sldId id="372" r:id="rId14"/>
    <p:sldId id="373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3" r:id="rId23"/>
    <p:sldId id="320" r:id="rId2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rge Díaz Ramirez" initials="JDR" lastIdx="1" clrIdx="0">
    <p:extLst>
      <p:ext uri="{19B8F6BF-5375-455C-9EA6-DF929625EA0E}">
        <p15:presenceInfo xmlns:p15="http://schemas.microsoft.com/office/powerpoint/2012/main" userId="S::jdiazr@utaicin.onmicrosoft.com::24a050a3-dd5e-4216-aec0-1116f1ad97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8B"/>
    <a:srgbClr val="E59356"/>
    <a:srgbClr val="313967"/>
    <a:srgbClr val="21B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91" autoAdjust="0"/>
    <p:restoredTop sz="95154" autoAdjust="0"/>
  </p:normalViewPr>
  <p:slideViewPr>
    <p:cSldViewPr snapToGrid="0">
      <p:cViewPr varScale="1">
        <p:scale>
          <a:sx n="93" d="100"/>
          <a:sy n="93" d="100"/>
        </p:scale>
        <p:origin x="973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9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DEBD1-2A31-CD48-AEF6-F7D6115C2ADE}" type="datetimeFigureOut">
              <a:rPr lang="es-ES_tradnl" smtClean="0"/>
              <a:t>25/03/2025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C247B-BF22-8347-871C-504C859AB74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799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56536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77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1419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36AA2-A664-7EA2-C66B-22D6114D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C251E9D-57F0-C87D-E4AD-441EAF9B9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7991D43-7B08-09B2-D4E5-30DAF0EE7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7474D4-F647-82BE-7F53-A1501E095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7670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024A6-51D8-B03E-E100-3D9219014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AD0B567-4E72-E300-B8BD-27A42CCE0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E6618A7-190A-277A-F8F3-87AC267BA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2FD493-B2FC-150B-B30F-F63BF8A6E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9346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DEB1-781A-958D-7BE6-E8C12A64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1B827F-A272-EEB9-8ECD-D5668C458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BB2C567-A21B-EB86-1363-1CE7C6492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F6553C-76A6-95EC-A876-4EF0CE60E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8825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30EF5-7523-9E5D-73DA-2AEA60160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E71C600-BC38-B7E2-ED48-344552D3E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D6E8FF-BD76-F21A-68C2-0055AFD9B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85E17B-1EBC-FFBA-2067-60E26F47A9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6502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71DBA-F82A-32AA-5C92-DEF4DC20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52088CB-E97D-F469-8B4C-9C558EA2D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3665CC-A8CB-5545-5742-FF80B5638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C5B11A-A0F1-6AFB-5346-89C18EBCE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716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3A58B-52F5-5FCF-FCD0-5596CBEE9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98C0D9F-710C-BA17-E854-0436D7B02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9346EB-F081-9390-E931-AC9ACB035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8E03AD-EE11-2A41-5820-1825AC6F61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0316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5D0F-68FC-7BD0-97F9-BC1F5346B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CB97AF5-8B16-6FB3-BA06-A6D95B2EC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EB8C108-CC22-27E0-A4DC-5A70DBF98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18F801-F261-9B71-B093-1D1272B043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9116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E115D-5D27-F764-57B1-C0061BC7C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04379BE-6249-2438-70BA-1D2109665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6788617-6C57-FAB1-F194-0FA8C6C00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520558-05C9-9254-8D9A-3FA82A2ED8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2962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907E4-2B79-A340-13F4-55A8695F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F4C686-E56F-9AE9-4DA3-F6FBF6B48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54ADD31-C61D-2706-3932-F3D42F8D1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4E615D-1F0F-3AB1-80A4-1BE6A93B3A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9341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318A3-8C6E-3ED6-D928-A445C39DE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16901B4-7C5D-F5A5-902A-9C72A24AE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C1DCDA1-A1E8-F014-37DC-BAFEAD650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EB05A6-C566-5B84-B229-21B2A387C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5680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D0D43-2C5C-6EF8-8017-B8636598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BDF43A-C1F3-627D-E420-435EAEC3C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A70B0FF-F6AB-8DA3-F181-1E1E80C32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8A26D0-FF73-DB3C-5224-B7BA707BCE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04949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24684-0093-7052-37E6-5E76B5B6A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7B6433-3560-AB5F-F71E-A5A2FE447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B8EA257-5E34-5782-561A-F9ECFDEF9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0F55DD-41AD-3A7A-EB13-193429EC84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89453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523F4-FA42-E88C-2E10-A0FFCEA77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DAFCFD7-941C-2ADA-5CBC-2E496C386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71B223D-8DE2-7C82-E3D4-493CAAA7C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23440D-88BD-E4BE-45B6-F0980F239B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4953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E88E0-4B9B-E19C-32EB-4F5D8535F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EF230E-4E09-434A-FD0C-63B46C7A6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FCF13AF-E444-5C6E-B042-F647DA732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EB72EA-9633-7ABC-BFE6-2F71BB2FBF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6999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EC7C8-6365-F4E0-DB94-F2E404C4A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3F126D-C8F6-E1BB-A61C-CB7F220B2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26BFEB5-F904-3569-50F2-92A089B1E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835E49-C0B9-D24E-2115-B5BD8756AC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4485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C6535-0A1D-7C58-2B0F-25D7D0C55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967842-7CA9-6E5B-36B3-058CD0B13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C857C4B-4B67-D690-E647-0A4C7795D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C01EA6-4C29-CEC7-BAEC-72913BF6C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90555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941F5-89AB-194B-A7DA-A6C277F64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99D19BC-7C48-384D-6333-339D7FA47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A65A1A3-9549-3BFB-AFC7-1A1F99FC2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33FFCC-7FDE-BB07-D944-B1C86FFFCF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04033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40D4-D70F-ABD4-1CCC-5291AFE78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705054-04D4-C964-8F7E-51D53B204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4F287A-FE6E-9B26-29C8-E9A1CD21A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D9BE22-0C62-46D9-5DC8-CD4ACC6D71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617250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3CC61-0CFA-4153-BB09-812B6001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6AABB91-52EA-67F0-8053-1E76DC325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E20ADDA-E537-89C4-EBCD-01BAFDB88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451DB1-84C3-06E5-62AE-7427A105A2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09204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 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23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6625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FD61C-0A90-4B9A-A315-3352DD766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DF5D3-A263-4863-96AA-6D12D8E5C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F12CE5-C309-4B2D-BD10-0B7E82AB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25-03-2025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1AD1E-A33A-461A-BED1-AAFF577C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513482-8FCA-43F3-ACFF-A812379D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148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6DE8B-6551-4B7F-B63E-815A6341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0A3D7-77B3-46D3-AE54-4F9D6BEA8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F2BFCD-DDD8-4F96-82E2-713C0873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25-03-2025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40AEEB-1DA1-4197-96DA-AD62BE8B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9690DF-3D9A-4C6A-AD36-5A24BB90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704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4D864-4966-49DA-B249-8501969A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3EA68D-43FF-4618-AB62-E544AE9DD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B8C3B9-76FF-4222-99FB-9217B8D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25-03-2025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BA531C-D6D2-49A3-91F5-6D96EA9A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AA51F6-8B98-4630-BB14-C36D0F555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120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A0161-C576-4CEA-B1E9-8FA28523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9F4BF3-C1AF-4910-9597-5A55AC439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48A99F-4AD1-4C69-9A10-919EB711C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EB02A-C1AC-418C-A930-C585FF05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25-03-2025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74E7B3-D0B5-433B-857E-25A13C04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4B8614-7433-45BC-8EC8-56E68443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077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A9C18-7D1B-4166-9AEE-545CA176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F95075-0256-468A-AD8F-A1F61BD08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B9E5E0-11B2-4B05-8789-85B0EE1FE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901DD3-B34A-4DD8-97CA-E2987EF30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7AAD9E-A074-42CF-9F72-8E1E7DFC5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FD3C18F-D681-4F6D-BE42-609E8839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25-03-2025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EC7256-E19E-4965-8F6B-EFBABFAB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4FF0C1-9153-4A2B-8E4F-F4152A4F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614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39F0E-B6B3-413D-B8D5-3EBC57D1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873099-B246-4157-B167-31A34CBF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25-03-2025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9BD8DC-CF8D-421C-B582-E2834B32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83B244-BE08-415F-A652-086EC5A8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030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583E29-A1E4-4FC8-B85D-6BE7C231A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25-03-2025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6CF79B-BA17-4D6D-BA75-5945303F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90813B-FF99-42BE-A591-72FF1181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257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F088D-2BE3-4F1B-987C-8B905E083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5BA28C-FB6A-486F-B219-12DC33399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3A24BF-DD2F-442E-BB2E-79EB05656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195DAA-3224-49BF-B596-C1113FBB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25-03-2025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C48EA5-0BD0-4552-BA61-0390B0F0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22A88C-7103-4730-8BB6-AF641F0D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425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E449A-69B1-4F86-96DA-B146C800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1A6C1D-C402-4DEF-8993-5ADD947C4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3F710F-DB16-4B8C-AD3D-F16A5E7BE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293B3C-6CA9-4BD6-91F2-9DBFEA73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25-03-2025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81912F-C394-4F33-9CE7-44AD534C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308917-DFFC-4144-833E-8D05F22B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8362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03DF0-44BB-459D-A838-EF8CDA87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7B1C5A-66F0-408C-BC62-0DA1AFF38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5D2308-48DE-4E9C-9E15-BEFCC70A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25-03-2025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30F8CE-545A-4BD0-895C-230FB50B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A02F44-FB0E-4A1A-80B4-D8CEC3A2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741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80EC09-2B9E-40D2-93FB-147D12F01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58EEA2-F90F-4403-88FA-A9DF1626D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1CCB10-1A32-4DA2-B6B5-FCD7DDDC9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25-03-2025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64AA77-03F2-4456-AA16-C71D986C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0BDE9E-A2E7-4823-88CC-A641B66D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566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11858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25/03/2025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contenido 2"/>
          <p:cNvSpPr>
            <a:spLocks noGrp="1"/>
          </p:cNvSpPr>
          <p:nvPr>
            <p:ph idx="13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buClr>
                <a:srgbClr val="C00000"/>
              </a:buClr>
              <a:defRPr sz="2800"/>
            </a:lvl1pPr>
            <a:lvl2pPr>
              <a:buClr>
                <a:srgbClr val="C00000"/>
              </a:buClr>
              <a:defRPr sz="2400"/>
            </a:lvl2pPr>
            <a:lvl3pPr>
              <a:buClr>
                <a:srgbClr val="C00000"/>
              </a:buClr>
              <a:defRPr sz="2000"/>
            </a:lvl3pPr>
            <a:lvl4pPr>
              <a:buClr>
                <a:srgbClr val="C00000"/>
              </a:buClr>
              <a:defRPr sz="1800"/>
            </a:lvl4pPr>
            <a:lvl5pPr>
              <a:buClr>
                <a:srgbClr val="C00000"/>
              </a:buCl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106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409B45-06C2-4FB9-B509-A3427AB24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9B8760-EA6E-4D6E-B268-4352C5049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58343C-E792-4C94-A41E-2EF624E8F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9C6B0-6393-4131-9540-C068361BDDD0}" type="datetimeFigureOut">
              <a:rPr lang="es-CL" smtClean="0"/>
              <a:t>25-03-2025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EAAD5A-6B54-414C-9F0A-B594F6AC79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633233-6333-443C-BD19-C54F679A2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2743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183" y="2826327"/>
            <a:ext cx="10875818" cy="2227783"/>
          </a:xfrm>
          <a:prstGeom prst="rect">
            <a:avLst/>
          </a:prstGeom>
        </p:spPr>
      </p:pic>
      <p:sp>
        <p:nvSpPr>
          <p:cNvPr id="10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-16914"/>
            <a:ext cx="12192000" cy="354751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01" y="5803165"/>
            <a:ext cx="2745501" cy="9409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3477"/>
            <a:ext cx="12192000" cy="331262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0600"/>
            <a:ext cx="3393948" cy="332740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55" y="1073299"/>
            <a:ext cx="2672079" cy="93379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050420"/>
            <a:ext cx="5303520" cy="281940"/>
          </a:xfrm>
          <a:prstGeom prst="rect">
            <a:avLst/>
          </a:prstGeom>
        </p:spPr>
      </p:pic>
      <p:pic>
        <p:nvPicPr>
          <p:cNvPr id="3" name="Imagen 2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5B34141F-EC2F-144F-8268-7D4182D95A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054" y="5356904"/>
            <a:ext cx="2971800" cy="10795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2FC531-FC77-0243-AE81-8F245A6FA785}"/>
              </a:ext>
            </a:extLst>
          </p:cNvPr>
          <p:cNvSpPr txBox="1"/>
          <p:nvPr/>
        </p:nvSpPr>
        <p:spPr>
          <a:xfrm>
            <a:off x="8616096" y="6468320"/>
            <a:ext cx="3498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rgbClr val="004C8B"/>
                </a:solidFill>
              </a:rPr>
              <a:t>INGENIERÍA CIVIL EN INFORMÁTICA</a:t>
            </a:r>
          </a:p>
        </p:txBody>
      </p:sp>
    </p:spTree>
    <p:extLst>
      <p:ext uri="{BB962C8B-B14F-4D97-AF65-F5344CB8AC3E}">
        <p14:creationId xmlns:p14="http://schemas.microsoft.com/office/powerpoint/2010/main" val="208229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n-US" sz="240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171"/>
            <a:ext cx="12192000" cy="6890172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673" y="1073299"/>
            <a:ext cx="2672079" cy="93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1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Scrum</a:t>
            </a:r>
            <a:endParaRPr lang="es-CL" dirty="0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922B2534-D9AE-BD1E-BE2C-0503F52806C4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33" y="2364671"/>
            <a:ext cx="7168762" cy="3584381"/>
          </a:xfrm>
        </p:spPr>
      </p:pic>
      <p:sp>
        <p:nvSpPr>
          <p:cNvPr id="3" name="Marcador de contenido 2"/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0F68CF3-2050-4A6F-AF5F-CB6DCB46DCEE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13D1E45-2E41-49FD-8CBC-ECAD056683E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C3B1013-3A74-4808-9459-EF0A0BE2B450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56108630-1BE7-4C16-ACBC-7DAC474851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08AAB99-AA43-457A-BFA2-8B68AFA22B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B664594-BD7F-05D9-6718-6217357DAC4E}"/>
              </a:ext>
            </a:extLst>
          </p:cNvPr>
          <p:cNvSpPr txBox="1"/>
          <p:nvPr/>
        </p:nvSpPr>
        <p:spPr>
          <a:xfrm>
            <a:off x="714706" y="1441342"/>
            <a:ext cx="100994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Es un método de desarrollo ágil, es utilizado para la gestión y desarrollo de productos complejos. Se basa en la colaboración, la autoorganización y la mejora continua para entregar valor de manera iterativa e incremental.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07598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457B5-6BF8-492F-20B9-FA77E5A06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B2EF8-108E-F401-C3CF-ABBA344C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Equipos y artefactos de Scrum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37412E-0643-8A8C-9133-576E96C43F2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algn="just"/>
            <a:r>
              <a:rPr lang="es-MX" sz="2400" noProof="0" dirty="0"/>
              <a:t>El Equipo de Scrum es interdisciplinario</a:t>
            </a:r>
            <a:r>
              <a:rPr lang="es-MX" sz="2400" dirty="0"/>
              <a:t>, autoorganizado que consiste en el </a:t>
            </a:r>
            <a:r>
              <a:rPr lang="es-MX" sz="2400" dirty="0" err="1"/>
              <a:t>Product</a:t>
            </a:r>
            <a:r>
              <a:rPr lang="es-MX" sz="2400" dirty="0"/>
              <a:t> </a:t>
            </a:r>
            <a:r>
              <a:rPr lang="es-MX" sz="2400" dirty="0" err="1"/>
              <a:t>Owner</a:t>
            </a:r>
            <a:r>
              <a:rPr lang="es-MX" sz="2400" dirty="0"/>
              <a:t>, Scrum Master y un pequeño equipo de desarrollo (3 a 6 personas)</a:t>
            </a:r>
          </a:p>
          <a:p>
            <a:pPr algn="just"/>
            <a:r>
              <a:rPr lang="es-MX" sz="2400" noProof="0" dirty="0"/>
              <a:t>Los principales artefactos son lista de objetivos del producto (</a:t>
            </a:r>
            <a:r>
              <a:rPr lang="es-MX" sz="2400" noProof="0" dirty="0" err="1"/>
              <a:t>Product</a:t>
            </a:r>
            <a:r>
              <a:rPr lang="es-MX" sz="2400" noProof="0" dirty="0"/>
              <a:t> backlog), lista de pendientes del sprint (Sprint backlog) e incremento de código.</a:t>
            </a:r>
          </a:p>
          <a:p>
            <a:pPr algn="just"/>
            <a:r>
              <a:rPr lang="es-MX" sz="2400" noProof="0" dirty="0"/>
              <a:t>El desarrollo</a:t>
            </a:r>
            <a:r>
              <a:rPr lang="es-MX" sz="2400" dirty="0"/>
              <a:t> divide el proyecto en una serie de periodos de desarrollo incrementales, en donde cada periodo tiene una duración de 2 a 4 semanas.</a:t>
            </a:r>
          </a:p>
          <a:p>
            <a:pPr marL="0" indent="0">
              <a:buNone/>
            </a:pPr>
            <a:endParaRPr lang="es-CL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B1D953-A66F-69C6-D54F-D837E7CFB190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5352C14E-28AA-C3EC-AB95-38E33A211EAB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C407FB98-EE7E-9AE1-E508-ED3D5FC58F91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ADA5D36-CB84-825F-CEB8-E1E9ECF6B815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51E72C5-C190-C7F4-2D61-3AF92DF94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3724543-C986-9B81-95DC-63C2A1F758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87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69509-14B3-4409-62F8-FF15B3EB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B54BD-152D-A323-A85F-74651B90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 err="1"/>
              <a:t>Product</a:t>
            </a:r>
            <a:r>
              <a:rPr lang="es-MX" dirty="0"/>
              <a:t> Backlog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D50351-C079-5628-5C9A-3E80EFA43EF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algn="just"/>
            <a:r>
              <a:rPr lang="es-MX" noProof="0" dirty="0"/>
              <a:t>Es una lista  con requerimientos o características del producto que aportan valor de negocio para el cliente.</a:t>
            </a:r>
          </a:p>
          <a:p>
            <a:pPr algn="just"/>
            <a:r>
              <a:rPr lang="es-MX" noProof="0" dirty="0"/>
              <a:t>Contiene historias de usuario, las cuales traen los requerimientos, errores por corregir o mejoras técnicas.</a:t>
            </a:r>
          </a:p>
          <a:p>
            <a:pPr algn="just"/>
            <a:r>
              <a:rPr lang="es-CL" dirty="0"/>
              <a:t>Se puede agregar historias de usuario a la lista en cualquier momento.</a:t>
            </a:r>
          </a:p>
          <a:p>
            <a:pPr algn="just"/>
            <a:r>
              <a:rPr lang="es-CL" dirty="0"/>
              <a:t>El producto </a:t>
            </a:r>
            <a:r>
              <a:rPr lang="es-CL" dirty="0" err="1"/>
              <a:t>owner</a:t>
            </a:r>
            <a:r>
              <a:rPr lang="es-CL" dirty="0"/>
              <a:t> es el encargado de ordenar la lista por prioridad</a:t>
            </a:r>
            <a:r>
              <a:rPr lang="es-MX" dirty="0"/>
              <a:t> para cumplir las metas mas importantes de los interesados.</a:t>
            </a:r>
          </a:p>
          <a:p>
            <a:pPr marL="0" indent="0" algn="just">
              <a:buNone/>
            </a:pP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521842-4F77-680E-6149-39FE1DCF6028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DD008DA0-0400-2AD0-E75C-9877BBA8014A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039293E-A343-4EA3-ABBB-7CD68BB164FE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D285CC8-6E18-0D3C-C887-773B883A2DB7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8077B5F2-2BA0-6284-BE96-B4556CA9B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D90D368-4468-FC26-7ECF-BD1479B5AF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592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B0169-F4B3-A631-4BD8-0146FB38A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CCCD8-5096-D998-72B3-C4FA6348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noProof="0" dirty="0"/>
              <a:t>Sprint backlog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1F61D3-137A-61CE-5607-5FB05D0E4F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noProof="0" dirty="0"/>
              <a:t>Es un lista formada por las historias de usuario del </a:t>
            </a:r>
            <a:r>
              <a:rPr lang="es-MX" noProof="0" dirty="0" err="1"/>
              <a:t>product</a:t>
            </a:r>
            <a:r>
              <a:rPr lang="es-MX" noProof="0" dirty="0"/>
              <a:t> backlog que fueron seleccionadas para completarse durante el sprint activo.</a:t>
            </a:r>
          </a:p>
          <a:p>
            <a:r>
              <a:rPr lang="es-CL" dirty="0"/>
              <a:t>No se puede agregar nuevas historias de usuario a la lista del sprint backlog, a menos que el sprint se cancele o reinicie.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E85328-142F-FE63-DC30-F54693F3F69F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6DFDB32-BE83-82AE-5E72-7983EAF4B9B8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456E2A1-DE76-EB56-0EB4-E44C3EF86A2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9AB1F13D-80B4-891A-16CB-7156491DD9AC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D7BF5AB9-5EFE-618A-1A2B-AC16EEDB3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AAE2365-CEA4-F0D9-0882-A1F4F898A3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798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B0BE9-5137-2387-455B-9937E17BA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35260-2AC8-A0A8-9495-BC3ECCBF0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noProof="0" dirty="0"/>
              <a:t>Incremento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2F7AF4-ACF5-8B76-B7DF-02FAA665903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noProof="0" dirty="0"/>
              <a:t>Es el producto funcional entregable al final de un Sprint.</a:t>
            </a:r>
          </a:p>
          <a:p>
            <a:r>
              <a:rPr lang="es-MX" noProof="0" dirty="0"/>
              <a:t>Debe cumplir con la Definición de Hecho (</a:t>
            </a:r>
            <a:r>
              <a:rPr lang="es-MX" noProof="0" dirty="0" err="1"/>
              <a:t>DoD</a:t>
            </a:r>
            <a:r>
              <a:rPr lang="es-MX" noProof="0" dirty="0"/>
              <a:t> - </a:t>
            </a:r>
            <a:r>
              <a:rPr lang="es-MX" noProof="0" dirty="0" err="1"/>
              <a:t>Definition</a:t>
            </a:r>
            <a:r>
              <a:rPr lang="es-MX" noProof="0" dirty="0"/>
              <a:t> </a:t>
            </a:r>
            <a:r>
              <a:rPr lang="es-MX" noProof="0" dirty="0" err="1"/>
              <a:t>of</a:t>
            </a:r>
            <a:r>
              <a:rPr lang="es-MX" noProof="0" dirty="0"/>
              <a:t> Done) para ser considerado listo.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E70C05-1819-3CC3-1AF9-F061AE08D76E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3A66CB27-4E0A-9BED-878B-1472D98C0BA5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694D7926-C5D2-3BD3-6B9D-E4032CF90035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78A71525-AE51-C40C-6FFC-D8A97B79DA4E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604A2C4-C150-BAEC-0F1A-547F47C6B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FDC866E-BCBE-7B34-070E-F38463ABDE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30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D3729-B72B-7CC3-6D28-0DB957FFB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226E9-67BC-53C5-A08B-3F62DC6E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Roles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4C4CED-16F5-8DC8-BFAB-44E4E5743CF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MX" b="1" noProof="0" dirty="0"/>
              <a:t>Scrum Master</a:t>
            </a:r>
          </a:p>
          <a:p>
            <a:pPr marL="457200" lvl="1" indent="0" algn="just">
              <a:buNone/>
            </a:pPr>
            <a:r>
              <a:rPr lang="es-MX" noProof="0" dirty="0"/>
              <a:t>Es el facilitador del equipo y el encargado de que Scrum se aplique correctamente.</a:t>
            </a:r>
          </a:p>
          <a:p>
            <a:pPr marL="457200" lvl="1" indent="0" algn="just">
              <a:buNone/>
            </a:pPr>
            <a:r>
              <a:rPr lang="es-MX" noProof="0" dirty="0"/>
              <a:t>Ayuda a eliminar impedimentos y fomenta la autoorganización.</a:t>
            </a:r>
          </a:p>
          <a:p>
            <a:pPr marL="457200" lvl="1" indent="0" algn="just">
              <a:buNone/>
            </a:pPr>
            <a:r>
              <a:rPr lang="es-MX" noProof="0" dirty="0"/>
              <a:t>Ayuda al producto </a:t>
            </a:r>
            <a:r>
              <a:rPr lang="es-MX" noProof="0" dirty="0" err="1"/>
              <a:t>Owner</a:t>
            </a:r>
            <a:r>
              <a:rPr lang="es-MX" noProof="0" dirty="0"/>
              <a:t> a gestionar los aspectos de la lista del </a:t>
            </a:r>
            <a:r>
              <a:rPr lang="es-MX" noProof="0" dirty="0" err="1"/>
              <a:t>Product</a:t>
            </a:r>
            <a:r>
              <a:rPr lang="es-MX" noProof="0" dirty="0"/>
              <a:t> Backlog para que se expliquen claros y concisos.</a:t>
            </a:r>
          </a:p>
          <a:p>
            <a:pPr marL="457200" lvl="1" indent="0" algn="just">
              <a:buNone/>
            </a:pPr>
            <a:r>
              <a:rPr lang="es-MX" noProof="0" dirty="0"/>
              <a:t>Lleva a cabo las reuniones diarias.	</a:t>
            </a:r>
          </a:p>
          <a:p>
            <a:pPr marL="0" indent="0" algn="just">
              <a:buNone/>
            </a:pPr>
            <a:r>
              <a:rPr lang="es-MX" b="1" noProof="0" dirty="0" err="1"/>
              <a:t>Product</a:t>
            </a:r>
            <a:r>
              <a:rPr lang="es-MX" b="1" noProof="0" dirty="0"/>
              <a:t> </a:t>
            </a:r>
            <a:r>
              <a:rPr lang="es-MX" b="1" noProof="0" dirty="0" err="1"/>
              <a:t>Owner</a:t>
            </a:r>
            <a:endParaRPr lang="es-MX" b="1" noProof="0" dirty="0"/>
          </a:p>
          <a:p>
            <a:pPr marL="457200" lvl="1" indent="0" algn="just">
              <a:buNone/>
            </a:pPr>
            <a:r>
              <a:rPr lang="es-MX" noProof="0" dirty="0"/>
              <a:t>Es el responsable de definir y priorizar los requisitos en el </a:t>
            </a:r>
            <a:r>
              <a:rPr lang="es-MX" noProof="0" dirty="0" err="1"/>
              <a:t>Product</a:t>
            </a:r>
            <a:r>
              <a:rPr lang="es-MX" noProof="0" dirty="0"/>
              <a:t> Backlog.</a:t>
            </a:r>
          </a:p>
          <a:p>
            <a:pPr marL="457200" lvl="1" indent="0" algn="just">
              <a:buNone/>
            </a:pPr>
            <a:r>
              <a:rPr lang="es-MX" noProof="0" dirty="0"/>
              <a:t>Se asegura de que el equipo trabaje en las tareas con mayor valor para el negocio.</a:t>
            </a:r>
          </a:p>
          <a:p>
            <a:pPr marL="0" indent="0" algn="just">
              <a:buNone/>
            </a:pPr>
            <a:r>
              <a:rPr lang="es-MX" b="1" noProof="0" dirty="0"/>
              <a:t>Equipo de Desarrollo</a:t>
            </a:r>
          </a:p>
          <a:p>
            <a:pPr marL="457200" lvl="1" indent="0" algn="just">
              <a:buNone/>
            </a:pPr>
            <a:r>
              <a:rPr lang="es-MX" noProof="0" dirty="0"/>
              <a:t>Son los encargados de construir el producto.</a:t>
            </a:r>
          </a:p>
          <a:p>
            <a:pPr marL="457200" lvl="1" indent="0" algn="just">
              <a:buNone/>
            </a:pPr>
            <a:r>
              <a:rPr lang="es-MX" noProof="0" dirty="0"/>
              <a:t>Son autoorganizados y multidisciplinarios.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99B4D9-DDC6-00ED-DC48-6461FF1C0AF3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74544B4D-9A86-DC9D-BD4B-71CF1D8A189D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A6EAA63B-A176-6F50-7A9F-8A0E1584E153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8F9D8986-CC3E-43D8-B14B-D8887112E0C6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4B0FF7C1-5962-E198-FCBA-6970CCC0C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898A3EF-1D5F-C57B-928D-12D409A4BF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555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84D15-A717-709D-08FB-C7CA2CADB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44363-6B78-63A2-1BC6-DD97E935E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MX" noProof="0" dirty="0"/>
              <a:t>Reunión de planeación del sprint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2A6401-F00C-FDA1-0CF2-1D71130F340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noProof="0" dirty="0"/>
              <a:t>Reunión inicial antes de comenzar el sprint</a:t>
            </a:r>
          </a:p>
          <a:p>
            <a:pPr lvl="1" algn="just"/>
            <a:r>
              <a:rPr lang="es-MX" dirty="0"/>
              <a:t>Aquí el </a:t>
            </a:r>
            <a:r>
              <a:rPr lang="es-MX" noProof="0" dirty="0"/>
              <a:t>equipo selecciona qué elementos del </a:t>
            </a:r>
            <a:r>
              <a:rPr lang="es-MX" noProof="0" dirty="0" err="1"/>
              <a:t>Product</a:t>
            </a:r>
            <a:r>
              <a:rPr lang="es-MX" noProof="0" dirty="0"/>
              <a:t> Backlog trabajarán en el Sprint. Se revisan las historias de uso. La idea es despejar dudas, comprender el problema a resolver, determinar la complejidad de la tarea. Aquí pueden aparecer características faltantes necesarias para entregar la funcionalidad.</a:t>
            </a:r>
          </a:p>
          <a:p>
            <a:pPr marL="0" indent="0">
              <a:buNone/>
            </a:pP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8E2F2F-A950-BB10-19E2-5C49060140A0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7D782DA2-8A3A-DF3A-82D9-6E40ED1173D6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BBA84EA-2478-414E-F24E-34119D997667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629DFF92-6698-39B0-69AC-C63B04806B8E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72D09660-201E-8715-E1C0-A4B535EB4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7FC6654-62E5-0E86-ABC0-19037716CE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986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D5502-6C8F-181A-806F-57796DC4B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2FA70-4932-68F9-D051-E792E4E01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noProof="0" dirty="0"/>
              <a:t>Sprint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E74FCC-4B14-0C33-140E-F2823885FD7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algn="just"/>
            <a:r>
              <a:rPr lang="es-MX" noProof="0" dirty="0"/>
              <a:t>Ciclo de trabajo fijo (1 a 4 semanas).</a:t>
            </a:r>
          </a:p>
          <a:p>
            <a:pPr algn="just"/>
            <a:r>
              <a:rPr lang="es-MX" noProof="0" dirty="0"/>
              <a:t>Se busca entregar un incremento de valor en cada Sprint.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802FD2-022F-4541-8EA1-444E1C1D8C1C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9D966CF6-B819-9A17-4069-BE1C8E2F7988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66D8693-5C91-6100-5579-078347997C38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1B7282A-AEFA-EF6F-E39F-9531B8858168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5739CC6-E518-FA92-442C-7AF531557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5F922C-F3A8-E724-F3A2-D34B1FEDCD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482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0B4DA-BA15-DD89-E9D3-21EF393AC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7FA537-C866-8F40-06B3-DF7D198F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noProof="0" dirty="0"/>
              <a:t>Reunión diaria de Scrum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62CC6A-E0DB-5CBB-046F-F1FEA5CE66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noProof="0" dirty="0"/>
              <a:t>Reunión diaria de 15 minutos donde el equipo responde tres preguntas clave:</a:t>
            </a:r>
          </a:p>
          <a:p>
            <a:pPr lvl="1"/>
            <a:r>
              <a:rPr lang="es-MX" noProof="0" dirty="0"/>
              <a:t>¿Qué hice ayer?</a:t>
            </a:r>
          </a:p>
          <a:p>
            <a:pPr lvl="1"/>
            <a:r>
              <a:rPr lang="es-MX" noProof="0" dirty="0"/>
              <a:t>¿Qué haré hoy?</a:t>
            </a:r>
          </a:p>
          <a:p>
            <a:pPr lvl="1"/>
            <a:r>
              <a:rPr lang="es-MX" noProof="0" dirty="0"/>
              <a:t>¿Tengo algún impedimento?</a:t>
            </a:r>
          </a:p>
          <a:p>
            <a:r>
              <a:rPr lang="es-MX" dirty="0"/>
              <a:t>La idea es descubrir problemas lo antes posible.</a:t>
            </a:r>
          </a:p>
          <a:p>
            <a:r>
              <a:rPr lang="es-MX" dirty="0"/>
              <a:t>Los problemas se resuelven en otra reunión que involucra a las partes afectadas (Scrum master y desarrollador A)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834946-C2A6-009C-C8B1-3A54948ED609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81E73051-7D28-4C92-753E-21945214CF49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72F20D7-73CB-6A08-A718-B70719538FA3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06001F0-088A-2311-8EEF-6A93E5489F21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F53E24EC-3FF8-5035-3E09-8AD660ABF0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BECBF32-8BDA-083C-F846-71CC595BF3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04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6F4AD-3AC2-5329-46C3-CCEB1D03C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976E4-59A9-1323-205B-07659F675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noProof="0" dirty="0"/>
              <a:t>Reunión de revisión de sprint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1DB0FCA-DAFB-BE20-D789-C5091186F97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Al final del Sprint se presenta el trabajo terminado de las tareas, comprometidas en el actual Sprint, a los interesados para recibir retroalimentación.</a:t>
            </a:r>
          </a:p>
          <a:p>
            <a:pPr marL="0" indent="0">
              <a:buNone/>
            </a:pP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FB2619-0514-AFBA-6866-36A7B88983FB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3C6DD439-58A7-864C-1D88-C018A1990D90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A88588F4-DD2D-E170-7FA8-065B83F3AFDA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6442B1F4-5843-68FA-6746-28BC2F60A5CD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3B30468D-7A76-36D9-9F5F-54D7F9873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CD6A98E-C558-543A-0AA6-A6DDFBC96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719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D0E17-7B39-F6F4-768C-893063F14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97895-8D61-43A5-49A8-3E4CFA8FB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noProof="0" dirty="0"/>
              <a:t>Retrospectiva del sprint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8DB0AF-EA1E-E619-A4B0-E5E00A72AA7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noProof="0" dirty="0"/>
              <a:t>Revisión interna del equipo para analizar</a:t>
            </a:r>
          </a:p>
          <a:p>
            <a:pPr lvl="1" algn="just"/>
            <a:r>
              <a:rPr lang="es-MX" dirty="0"/>
              <a:t>Que estuvo bien.</a:t>
            </a:r>
          </a:p>
          <a:p>
            <a:pPr lvl="1" algn="just"/>
            <a:r>
              <a:rPr lang="es-MX" dirty="0"/>
              <a:t>Que podría mejorar.</a:t>
            </a:r>
          </a:p>
          <a:p>
            <a:pPr lvl="1" algn="just"/>
            <a:r>
              <a:rPr lang="es-MX" dirty="0"/>
              <a:t>Que se comprometerá el equipo a mejorar en el siguiente sprint.</a:t>
            </a:r>
          </a:p>
          <a:p>
            <a:pPr marL="0" indent="0" algn="just">
              <a:buNone/>
            </a:pPr>
            <a:r>
              <a:rPr lang="es-MX" dirty="0"/>
              <a:t>El Scrum master dirige la reunión  y anima al equipo a mejorar sus practicas de desarrollo para que el equipo pueda volverse más efectivo.</a:t>
            </a:r>
          </a:p>
          <a:p>
            <a:pPr marL="0" indent="0">
              <a:buNone/>
            </a:pP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744888-8242-7DE7-17EF-8B058933C0AD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E3E3A1D-47C9-6FD7-F49B-80BB491696CC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CEB4366B-E356-5ED1-2464-7442B02CC53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F6EB5FE-F3DB-81D3-E287-3D868B45149E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20E2075B-8C24-A97C-EA10-143ADB71BC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EF92883-9497-ECF2-8C0B-BA165B955B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99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A5E58-F21C-F6CF-FA72-766C5AAFD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748CB5-AB5D-EEC2-6963-B2EA142F7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noProof="0" dirty="0"/>
              <a:t>Historias de usuario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AD060FC-3B2E-2003-BF77-DD50899F82B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noProof="0" dirty="0"/>
              <a:t>Las historias de usuario son una herramienta utilizada en metodologías ágiles, especialmente en Scrum, para describir los requerimientos del usuario de manera simple y centrada en el valor que aporta.</a:t>
            </a:r>
          </a:p>
          <a:p>
            <a:pPr marL="0" indent="0">
              <a:buNone/>
            </a:pPr>
            <a:r>
              <a:rPr lang="es-MX" noProof="0" dirty="0"/>
              <a:t>Son breves descripciones de funcionalidades vistas desde la perspectiva del usuario final y siguen el formato:</a:t>
            </a:r>
          </a:p>
          <a:p>
            <a:pPr marL="457200" lvl="1" indent="0">
              <a:buNone/>
            </a:pPr>
            <a:r>
              <a:rPr lang="es-MX" i="1" noProof="0" dirty="0"/>
              <a:t>"Como [tipo de usuario], quiero [acción o funcionalidad] para [beneficio o valor agregado].“</a:t>
            </a:r>
          </a:p>
          <a:p>
            <a:pPr marL="0" indent="0">
              <a:buNone/>
            </a:pPr>
            <a:r>
              <a:rPr lang="es-MX" noProof="0" dirty="0"/>
              <a:t>Ejemplo:</a:t>
            </a:r>
          </a:p>
          <a:p>
            <a:pPr marL="457200" lvl="1" indent="0">
              <a:buNone/>
            </a:pPr>
            <a:r>
              <a:rPr lang="es-MX" i="1" noProof="0" dirty="0"/>
              <a:t>"Como usuario registrado, quiero poder restablecer mi contraseña para recuperar el acceso a mi cuenta en caso de olvido."</a:t>
            </a:r>
            <a:endParaRPr lang="es-CL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B9DF9C-378C-E191-7479-53EBE37A722A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94107EDD-9B38-7E2D-064E-F0272F4D5D34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5D70AA3-83DA-A83C-99F2-F55A70C4CB6B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36CFEC7-AFEF-D28F-3DF4-9251586A17E4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8CEF5566-AFEB-D6BA-D945-5BBDBF5DF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B6F8E9D-9E18-B94F-5F7F-224227F01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74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F4799-AF7E-77A2-B433-39F30B9F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CC07D-33E4-7A2A-3001-01D7BC12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noProof="0" dirty="0"/>
              <a:t>Historias de usuario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2943D9-FAB8-861A-893C-B4774B1A989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s-MX" noProof="0" dirty="0"/>
              <a:t>Cada historia de usuario en Scrum debe cumplir con el acrónimo INVEST:</a:t>
            </a:r>
          </a:p>
          <a:p>
            <a:pPr lvl="1" algn="just"/>
            <a:r>
              <a:rPr lang="es-MX" b="1" noProof="0" dirty="0" err="1"/>
              <a:t>Independent</a:t>
            </a:r>
            <a:r>
              <a:rPr lang="es-MX" noProof="0" dirty="0"/>
              <a:t> (Independiente): Debe ser lo más autónoma posible y evitar dependencias con otras historias.</a:t>
            </a:r>
          </a:p>
          <a:p>
            <a:pPr lvl="1" algn="just"/>
            <a:r>
              <a:rPr lang="es-MX" b="1" noProof="0" dirty="0" err="1"/>
              <a:t>Negotiable</a:t>
            </a:r>
            <a:r>
              <a:rPr lang="es-MX" noProof="0" dirty="0"/>
              <a:t> (Negociable): No debe ser rígida; el equipo y el </a:t>
            </a:r>
            <a:r>
              <a:rPr lang="es-MX" noProof="0" dirty="0" err="1"/>
              <a:t>Product</a:t>
            </a:r>
            <a:r>
              <a:rPr lang="es-MX" noProof="0" dirty="0"/>
              <a:t> </a:t>
            </a:r>
            <a:r>
              <a:rPr lang="es-MX" noProof="0" dirty="0" err="1"/>
              <a:t>Owner</a:t>
            </a:r>
            <a:r>
              <a:rPr lang="es-MX" noProof="0" dirty="0"/>
              <a:t> pueden ajustarla según sea necesario.</a:t>
            </a:r>
          </a:p>
          <a:p>
            <a:pPr lvl="1" algn="just"/>
            <a:r>
              <a:rPr lang="es-MX" b="1" noProof="0" dirty="0" err="1"/>
              <a:t>Valuable</a:t>
            </a:r>
            <a:r>
              <a:rPr lang="es-MX" noProof="0" dirty="0"/>
              <a:t> (Valiosa): Debe aportar valor al usuario o al negocio.</a:t>
            </a:r>
          </a:p>
          <a:p>
            <a:pPr lvl="1" algn="just"/>
            <a:r>
              <a:rPr lang="es-MX" b="1" noProof="0" dirty="0"/>
              <a:t>Estimable</a:t>
            </a:r>
            <a:r>
              <a:rPr lang="es-MX" noProof="0" dirty="0"/>
              <a:t> (Estimable): Debe poder ser estimada en esfuerzo por el equipo.</a:t>
            </a:r>
          </a:p>
          <a:p>
            <a:pPr lvl="1" algn="just"/>
            <a:r>
              <a:rPr lang="es-MX" b="1" noProof="0" dirty="0"/>
              <a:t>Small</a:t>
            </a:r>
            <a:r>
              <a:rPr lang="es-MX" noProof="0" dirty="0"/>
              <a:t> (Pequeña): Debe ser lo suficientemente pequeña para completarse en un solo Sprint.</a:t>
            </a:r>
          </a:p>
          <a:p>
            <a:pPr lvl="1" algn="just"/>
            <a:r>
              <a:rPr lang="es-MX" b="1" noProof="0" dirty="0" err="1"/>
              <a:t>Testable</a:t>
            </a:r>
            <a:r>
              <a:rPr lang="es-MX" noProof="0" dirty="0"/>
              <a:t> (</a:t>
            </a:r>
            <a:r>
              <a:rPr lang="es-MX" noProof="0" dirty="0" err="1"/>
              <a:t>Testeable</a:t>
            </a:r>
            <a:r>
              <a:rPr lang="es-MX" noProof="0" dirty="0"/>
              <a:t>): Debe poder verificarse mediante criterios de aceptación claros.</a:t>
            </a:r>
          </a:p>
          <a:p>
            <a:pPr marL="0" indent="0" algn="just">
              <a:buNone/>
            </a:pPr>
            <a:r>
              <a:rPr lang="es-MX" noProof="0" dirty="0"/>
              <a:t>Ejemplo:</a:t>
            </a:r>
          </a:p>
          <a:p>
            <a:pPr marL="457200" lvl="1" indent="0" algn="just">
              <a:buNone/>
            </a:pPr>
            <a:r>
              <a:rPr lang="es-MX" noProof="0" dirty="0"/>
              <a:t>Historia de usuario mal definida:</a:t>
            </a:r>
          </a:p>
          <a:p>
            <a:pPr marL="914400" lvl="2" indent="0" algn="just">
              <a:buNone/>
            </a:pPr>
            <a:r>
              <a:rPr lang="es-MX" i="1" noProof="0" dirty="0"/>
              <a:t>"El sistema debe permitir registrar usuarios."</a:t>
            </a:r>
          </a:p>
          <a:p>
            <a:pPr marL="457200" lvl="1" indent="0" algn="just">
              <a:buNone/>
            </a:pPr>
            <a:r>
              <a:rPr lang="es-MX" noProof="0" dirty="0"/>
              <a:t>Historia de usuario con INVEST:</a:t>
            </a:r>
          </a:p>
          <a:p>
            <a:pPr marL="914400" lvl="2" indent="0" algn="just">
              <a:buNone/>
            </a:pPr>
            <a:r>
              <a:rPr lang="es-MX" i="1" noProof="0" dirty="0"/>
              <a:t>"Como usuario nuevo, quiero poder registrarme con mi correo electrónico y contraseña para acceder a la plataforma."</a:t>
            </a:r>
            <a:endParaRPr lang="es-CL" i="1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39C9D0F9-8C7C-1FED-CB2B-EC799F7CD41C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F1BC664-C102-771F-60AB-6663E1CCF23F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1DD202E-74DE-D35C-072F-5A30D99B6C40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7D245BE4-E1F9-9299-D8C5-81D0F744B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341DE14-1A5E-0157-F0A4-52DAD76AB3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02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98DD4-3EFA-B2BF-56ED-FAF28FA2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B6239-74BC-130F-7220-4305DF50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s-MX" noProof="0" dirty="0"/>
              <a:t>Desarrollo de una App de Gestión de Tareas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68EACB-877D-627C-4758-9E186649826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599" y="1600202"/>
            <a:ext cx="10503159" cy="4869872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s-MX" b="1" dirty="0"/>
              <a:t>Creación del </a:t>
            </a:r>
            <a:r>
              <a:rPr lang="es-MX" b="1" dirty="0" err="1"/>
              <a:t>Product</a:t>
            </a:r>
            <a:r>
              <a:rPr lang="es-MX" b="1" dirty="0"/>
              <a:t> Backlog</a:t>
            </a:r>
          </a:p>
          <a:p>
            <a:pPr>
              <a:buNone/>
            </a:pPr>
            <a:r>
              <a:rPr lang="es-MX" dirty="0"/>
              <a:t>El </a:t>
            </a:r>
            <a:r>
              <a:rPr lang="es-MX" dirty="0" err="1"/>
              <a:t>Product</a:t>
            </a:r>
            <a:r>
              <a:rPr lang="es-MX" dirty="0"/>
              <a:t> </a:t>
            </a:r>
            <a:r>
              <a:rPr lang="es-MX" dirty="0" err="1"/>
              <a:t>Owner</a:t>
            </a:r>
            <a:r>
              <a:rPr lang="es-MX" dirty="0"/>
              <a:t> ha definido las siguientes historias de usuario iniciales:</a:t>
            </a:r>
          </a:p>
          <a:p>
            <a:pPr>
              <a:buFont typeface="+mj-lt"/>
              <a:buAutoNum type="arabicPeriod"/>
            </a:pPr>
            <a:r>
              <a:rPr lang="es-MX" b="1" dirty="0"/>
              <a:t>Registro de usuarios</a:t>
            </a:r>
            <a:br>
              <a:rPr lang="es-MX" dirty="0"/>
            </a:br>
            <a:r>
              <a:rPr lang="es-MX" i="1" dirty="0"/>
              <a:t>"Como usuario nuevo, quiero registrarme con mi correo y contraseña para acceder a la aplicación."</a:t>
            </a:r>
            <a:endParaRPr lang="es-MX" dirty="0"/>
          </a:p>
          <a:p>
            <a:pPr>
              <a:buFont typeface="+mj-lt"/>
              <a:buAutoNum type="arabicPeriod"/>
            </a:pPr>
            <a:r>
              <a:rPr lang="es-MX" b="1" dirty="0"/>
              <a:t>Inicio de sesión</a:t>
            </a:r>
            <a:br>
              <a:rPr lang="es-MX" dirty="0"/>
            </a:br>
            <a:r>
              <a:rPr lang="es-MX" i="1" dirty="0"/>
              <a:t>"Como usuario, quiero iniciar sesión con mi correo y contraseña para acceder a mis tareas."</a:t>
            </a:r>
            <a:endParaRPr lang="es-MX" dirty="0"/>
          </a:p>
          <a:p>
            <a:pPr>
              <a:buFont typeface="+mj-lt"/>
              <a:buAutoNum type="arabicPeriod"/>
            </a:pPr>
            <a:r>
              <a:rPr lang="es-MX" b="1" dirty="0"/>
              <a:t>Crear tareas</a:t>
            </a:r>
            <a:br>
              <a:rPr lang="es-MX" dirty="0"/>
            </a:br>
            <a:r>
              <a:rPr lang="es-MX" i="1" dirty="0"/>
              <a:t>"Como usuario, quiero agregar nuevas tareas con título y descripción para organizarlas."</a:t>
            </a:r>
            <a:endParaRPr lang="es-MX" dirty="0"/>
          </a:p>
          <a:p>
            <a:pPr>
              <a:buFont typeface="+mj-lt"/>
              <a:buAutoNum type="arabicPeriod"/>
            </a:pPr>
            <a:r>
              <a:rPr lang="es-MX" b="1" dirty="0"/>
              <a:t>Editar tareas</a:t>
            </a:r>
            <a:br>
              <a:rPr lang="es-MX" dirty="0"/>
            </a:br>
            <a:r>
              <a:rPr lang="es-MX" i="1" dirty="0"/>
              <a:t>"Como usuario, quiero poder modificar mis tareas existentes para actualizar la información."</a:t>
            </a:r>
            <a:endParaRPr lang="es-MX" dirty="0"/>
          </a:p>
          <a:p>
            <a:pPr>
              <a:buFont typeface="+mj-lt"/>
              <a:buAutoNum type="arabicPeriod"/>
            </a:pPr>
            <a:r>
              <a:rPr lang="es-MX" b="1" dirty="0"/>
              <a:t>Eliminar tareas</a:t>
            </a:r>
            <a:br>
              <a:rPr lang="es-MX" dirty="0"/>
            </a:br>
            <a:r>
              <a:rPr lang="es-MX" i="1" dirty="0"/>
              <a:t>"Como usuario, quiero eliminar tareas innecesarias para mantener mi lista organizada."</a:t>
            </a:r>
            <a:endParaRPr lang="es-MX" dirty="0"/>
          </a:p>
          <a:p>
            <a:pPr>
              <a:buFont typeface="+mj-lt"/>
              <a:buAutoNum type="arabicPeriod"/>
            </a:pPr>
            <a:r>
              <a:rPr lang="es-MX" b="1" dirty="0"/>
              <a:t>Asignar prioridad</a:t>
            </a:r>
            <a:br>
              <a:rPr lang="es-MX" dirty="0"/>
            </a:br>
            <a:r>
              <a:rPr lang="es-MX" i="1" dirty="0"/>
              <a:t>"Como usuario, quiero establecer prioridades en mis tareas (alta, media, baja) para gestionarlas mejor."</a:t>
            </a:r>
            <a:endParaRPr lang="es-MX" dirty="0"/>
          </a:p>
          <a:p>
            <a:pPr>
              <a:buFont typeface="+mj-lt"/>
              <a:buAutoNum type="arabicPeriod"/>
            </a:pPr>
            <a:r>
              <a:rPr lang="es-MX" b="1" dirty="0"/>
              <a:t>Marcar tarea como completada</a:t>
            </a:r>
            <a:br>
              <a:rPr lang="es-MX" dirty="0"/>
            </a:br>
            <a:r>
              <a:rPr lang="es-MX" i="1" dirty="0"/>
              <a:t>"Como usuario, quiero marcar una tarea como completada para llevar un seguimiento de mi progreso."</a:t>
            </a:r>
            <a:endParaRPr lang="es-MX" dirty="0"/>
          </a:p>
          <a:p>
            <a:pPr>
              <a:buFont typeface="+mj-lt"/>
              <a:buAutoNum type="arabicPeriod"/>
            </a:pPr>
            <a:r>
              <a:rPr lang="es-MX" b="1" dirty="0"/>
              <a:t>Ver lista de tareas</a:t>
            </a:r>
            <a:br>
              <a:rPr lang="es-MX" dirty="0"/>
            </a:br>
            <a:r>
              <a:rPr lang="es-MX" i="1" dirty="0"/>
              <a:t>"Como usuario, quiero visualizar mis tareas pendientes y completadas en una lista para gestionarlas mejor."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560F3B-B9EB-833A-3238-AD790C0F7644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0B525BEB-199A-F452-1F54-79366834F5A0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C07A63CC-2E15-8E6B-8EB4-BD1495D331A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E5724FD-AE7A-3904-7F0E-0B3503227183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D462C96-4DBC-DECC-4E3E-1D00498A1D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C91B403-3B50-6FA6-0195-2009A7BBF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68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1F84D-5B59-AE4C-51D8-9A8B3602F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58E35-1262-2A98-DFA7-9759531C7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s-MX" noProof="0" dirty="0"/>
              <a:t>Sprint </a:t>
            </a:r>
            <a:r>
              <a:rPr lang="es-MX" noProof="0" dirty="0" err="1"/>
              <a:t>Planning</a:t>
            </a:r>
            <a:r>
              <a:rPr lang="es-MX" noProof="0" dirty="0"/>
              <a:t> (Planificación del Sprint)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C71DF56-2EF4-D01C-6F8E-49E7AABD435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s-MX" dirty="0"/>
              <a:t>Se decide que el primer Sprint tendrá una duración de 2 semanas. Durante el </a:t>
            </a:r>
            <a:r>
              <a:rPr lang="es-MX" b="1" dirty="0"/>
              <a:t>Sprint </a:t>
            </a:r>
            <a:r>
              <a:rPr lang="es-MX" b="1" dirty="0" err="1"/>
              <a:t>Planning</a:t>
            </a:r>
            <a:r>
              <a:rPr lang="es-MX" dirty="0"/>
              <a:t>, el equipo selecciona las historias de usuario que pueden completar en ese tiempo:</a:t>
            </a:r>
          </a:p>
          <a:p>
            <a:pPr lvl="1" algn="just"/>
            <a:r>
              <a:rPr lang="es-MX" dirty="0"/>
              <a:t>Registro de usuarios</a:t>
            </a:r>
          </a:p>
          <a:p>
            <a:pPr lvl="1" algn="just"/>
            <a:r>
              <a:rPr lang="es-MX" dirty="0"/>
              <a:t>Inicio de sesión</a:t>
            </a:r>
          </a:p>
          <a:p>
            <a:pPr lvl="1" algn="just"/>
            <a:r>
              <a:rPr lang="es-MX" dirty="0"/>
              <a:t>Crear tareas</a:t>
            </a:r>
          </a:p>
          <a:p>
            <a:pPr lvl="1" algn="just"/>
            <a:r>
              <a:rPr lang="es-MX" dirty="0"/>
              <a:t>Ver lista de tareas</a:t>
            </a:r>
          </a:p>
          <a:p>
            <a:pPr algn="just"/>
            <a:r>
              <a:rPr lang="es-MX" dirty="0"/>
              <a:t>Objetivo del Sprint:</a:t>
            </a:r>
          </a:p>
          <a:p>
            <a:pPr lvl="1"/>
            <a:r>
              <a:rPr lang="es-MX" i="1" dirty="0"/>
              <a:t>"Permitir que un usuario se registre, inicie sesión y gestione sus tareas básicas en una lista."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E2C8B9-D141-21D0-D2A8-1E14A302078B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08540504-A222-465D-4F5F-2A1594844279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6287B6F7-FE0C-6DC6-92A1-B24D5C560908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932CFB1-8E05-7B2C-EC0A-FAB9BBF95FBA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70535D83-341E-7096-B29E-5E8137C7C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4D2BE6D-7B65-7824-0B30-FB03CC42C7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2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4EBF4-76BE-C49E-C2AA-5C900601C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C31FF-8E31-2205-BCC7-0845E8024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noProof="0" dirty="0" err="1"/>
              <a:t>Daily</a:t>
            </a:r>
            <a:r>
              <a:rPr lang="es-MX" noProof="0" dirty="0"/>
              <a:t> Scrum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C574255-2EB2-5D0E-14F9-4C99191390E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sz="2400" dirty="0"/>
              <a:t>Se debe realizar una reunión diaria de 15 minutos respondiendo:</a:t>
            </a:r>
          </a:p>
          <a:p>
            <a:pPr lvl="1">
              <a:buFont typeface="+mj-lt"/>
              <a:buAutoNum type="arabicPeriod"/>
            </a:pPr>
            <a:r>
              <a:rPr lang="es-MX" sz="2200" dirty="0"/>
              <a:t>¿Qué hice ayer?</a:t>
            </a:r>
          </a:p>
          <a:p>
            <a:pPr lvl="1">
              <a:buFont typeface="+mj-lt"/>
              <a:buAutoNum type="arabicPeriod"/>
            </a:pPr>
            <a:r>
              <a:rPr lang="es-MX" sz="2200" dirty="0"/>
              <a:t>¿Qué haré hoy?</a:t>
            </a:r>
          </a:p>
          <a:p>
            <a:pPr lvl="1">
              <a:buFont typeface="+mj-lt"/>
              <a:buAutoNum type="arabicPeriod"/>
            </a:pPr>
            <a:r>
              <a:rPr lang="es-MX" sz="2200" dirty="0"/>
              <a:t>¿Tengo algún impedimento?</a:t>
            </a:r>
          </a:p>
          <a:p>
            <a:pPr>
              <a:buNone/>
            </a:pPr>
            <a:r>
              <a:rPr lang="es-MX" sz="2400" b="1" dirty="0"/>
              <a:t>Ejemplo de </a:t>
            </a:r>
            <a:r>
              <a:rPr lang="es-MX" sz="2400" b="1" dirty="0" err="1"/>
              <a:t>Daily</a:t>
            </a:r>
            <a:r>
              <a:rPr lang="es-MX" sz="2400" b="1" dirty="0"/>
              <a:t> Scrum:</a:t>
            </a:r>
            <a:endParaRPr lang="es-MX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/>
              <a:t>Desarrollador 1:</a:t>
            </a:r>
            <a:r>
              <a:rPr lang="es-MX" sz="2400" dirty="0"/>
              <a:t> </a:t>
            </a:r>
            <a:r>
              <a:rPr lang="es-MX" sz="2400" i="1" dirty="0"/>
              <a:t>"Ayer terminé la funcionalidad de registro. Hoy empezaré con el inicio de sesión. No tengo bloqueos."</a:t>
            </a:r>
            <a:endParaRPr lang="es-MX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/>
              <a:t>Desarrollador 2:</a:t>
            </a:r>
            <a:r>
              <a:rPr lang="es-MX" sz="2400" dirty="0"/>
              <a:t> </a:t>
            </a:r>
            <a:r>
              <a:rPr lang="es-MX" sz="2400" i="1" dirty="0"/>
              <a:t>"Ayer implementé la creación de tareas, pero tengo dudas sobre cómo guardarlas en la base de datos."</a:t>
            </a:r>
            <a:endParaRPr lang="es-MX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/>
              <a:t>Scrum Master:</a:t>
            </a:r>
            <a:r>
              <a:rPr lang="es-MX" sz="2400" dirty="0"/>
              <a:t> </a:t>
            </a:r>
            <a:r>
              <a:rPr lang="es-MX" sz="2400" i="1" dirty="0"/>
              <a:t>"Hablemos después de la reunión para resolverlo."</a:t>
            </a:r>
            <a:endParaRPr lang="es-MX" sz="2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91B321-2B19-1B3D-4AD9-6CD19B6E6F82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05BB2759-259D-6A26-10F6-BFC4959F38A7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EACC4F8-0BDA-2004-47A7-E359D7E823D8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E61326E-1C84-80E6-93FC-3728D7DDA509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AFA93E5-EF93-048A-9DFA-EC32ED4EA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0B4ACC4-E7A0-1F30-FCC4-2D60099799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572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79E3-F519-FD84-9CF0-B54EBC69A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3F970-34D4-651C-DB11-6176100D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Sprint Review (</a:t>
            </a:r>
            <a:r>
              <a:rPr lang="en-US" b="1" dirty="0" err="1"/>
              <a:t>Revisión</a:t>
            </a:r>
            <a:r>
              <a:rPr lang="en-US" b="1" dirty="0"/>
              <a:t> del Sprint)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8429E0-08D0-88FA-2EFF-5D3ACB2B260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s-MX" dirty="0"/>
              <a:t>Al final del Sprint, el equipo presenta el incremento al </a:t>
            </a:r>
            <a:r>
              <a:rPr lang="es-MX" dirty="0" err="1"/>
              <a:t>Product</a:t>
            </a:r>
            <a:r>
              <a:rPr lang="es-MX" dirty="0"/>
              <a:t> </a:t>
            </a:r>
            <a:r>
              <a:rPr lang="es-MX" dirty="0" err="1"/>
              <a:t>Owner</a:t>
            </a:r>
            <a:r>
              <a:rPr lang="es-MX" dirty="0"/>
              <a:t> y a los interesados. Se muestra cómo funciona el registro, el inicio de sesión y la gestión básica de tareas.</a:t>
            </a:r>
          </a:p>
          <a:p>
            <a:pPr algn="just">
              <a:buNone/>
            </a:pPr>
            <a:r>
              <a:rPr lang="es-MX" dirty="0" err="1"/>
              <a:t>Feedback</a:t>
            </a:r>
            <a:r>
              <a:rPr lang="es-MX" dirty="0"/>
              <a:t> de los interesados:</a:t>
            </a:r>
          </a:p>
          <a:p>
            <a:pPr lvl="1" algn="just"/>
            <a:r>
              <a:rPr lang="es-MX" dirty="0"/>
              <a:t>Agregar una opción de "recuperar contraseña" en la siguiente iteración.</a:t>
            </a:r>
          </a:p>
          <a:p>
            <a:pPr lvl="1" algn="just"/>
            <a:r>
              <a:rPr lang="es-MX" dirty="0"/>
              <a:t>Mejorar la interfaz de la lista de tareas.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BD1BB2-783E-FA0B-0BA9-B262DF89D8C5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CCC9CDF8-500C-EA17-9F89-A9B788C6008D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B0BC380-95B1-F41B-54E1-C2DCE72B9525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F31CCAFD-87C7-4FED-99DA-C084D2CA5F22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47D07BE-871F-7732-D810-E6748FCAF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85D471B-9815-F035-9DCA-820C800AFE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22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D3D3C-4747-8DD2-ADC6-7FEB60716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28F7D-0959-8767-F807-6E8AA3FF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s-MX" noProof="0" dirty="0"/>
              <a:t>Sprint Retrospective (Retrospectiva del Sprint)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762FE2-EB27-28B4-61C7-9B43B037B2A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s-MX" dirty="0"/>
              <a:t>El equipo analiza qué funcionó bien y qué se puede mejorar.</a:t>
            </a:r>
          </a:p>
          <a:p>
            <a:pPr algn="just">
              <a:buNone/>
            </a:pPr>
            <a:r>
              <a:rPr lang="es-MX" dirty="0"/>
              <a:t>Ejemplo:</a:t>
            </a:r>
          </a:p>
          <a:p>
            <a:pPr lvl="1" algn="just"/>
            <a:r>
              <a:rPr lang="es-MX" i="1" dirty="0"/>
              <a:t>Lo bueno:</a:t>
            </a:r>
            <a:r>
              <a:rPr lang="es-MX" dirty="0"/>
              <a:t> La comunicación en </a:t>
            </a:r>
            <a:r>
              <a:rPr lang="es-MX" dirty="0" err="1"/>
              <a:t>Daily</a:t>
            </a:r>
            <a:r>
              <a:rPr lang="es-MX" dirty="0"/>
              <a:t> Scrum fue clara y efectiva.</a:t>
            </a:r>
          </a:p>
          <a:p>
            <a:pPr lvl="1" algn="just"/>
            <a:r>
              <a:rPr lang="es-MX" i="1" dirty="0"/>
              <a:t>A mejorar:</a:t>
            </a:r>
            <a:r>
              <a:rPr lang="es-MX" dirty="0"/>
              <a:t> Se necesita una mejor planificación en la gestión de datos.</a:t>
            </a:r>
          </a:p>
          <a:p>
            <a:pPr lvl="1" algn="just"/>
            <a:r>
              <a:rPr lang="es-MX" i="1" dirty="0"/>
              <a:t>Acción a tomar:</a:t>
            </a:r>
            <a:r>
              <a:rPr lang="es-MX" dirty="0"/>
              <a:t> Mejor documentación de la estructura de la base de datos para el próximo Sprint.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592A69-BB95-F682-48B0-F7BD17F7A8F8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1BDE1307-D8E9-EACD-F05C-E2C8715E719F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E7192D88-1B98-20CC-AAAB-5CEA4EC1B152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FCE8D113-27B9-0FDF-9920-9F5F368F4F7B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A4A79DD4-C5A5-1604-1A75-27C8FD427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41FA251-12BC-C96A-13EA-1115448D24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96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E0EEA-1CEB-70AD-3CAE-BFD19268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53F4E-068B-B1E4-9055-746F03493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noProof="0" dirty="0"/>
              <a:t>Kanban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28A000-5698-4933-6344-0ECBC3E3A04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7731967" cy="4525963"/>
          </a:xfrm>
        </p:spPr>
        <p:txBody>
          <a:bodyPr>
            <a:normAutofit/>
          </a:bodyPr>
          <a:lstStyle/>
          <a:p>
            <a:pPr algn="just"/>
            <a:r>
              <a:rPr lang="es-MX" sz="2400" dirty="0"/>
              <a:t>La metodología Kanban se implementa por medio de tableros Kanban.</a:t>
            </a:r>
          </a:p>
          <a:p>
            <a:pPr algn="just"/>
            <a:r>
              <a:rPr lang="es-MX" sz="2400" dirty="0"/>
              <a:t> Se trata de un método visual de gestión de proyectos que permite a los equipos visualizar sus flujos de trabajo y la carga de trabajo. </a:t>
            </a:r>
          </a:p>
          <a:p>
            <a:pPr algn="just"/>
            <a:r>
              <a:rPr lang="es-MX" sz="2400" dirty="0"/>
              <a:t>El tablero Kanban más básico puede presentar columnas como Trabajo pendiente, En progreso y Terminado. </a:t>
            </a:r>
          </a:p>
          <a:p>
            <a:pPr algn="just"/>
            <a:r>
              <a:rPr lang="es-MX" sz="2400" dirty="0"/>
              <a:t>Las tareas individuales, representadas por tarjetas visuales en el tablero, avanzan a través de las diferentes columnas hasta que estén finalizadas.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3BD5A9-ECA3-2795-E465-A39BBE300C72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F292D6B6-D45C-4E67-0215-88211335C411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A805F59-8E14-15FE-E60A-5B178B1B4328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38EF402-109B-0520-3068-72AD9F5AF67D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21D148E0-77E5-EA5F-C796-A79FD83C7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D04E792-6837-2B0A-635E-CE88D876F2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E5F5F28A-E3A3-8F5B-00C5-703E55F326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7141" y="1645994"/>
            <a:ext cx="2510757" cy="167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786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CEA15-368B-DD47-2B04-881E72AF6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1EEAB-E05E-5D4B-2D87-29C07D03E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noProof="0" dirty="0"/>
              <a:t>Kanban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083C09-6F5D-9788-E3DD-2BD4BFD1697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s-MX" b="1" dirty="0"/>
              <a:t>Visualizar el flujo de trabajo:</a:t>
            </a:r>
            <a:endParaRPr lang="es-MX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/>
              <a:t>Identificar las fases del proceso y definir las columnas del tablero.</a:t>
            </a:r>
          </a:p>
          <a:p>
            <a:pPr marL="0" indent="0" algn="just">
              <a:buNone/>
            </a:pPr>
            <a:r>
              <a:rPr lang="es-MX" b="1" dirty="0"/>
              <a:t>Limitar el trabajo en progreso (WIP):</a:t>
            </a:r>
            <a:endParaRPr lang="es-MX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/>
              <a:t>Establecer un número máximo de tareas por columna para evitar sobrecarga.</a:t>
            </a:r>
          </a:p>
          <a:p>
            <a:pPr algn="just">
              <a:buNone/>
            </a:pPr>
            <a:r>
              <a:rPr lang="es-MX" b="1" dirty="0"/>
              <a:t>Gestionar el flujo:</a:t>
            </a:r>
            <a:endParaRPr lang="es-MX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/>
              <a:t>Identificar cuellos de botella y mejorar la eficiencia del equipo.</a:t>
            </a:r>
          </a:p>
          <a:p>
            <a:pPr marL="0" indent="0" algn="just">
              <a:buNone/>
            </a:pPr>
            <a:r>
              <a:rPr lang="es-MX" b="1" dirty="0"/>
              <a:t>Definir políticas explícitas:</a:t>
            </a:r>
            <a:endParaRPr lang="es-MX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/>
              <a:t>Aclarar criterios de cuándo una tarea puede moverse entre columnas.</a:t>
            </a:r>
          </a:p>
          <a:p>
            <a:pPr algn="just">
              <a:buNone/>
            </a:pPr>
            <a:r>
              <a:rPr lang="es-MX" b="1" dirty="0"/>
              <a:t>Implementar mejoras continuas:</a:t>
            </a:r>
            <a:endParaRPr lang="es-MX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/>
              <a:t>Revisar el proceso regularmente y hacer ajustes.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E74C9C-9E45-8B25-9A0C-A64ED0B84C33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2DCE1BA3-F585-A66E-51D2-CB16049FF967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1C05889-CCDC-97FA-A350-728E93BE1F15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43D87340-492C-D0AB-9D71-E0934C531C11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AB5533A1-24F1-5C69-FC42-41FD9B831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B4C68FF-F62D-F808-BBEC-F7A8254A5C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931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n-US" sz="240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8"/>
            <a:ext cx="12192000" cy="6430945"/>
          </a:xfrm>
          <a:prstGeom prst="rect">
            <a:avLst/>
          </a:prstGeom>
          <a:ln>
            <a:noFill/>
          </a:ln>
        </p:spPr>
      </p:pic>
      <p:sp>
        <p:nvSpPr>
          <p:cNvPr id="13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13618"/>
            <a:ext cx="5972452" cy="6417325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32000">
                <a:srgbClr val="0070C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5688710"/>
            <a:ext cx="12192000" cy="11699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402" y="2951018"/>
            <a:ext cx="4282247" cy="149648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9690"/>
            <a:ext cx="5966423" cy="1621108"/>
          </a:xfrm>
          <a:prstGeom prst="rect">
            <a:avLst/>
          </a:prstGeom>
        </p:spPr>
      </p:pic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6F54D0E-9772-4A28-255B-A44403E3D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84" y="4230126"/>
            <a:ext cx="4060054" cy="143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629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3484</TotalTime>
  <Words>1695</Words>
  <Application>Microsoft Office PowerPoint</Application>
  <PresentationFormat>Panorámica</PresentationFormat>
  <Paragraphs>171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Eurostile BoldExtendedTwo</vt:lpstr>
      <vt:lpstr>Tema de Office</vt:lpstr>
      <vt:lpstr>Presentación de PowerPoint</vt:lpstr>
      <vt:lpstr>Presentación de PowerPoint</vt:lpstr>
      <vt:lpstr>Scrum</vt:lpstr>
      <vt:lpstr>Equipos y artefactos de Scrum</vt:lpstr>
      <vt:lpstr>Product Backlog</vt:lpstr>
      <vt:lpstr>Sprint backlog</vt:lpstr>
      <vt:lpstr>Incremento</vt:lpstr>
      <vt:lpstr>Roles</vt:lpstr>
      <vt:lpstr>Reunión de planeación del sprint</vt:lpstr>
      <vt:lpstr>Sprint</vt:lpstr>
      <vt:lpstr>Reunión diaria de Scrum</vt:lpstr>
      <vt:lpstr>Reunión de revisión de sprint</vt:lpstr>
      <vt:lpstr>Retrospectiva del sprint</vt:lpstr>
      <vt:lpstr>Historias de usuario</vt:lpstr>
      <vt:lpstr>Historias de usuario</vt:lpstr>
      <vt:lpstr>Desarrollo de una App de Gestión de Tareas</vt:lpstr>
      <vt:lpstr>Sprint Planning (Planificación del Sprint)</vt:lpstr>
      <vt:lpstr>Daily Scrum</vt:lpstr>
      <vt:lpstr>Sprint Review (Revisión del Sprint)</vt:lpstr>
      <vt:lpstr>Sprint Retrospective (Retrospectiva del Sprint)</vt:lpstr>
      <vt:lpstr>Kanban</vt:lpstr>
      <vt:lpstr>Kanban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Alejandro Rodriguez</dc:creator>
  <cp:lastModifiedBy>Diego Supanta</cp:lastModifiedBy>
  <cp:revision>219</cp:revision>
  <dcterms:created xsi:type="dcterms:W3CDTF">2019-05-21T16:47:52Z</dcterms:created>
  <dcterms:modified xsi:type="dcterms:W3CDTF">2025-03-25T14:08:17Z</dcterms:modified>
</cp:coreProperties>
</file>