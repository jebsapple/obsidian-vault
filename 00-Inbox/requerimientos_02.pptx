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0" r:id="rId2"/>
    <p:sldId id="335" r:id="rId3"/>
    <p:sldId id="364" r:id="rId4"/>
    <p:sldId id="260" r:id="rId5"/>
    <p:sldId id="365" r:id="rId6"/>
    <p:sldId id="366" r:id="rId7"/>
    <p:sldId id="372" r:id="rId8"/>
    <p:sldId id="373" r:id="rId9"/>
    <p:sldId id="367" r:id="rId10"/>
    <p:sldId id="378" r:id="rId11"/>
    <p:sldId id="379" r:id="rId12"/>
    <p:sldId id="380" r:id="rId13"/>
    <p:sldId id="381" r:id="rId14"/>
    <p:sldId id="382" r:id="rId15"/>
    <p:sldId id="384" r:id="rId16"/>
    <p:sldId id="385" r:id="rId17"/>
    <p:sldId id="383" r:id="rId18"/>
    <p:sldId id="386" r:id="rId19"/>
    <p:sldId id="387" r:id="rId20"/>
    <p:sldId id="388" r:id="rId21"/>
    <p:sldId id="390" r:id="rId22"/>
    <p:sldId id="391" r:id="rId23"/>
    <p:sldId id="392" r:id="rId24"/>
    <p:sldId id="320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89" d="100"/>
          <a:sy n="89" d="100"/>
        </p:scale>
        <p:origin x="1043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31/03/2026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8895-F1AB-B42E-DF6D-CA548BFC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94A782-3C64-0F7B-B56B-D209D7B5C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AEDF30-B0E5-347B-36C0-CD36DF8D3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228320-3A64-94F7-7A8D-49B29DD80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5656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141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47A3-77D0-E095-0971-92701718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7D7EDA-DBA9-00B2-9550-445E28EE6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AEBD0A-27AD-9038-3C69-60CA84C1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4B6A7A-DD75-CF52-6FCB-2D21690AB5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8075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34A9-2E28-3BB8-4FF9-EED2267C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6F9940-667B-36D0-0F6A-F8FC2E4A1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A2A4235-A6B2-A223-03C4-C021F0723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65608-BF9A-BF26-2A9E-06E562FE5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6008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8EB11-D098-E391-7241-90E7FA18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A01174-E610-B5F9-C32C-B505687CB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DC2B4E-CAC0-5CC0-AD77-F4EDD1836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CBE3AF-D6F8-C1DA-A0E9-6542E6352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3566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22B8-C893-870D-D016-FF3CEA8C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5CACAC-98BF-EA1C-28E1-A3C1561AC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2CFF9A-BC4C-583D-2950-2EEAE23C4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EFFE0F-7028-8073-65D4-EDE0082FE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822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087D5-A26E-97B8-63CE-FC1446BE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C743D7-B84B-4E3B-CCFC-203248DA1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8B18F6-C779-8F79-2F01-0879B5195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216BBB-FC36-0B71-5F87-1013B54F1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1668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0BE6-CA3D-525C-370A-8644DBC1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D45E91-9C21-D65E-A117-7570C3BEB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210102-74D7-1C72-4FB4-AE3AF4FDD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E724D1-0A4B-DDA4-7A1F-C23E20B35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6404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221D5-CB8F-47D9-2466-A23B668F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F55CA0-2663-E7E9-C37A-1581D23F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BC7453-AD15-0412-9923-93CAAC063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D1F214-CB7E-6B4C-B20E-6479AE890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97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1AD3B-A797-4067-952A-ACB45FC8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CA4341-C4D5-3B91-D19C-4310A4BF3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A59ED8-EB5D-43C8-4AF8-027C0A708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A5A2D5-D0C3-82A6-0B18-942ED4C6E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6382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DF25-E77F-A910-557C-6F620330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4C8B17-EE60-1ABD-A1AF-5A3CF9ECA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47CC8E-C2C4-53E5-0E46-58A6273EF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EEFFE6-A5FF-A0F7-6871-615316A72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28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28EE-0C87-ED82-D97F-F53E69C9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0241F6-10DC-F977-8468-DDBAD3437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64882F9-4D9A-4C2E-890B-EEC2D95CF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4B5DC7-FE15-D0B4-AEC4-3B25506B2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3319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7DAB-7B2F-F8B1-B895-8EADA861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1690E9-5AB4-2E59-C054-4AFB972C1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5908E7-5C7D-051E-5117-EE2F45289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BB4DE7-06C3-1858-6A8B-9A669EF6C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235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45DF0-A63E-BD49-85D4-531FFA89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755358D-233C-AAEF-889B-6BC99F301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F1AF16-453A-2AB8-4015-B715581B6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FC6CFA-E9F7-60E2-31F8-7248CB819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732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4CB30-6BA2-486D-81F1-71FD248E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284D51-9AD2-F0EE-EE14-5446D6725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C9F480-9C7B-F84E-33B5-04950BFE8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642904-775C-2369-B797-EBF5641F2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5865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18B4-17E2-D751-D624-7252E0AC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2E852D-95B5-6201-7E9E-A78290525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BAEC6BA-1978-2BB6-D738-254B575F9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687C98-3862-521B-21D8-9E7F6926F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9077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EDF5-EA0E-9B0A-D111-3D9F0FBD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525969-73AE-9D1C-2924-C747C5C23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480CD1-561A-1C31-D294-B88E09603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556A4A-F535-848D-10E1-F6E3B94C4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297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1457-4AEA-75AC-D981-C4941951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8A1C9A-1044-5219-C5AB-562B31773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21F621-47B3-1D57-9B89-A108BF44F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1124E7-ED33-36E0-5325-BD6EFE7E5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70385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2BCC4-2289-D047-3394-0852A00D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D18429-6577-9BC6-17ED-063B5A949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844102-C5DD-22B3-65EE-A7AC39108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0A6E77-A5A5-1C5A-6AFA-3DD51AA4E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19625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4DF7-1BC6-6180-99B8-E2611E31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71CFFF-3773-CFED-683F-2AE0C947C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C834AE-FEFF-1993-F9C6-AD7F6D29D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060A21-B6BD-2326-CFEC-290E34E93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0809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5AFC-BEC1-5BFE-6189-ED952569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E76703-2A20-19E9-1627-4A16B3AD8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9EA089-AC31-6DAF-4737-B5FAA5DE8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9CC854-0FCC-FF6D-E871-597C8CE82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08151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31/03/2026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A54DC-AC89-34C1-0968-06A00ED7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11FC9-1785-3DE5-6EF7-779DF140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CL" dirty="0"/>
              <a:t>Principios de comunicación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F0F10D2-2CB5-F4F5-3837-97438339D2F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noProof="0" dirty="0"/>
              <a:t>Lograr la comunicación efectiva es la actividad más desafiante.</a:t>
            </a:r>
          </a:p>
          <a:p>
            <a:pPr marL="0" indent="0">
              <a:buNone/>
            </a:pPr>
            <a:endParaRPr lang="es-CL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A0D551-EE64-CFA5-43F9-2AD6B0D2848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F098F11-6D72-FF14-DBEB-E49ACB0AA7D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1C36B6B-A27F-0427-AEAA-19B31D14EE9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FFFBF417-325C-5072-89B5-AECCFB6091E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D25A7C5-2F5F-5CE8-99CB-3F2150F0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E4F11C-044B-F79F-2E9F-6A2B7C9CE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FFB39874-7F76-5604-D902-5B9F88B74DD8}"/>
              </a:ext>
            </a:extLst>
          </p:cNvPr>
          <p:cNvGrpSpPr/>
          <p:nvPr/>
        </p:nvGrpSpPr>
        <p:grpSpPr>
          <a:xfrm>
            <a:off x="2893367" y="2413543"/>
            <a:ext cx="4913652" cy="3415269"/>
            <a:chOff x="2893367" y="2413543"/>
            <a:chExt cx="4913652" cy="3415269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6B1DE23-14CC-EE5C-E7CC-FD4660553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04187" y="2413543"/>
              <a:ext cx="4402832" cy="3074748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B97FF5B-5A2F-5926-DC42-046FEFFE8FC7}"/>
                </a:ext>
              </a:extLst>
            </p:cNvPr>
            <p:cNvSpPr txBox="1"/>
            <p:nvPr/>
          </p:nvSpPr>
          <p:spPr>
            <a:xfrm>
              <a:off x="4182616" y="5459480"/>
              <a:ext cx="29951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Riqueza de la comunicación</a:t>
              </a:r>
              <a:endParaRPr lang="es-CL" dirty="0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4A158E1-1B7E-381D-78AE-3EE728D41E8D}"/>
                </a:ext>
              </a:extLst>
            </p:cNvPr>
            <p:cNvSpPr txBox="1"/>
            <p:nvPr/>
          </p:nvSpPr>
          <p:spPr>
            <a:xfrm>
              <a:off x="2893367" y="2413543"/>
              <a:ext cx="461665" cy="3011048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r>
                <a:rPr lang="es-MX" dirty="0"/>
                <a:t>Efectividad de la comunicación</a:t>
              </a:r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92558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MX" dirty="0"/>
              <a:t>1</a:t>
            </a:r>
            <a:r>
              <a:rPr lang="es-CL" dirty="0"/>
              <a:t>0 Principios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69F034-329A-4742-8C2C-8C0DD2E698C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75659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Escuchar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Prepárese antes de comunicarse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Alguien debe facilitar la actividad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Es mejor la comunicación cara a cara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Tomar notas y documentar las decisiones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Buscar la colaboración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Permanecer enfocado, modular su discusión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Si algo no esta claro, dibuje una imagen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(a) Una vez que este de acuerdo en algo, pase a lo siguiente. (b) y si no puede coincidir en algo, pase a lo siguiente. (c) Si una característica o función no esta clara, y no puede aclararse en ese momento, pase a lo siguiente.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La negociación no es un concurso ni un juego. Funciona mejor cuando ambas partes ganan.</a:t>
            </a:r>
          </a:p>
        </p:txBody>
      </p:sp>
      <p:sp>
        <p:nvSpPr>
          <p:cNvPr id="3" name="Marcador de contenido 2"/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0F68CF3-2050-4A6F-AF5F-CB6DCB46DCE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13D1E45-2E41-49FD-8CBC-ECAD056683E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C3B1013-3A74-4808-9459-EF0A0BE2B45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6108630-1BE7-4C16-ACBC-7DAC47485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8AAB99-AA43-457A-BFA2-8B68AFA22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59F5-3AAE-14CB-9D79-D6860F2B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CE232-1409-1B6B-B8C9-A7A58359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Escuchar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B595DC-3C67-4374-1E57-4402090466E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Entender el punto de vista de la otra parte.</a:t>
            </a:r>
          </a:p>
          <a:p>
            <a:r>
              <a:rPr lang="es-MX" dirty="0"/>
              <a:t>Enfocarse en las palabras de quien habla.</a:t>
            </a:r>
          </a:p>
          <a:p>
            <a:r>
              <a:rPr lang="es-MX" dirty="0"/>
              <a:t>Pedir aclaración si algo no esta claro.</a:t>
            </a:r>
          </a:p>
          <a:p>
            <a:r>
              <a:rPr lang="es-MX" dirty="0"/>
              <a:t>Evitar interrumpir constantemente.</a:t>
            </a:r>
          </a:p>
          <a:p>
            <a:r>
              <a:rPr lang="es-MX" dirty="0"/>
              <a:t>Nunca ser beligerante en cuanto a palabras o acciones. (cuando otra persona este hablando)</a:t>
            </a:r>
          </a:p>
          <a:p>
            <a:r>
              <a:rPr lang="es-MX" dirty="0"/>
              <a:t>A veces, lo que no se dice explícitamente es tan importante como lo que sí.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6BE415-2F7B-0F66-416B-AA9F3A41E5E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29381EF-B077-77F9-DA0C-9CD9D9C9D00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BB60350-503C-6220-06D2-8C3CC6CB3525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6FD38C6-2B84-971B-F08F-E79D0296D2D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3A94BC1-5A25-0169-9261-49CC22DF5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99F92D-98CA-7DC1-623F-45F718DD1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6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5BD4-C5BB-E7C7-474E-EEA7552D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5F60B-447C-C178-4851-9DB36B2C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Prepárese antes de comunicarse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B9A616-8C2B-9D1E-AD58-020C807ACD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Entender el problema antes de la reunión.</a:t>
            </a:r>
          </a:p>
          <a:p>
            <a:r>
              <a:rPr lang="es-MX" dirty="0"/>
              <a:t>Investigar un poco para comprender la jerga del cliente.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Revisa el tema, ten una agenda, lleva preguntas clave. Improvisar puede generar errores o malentendidos.</a:t>
            </a:r>
          </a:p>
          <a:p>
            <a:pPr marL="0" indent="0">
              <a:buNone/>
            </a:pPr>
            <a:endParaRPr lang="es-MX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7EC703-D407-0A66-C2D5-EF420F9FAE01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2686638-1CFE-47EA-B428-E333F5F7D28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871DD68-47EF-C7B5-D3F2-BCB50F36673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04812BA-B8FA-0311-EB8D-6CF1DECA1849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3922D6D-079A-1BED-A7F5-75551C504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6653E3-BC13-0EF8-79F3-8FCB644BD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84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E5CB-29DD-CCB3-923E-A5F202FD7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E22B4-9056-E40B-40FB-3D3BCE8F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Alguien debe facilitar la actividad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5497DD-F67F-B75A-5713-E8EFA295A1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Toda reunión debe tener un líder (facilitador) </a:t>
            </a:r>
          </a:p>
          <a:p>
            <a:r>
              <a:rPr lang="es-MX" noProof="0" dirty="0"/>
              <a:t>Se lleve a cabo en un sentido productivo</a:t>
            </a:r>
          </a:p>
          <a:p>
            <a:r>
              <a:rPr lang="es-MX" noProof="0" dirty="0"/>
              <a:t>Para mediar cualquier conflicto</a:t>
            </a:r>
          </a:p>
          <a:p>
            <a:r>
              <a:rPr lang="es-MX" noProof="0" dirty="0"/>
              <a:t>Asegurar que se sigan otros principios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56C06D-3333-5659-E16C-EC6E8587D205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D0787BE-C674-692E-94EE-C3D7D3D48D4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C50A2D8-79A7-307B-2208-B04A9D3F430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8108F1A-AF1D-DB92-513C-E963BFE173B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A735044-B37E-0F37-AD48-834D4B96A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2C2F2E4-A917-FC29-144C-6182911D9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0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240A-331D-2AC4-2BB3-CE9B7187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408EE-15A7-358B-F19D-E34F6917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Es mejor la comunicación cara a cara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A0602D-8D54-61CD-4515-28A82BD4AF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Además, funciona mejor si existe un documento o un dibujo borrador que sirva como centro de discusión.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CD851E-6064-2A3C-7E61-DBBBE33FB600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B9ECACBC-A2D7-B537-84AB-2F3038281BA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1E78AEE-ECA0-8092-9088-646BE5C76E7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1291647-020B-D6A6-FD5D-BC24BC3D9E3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C50F21A-06F3-0F95-83A5-FD50B373E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C3581BC-4350-0C17-B013-CB68B0407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0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1BEF-F478-15FA-C636-6C840EB4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1A376-D9F9-6408-6835-4164846D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Tomar notas y documentar las decisiones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55EB73-053C-594D-7B0B-F1B70C5AF0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Es recomendable que otra persona participe para anotar los puntos y decisiones importantes.</a:t>
            </a:r>
          </a:p>
          <a:p>
            <a:endParaRPr lang="es-MX" dirty="0"/>
          </a:p>
          <a:p>
            <a:r>
              <a:rPr lang="es-MX" dirty="0"/>
              <a:t>Usa un acta de reunión, deja registro con las herramientas digitales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53B35E-52E4-6846-58F8-B2AD52EA36E3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7C5737B-71EE-C1FB-9349-75BA7596C5B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D9F89E4-6EA0-1DFC-30EF-D6EBFB124126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790A79F-D5AD-7C2C-80D8-9FBF67052D3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5CE2008-3672-47A4-36D4-AC78BCD07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B995B9-DA52-E6E3-3293-EFFFE96B9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35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1B7B-473E-5A40-B9F5-2D026162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24265-4E70-B044-1EC5-5894C97B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Buscar la colaboración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5DF873-AEF8-DFF3-978D-AC86BAF739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La colaboración y el consenso ocurre cuando el conocimiento colectivo de los miembros del equipo se usa para describir funciones o características del sistema.</a:t>
            </a:r>
          </a:p>
          <a:p>
            <a:r>
              <a:rPr lang="es-MX" dirty="0"/>
              <a:t>Cada pequeña colaboración sirve para generar confianza y crear una meta en común para el equipo.</a:t>
            </a:r>
          </a:p>
          <a:p>
            <a:endParaRPr lang="es-MX" dirty="0"/>
          </a:p>
          <a:p>
            <a:r>
              <a:rPr lang="es-MX" dirty="0"/>
              <a:t>No impongas soluciones. Invita a participar, haz preguntas abiertas: “¿Qué opinas?”, “¿Qué otras opciones vemos?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FFB1C1E-B75A-AA98-146C-76CC55FFF644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9743721-4E0B-F935-06B1-094CDEC0C08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944DBF7-88D1-6AA6-F049-12AC4FE19A8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B611EDAD-4921-C965-50E2-2EA6BA2A2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410376-942A-BD30-9F05-F940A8A37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59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1616-82A8-C13B-38E0-32722A8B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BA023-D5F9-91BA-BF32-004ADC16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Permanecer enfocado, modular su discusión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DACE46-0CA1-6042-CBBB-D1082002647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Entre más personas participen de la reunión, es más probable que el tema salte de un punto a otro.</a:t>
            </a:r>
          </a:p>
          <a:p>
            <a:r>
              <a:rPr lang="es-MX" dirty="0"/>
              <a:t>El facilitador debe mantener la conversación enfocada en un solo punto de discusión.</a:t>
            </a:r>
            <a:endParaRPr lang="es-MX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C210FC-8841-6A52-6E9F-54507D6670C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2738595-F329-7C08-9791-13A1BD1F42D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1324533-2E74-9A0E-C607-37E93656F6AF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3285B35-E0D9-FDDF-F118-0EA03E89DC4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1DA6017-5A27-2E1B-C0ED-7C3D1646C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ED6605A-DA40-0EBE-07BA-5A8E3EFEB1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D40E-3EED-ABB9-9192-949AC14A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88C4A-7ED8-0183-0542-6627B712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s-MX" dirty="0"/>
              <a:t>Si algo no esta claro, dibuje una imagen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E9BF04-9481-CB03-DD4D-7D10482F5E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Un dibujo o bosquejo puede aclarar las cosas cuando las palabras no logran hacerlo.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04BD76-3CFD-0840-0C13-40EF51A598DB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2E24CD24-0ABC-9DC5-68F2-CCD1FF58DD7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C7B471E-F565-9698-2DE4-675DE8EF306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8F78414-7BFF-EB2A-79CC-55EBCE8FF10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D6E39C5-1830-2E5A-B730-9C9E6CD2F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04B22E-68DF-2AA7-FB07-E8D5557BC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6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7BFDA-7F6D-E3E2-D5A0-4148CEC3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E9EC0-F1E9-9EED-90C0-67A469FC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(a) Una vez que este de acuerdo en algo, pase a lo siguiente. (b) y si no puede coincidir en algo, pase a lo siguiente. (c) Si una característica o función no esta clara, y no puede aclararse en ese momento, pase a lo siguiente.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3D1259-A95F-E2CF-55B1-E4D82E4C5E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noProof="0" dirty="0"/>
              <a:t>La comunicación, lleva tiempo. </a:t>
            </a:r>
          </a:p>
          <a:p>
            <a:r>
              <a:rPr lang="es-MX" dirty="0"/>
              <a:t>En vez de iterar sin fin, las personas deben reconocer que muchos temas requieren de una discusión profunda.</a:t>
            </a:r>
          </a:p>
          <a:p>
            <a:r>
              <a:rPr lang="es-MX" noProof="0" dirty="0"/>
              <a:t>Pasar </a:t>
            </a:r>
            <a:r>
              <a:rPr lang="es-MX" dirty="0"/>
              <a:t>a lo siguiente, es algunas veces la mejor forma de lograr agilidad en la comunicación.</a:t>
            </a:r>
            <a:endParaRPr lang="es-MX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4FF0C8-A2D2-9A82-6FEB-5C56FAA8613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8D731A49-1582-F0D3-DB8A-70D0F98E8D2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9C17444F-58B5-0BF4-6AAD-697AEC2FE7F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576E334A-BE31-61A6-3392-D82CCA5DF210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BE328AC-1FA7-9644-ACB5-FD34E527F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8B8FA8-FE83-938C-FE2E-B0A479F1FB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5BB7-18CA-52A6-7938-CFFEAF00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761CD-E782-2A5A-7ED8-2FDCBDFF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La negociación no es un concurso ni un juego. Funciona mejor cuando ambas partes ganan.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E50B8A-C2DE-6957-CB7A-7EC86D5B28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Existe situaciones en las que el ingeniero de software y los interesados deben negociar funciones, características, prioridades y fechas de entrega.</a:t>
            </a:r>
          </a:p>
          <a:p>
            <a:endParaRPr lang="es-MX" dirty="0"/>
          </a:p>
          <a:p>
            <a:r>
              <a:rPr lang="es-MX" dirty="0"/>
              <a:t>Entender lo que es verdaderamente importante para cada parte interesada, comunicar los límites técnicos con claridad, y buscar soluciones que maximicen el valor entregado dentro de los recursos disponibles.</a:t>
            </a:r>
          </a:p>
          <a:p>
            <a:r>
              <a:rPr lang="es-MX" dirty="0"/>
              <a:t>Porque negociar no es ceder completamente, sino encontrar acuerdos realistas y sostenibles para ambas partes.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54BA2E-8CE2-0D49-F682-D5C0E36B964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A8E78A5-FB76-C508-9B8D-2B07D7DF8E0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299377F-BB64-D0B4-12C7-D6B6F61CBA4F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032B789-152D-6597-949F-E72AFF0CE57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8845033-1904-48AD-6601-6A7A9BF3A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405C49-4100-0738-1879-62D805219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8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F36D-1E78-A426-99A8-0DF8B654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6593E-5A61-0584-7C9B-AA15B2C0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Estableciendo las bases para una compresión de los requerimientos del software.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CFFDF9-3C3F-3EB3-5C2D-99D536B8C1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2F98F5-FA31-1D2D-AB39-9BFCDE75060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638D2FB0-411D-794A-F8C8-5009138F676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D38248D-99F0-5892-29C9-30B8703FBDB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7C9B3D5-22B4-B7D9-A1EB-5A2CEA088393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57BA2D4-0763-D547-DBBD-1D3221605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4D29AB-0EAF-185C-214A-88C49AA650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71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ED14-B6E6-A574-87BE-F435BBAC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33EBF-97AB-161A-1948-AB1B704B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Identificación de las partes interesadas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A54096-EF45-A436-8BED-35D90DE8F6D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Los </a:t>
            </a:r>
            <a:r>
              <a:rPr lang="es-MX" dirty="0" err="1"/>
              <a:t>stakeholders</a:t>
            </a:r>
            <a:r>
              <a:rPr lang="es-MX" dirty="0"/>
              <a:t> (los interesados) son todas las personas, grupos u organizaciones que afectan o se ven afectadas por el desarrollo del sistema.</a:t>
            </a:r>
          </a:p>
          <a:p>
            <a:endParaRPr lang="es-MX" dirty="0"/>
          </a:p>
          <a:p>
            <a:r>
              <a:rPr lang="es-MX" dirty="0"/>
              <a:t>Tener en cuenta que la lista inicial crecerá a medida que se contacte a las partes interesadas.</a:t>
            </a:r>
          </a:p>
          <a:p>
            <a:r>
              <a:rPr lang="es-MX" dirty="0"/>
              <a:t>¿Con quién más piensa que debería hablar?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9F93E-738E-B5A7-F9CE-53C911C8E212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9F154753-40A8-10F0-A658-355D4383783B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C69F935-9A2B-E39D-F683-F98FE78184CD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6809E49-0938-6042-BD4B-3D800FA361A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559F1E6F-3F22-F398-EC4F-331722C98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BA19CD-4617-623A-B019-E3051F550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52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64954-DA61-F730-8D14-4DE3BE7E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693AF-3A20-4D75-DEED-8F7ACCBE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Reconocimiento de múltiples puntos de vista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754D64-6CFC-8265-4FD3-961A237786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Cada </a:t>
            </a:r>
            <a:r>
              <a:rPr lang="es-MX" dirty="0" err="1"/>
              <a:t>stakeholder</a:t>
            </a:r>
            <a:r>
              <a:rPr lang="es-MX" dirty="0"/>
              <a:t> ve el sistema desde su propio contexto, necesidad o problema.</a:t>
            </a:r>
          </a:p>
          <a:p>
            <a:endParaRPr lang="es-MX" dirty="0"/>
          </a:p>
          <a:p>
            <a:r>
              <a:rPr lang="es-MX" dirty="0"/>
              <a:t>Para el desarrollo de un sistema para una clínica:</a:t>
            </a:r>
          </a:p>
          <a:p>
            <a:pPr lvl="1"/>
            <a:r>
              <a:rPr lang="es-MX" dirty="0"/>
              <a:t>El médico quiere agilidad y ver historial médico.</a:t>
            </a:r>
          </a:p>
          <a:p>
            <a:pPr lvl="1"/>
            <a:r>
              <a:rPr lang="es-MX" dirty="0"/>
              <a:t>La recepcionista quiere que la agenda sea fácil de usar.</a:t>
            </a:r>
          </a:p>
          <a:p>
            <a:pPr lvl="1"/>
            <a:r>
              <a:rPr lang="es-MX" dirty="0"/>
              <a:t>El administrador quiere reportes de facturación.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D25820-B523-A9EE-8AC6-7D7826CB4CE5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C856199F-D2E5-DF9C-86FA-DE241B6F7292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5BC420A-9364-3D8E-E159-1CF850CA6576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EE2E334-49B7-5D0F-7DFC-5D53B495197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BAED061-AB79-7FC2-E513-46CF096A8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8A68A1-504C-E1D4-3165-6E1787C8F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41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A42B-4979-4C80-EEEE-41A18930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409F7-8FF0-15FF-0497-5A29730C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Trabajar en torno a la colaboración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B0166C-9301-C320-28DA-08C84B7A270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La comunicación no debe ser confrontativa. Se trata de construir juntos, no de ganar discusiones.</a:t>
            </a:r>
          </a:p>
          <a:p>
            <a:endParaRPr lang="es-MX" dirty="0"/>
          </a:p>
          <a:p>
            <a:r>
              <a:rPr lang="es-MX" dirty="0"/>
              <a:t>En vez de que el equipo técnico diga “Eso no se puede”, mejor decir:</a:t>
            </a:r>
          </a:p>
          <a:p>
            <a:r>
              <a:rPr lang="es-MX" dirty="0"/>
              <a:t>“Lo que proponen tendría un alto costo. ¿Podemos explorar una alternativa más simple que resuelva lo esencial?”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B0C626-3DB3-F9D9-7C0F-0AA2EFD22FAC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16B6E62C-DD77-0B61-B987-0300AF558BB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9DFE03F-C572-EF25-096E-B58398D6A5E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C0ADCB3-870C-FBFC-FCE4-6E315575F23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2840752-BE11-905D-5752-941E4192F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E7743C-ACC6-DB85-012C-BEDB1D057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53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EFDC-37BC-E8B9-B9F9-0421784D1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A93BC-8507-DA7F-579E-DBFEE31E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Hacer las primeras preguntas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3AAB60-7561-DB85-DDF3-B2648A68D6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Para romper el hielo e iniciar la comunicación:</a:t>
            </a:r>
          </a:p>
          <a:p>
            <a:endParaRPr lang="es-MX" dirty="0"/>
          </a:p>
          <a:p>
            <a:r>
              <a:rPr lang="es-MX" dirty="0"/>
              <a:t>Preguntas libres de contexto</a:t>
            </a:r>
          </a:p>
          <a:p>
            <a:pPr lvl="1"/>
            <a:r>
              <a:rPr lang="es-MX" dirty="0"/>
              <a:t>Preguntas que permitan entender mejor el problema </a:t>
            </a:r>
          </a:p>
          <a:p>
            <a:pPr lvl="1"/>
            <a:r>
              <a:rPr lang="es-MX" dirty="0"/>
              <a:t>Preguntas enfocadas en la efectividad de la actividad de comunicación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A89709-97F9-393E-68CB-FA0FF383C18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7BE5F18E-E654-17F5-D0E3-65C16B63D6C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53AA2DC-9073-03FB-5523-0EF3CD44299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78BF832-BAF4-A7ED-8043-FBF3558D8D9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F4165A2-039B-A2BC-F0BE-BFF69812C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FE3102A-3D20-569D-C4B4-D00D71D1F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3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47CF-6504-8063-4E1A-8C1848AB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463EA-C7F3-215F-9392-2745A149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Preguntas libres de contexto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4EE78C-A906-A321-5892-8BFC2A4C76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¿Quién está detrás de la solicitud de este trabajo?</a:t>
            </a:r>
          </a:p>
          <a:p>
            <a:r>
              <a:rPr lang="es-MX" dirty="0"/>
              <a:t>¿Quién usará la solución?</a:t>
            </a:r>
          </a:p>
          <a:p>
            <a:r>
              <a:rPr lang="es-MX" dirty="0"/>
              <a:t>¿Cuál será el beneficio económico de una solución exitosa?</a:t>
            </a:r>
          </a:p>
          <a:p>
            <a:r>
              <a:rPr lang="es-MX" dirty="0"/>
              <a:t>¿Hay otra fuente para la solución que necesita?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Estas preguntas ayudan a: </a:t>
            </a:r>
          </a:p>
          <a:p>
            <a:pPr lvl="1"/>
            <a:r>
              <a:rPr lang="es-MX" dirty="0"/>
              <a:t>identificar a los interesados.</a:t>
            </a:r>
          </a:p>
          <a:p>
            <a:pPr lvl="1"/>
            <a:r>
              <a:rPr lang="es-MX" dirty="0"/>
              <a:t>Identificar el beneficio mensurable de una implementación exitosa.</a:t>
            </a:r>
          </a:p>
          <a:p>
            <a:pPr lvl="1"/>
            <a:r>
              <a:rPr lang="es-MX" dirty="0"/>
              <a:t>Identificar alternativas al desarrollo de software personalizado.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8EAAFB-0E44-5B12-1500-C9DE363A53AD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40F12A11-D6A7-1754-44AB-959E78C52CE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AFA0178-145C-A021-8FC6-92F71A12D0C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93EC012-1067-B097-9E32-DBF9026FF7AC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A293CB4-8B74-7DA4-FB89-EE3B9F10D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A6EC72-4E07-D0DC-CFC2-EBD10B0A6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29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6C75B-A3F7-2833-62B8-F53ECF59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03189-83B9-76AA-7C47-A541577B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Preguntas enfocadas en la efectividad de la actividad de comunicación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862CC-24B2-B4C2-C3CF-ED73A519C84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352394" cy="4525963"/>
          </a:xfrm>
        </p:spPr>
        <p:txBody>
          <a:bodyPr>
            <a:normAutofit/>
          </a:bodyPr>
          <a:lstStyle/>
          <a:p>
            <a:r>
              <a:rPr lang="es-MX" dirty="0"/>
              <a:t>¿Son relevantes mis preguntas para el problema que tiene?</a:t>
            </a:r>
          </a:p>
          <a:p>
            <a:r>
              <a:rPr lang="es-MX" dirty="0"/>
              <a:t>¿Estoy haciendo demasiadas preguntas?</a:t>
            </a:r>
          </a:p>
          <a:p>
            <a:r>
              <a:rPr lang="es-MX" dirty="0"/>
              <a:t>¿Puede alguien más proveer información adicional?</a:t>
            </a:r>
          </a:p>
          <a:p>
            <a:r>
              <a:rPr lang="es-MX" dirty="0"/>
              <a:t>¿Debería preguntarle algo más?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La sesión de preguntas y respuestas debería usarse para el primer encuentro.</a:t>
            </a:r>
          </a:p>
          <a:p>
            <a:r>
              <a:rPr lang="es-MX" dirty="0"/>
              <a:t>Luego utilizar un formato de indagación de requerimientos.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70223E-EB1B-9259-2CF4-82C708B89058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0DDA1E66-E9FF-EE43-DC37-3E86F8D9A6C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B8F2CAC-ECF6-87C3-B645-2459799E5FA6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B3FF9DF-2A18-0B09-70C7-4CC3C6ECA152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EEF57101-C8B5-4E2D-765B-231FA2592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5B3756-65E2-F11C-FE39-F5C13C9D8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46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EE506-DAE2-F1CF-C685-8253245F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1C3B9-698B-0B79-6982-643C0711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Tipos de clientes</a:t>
            </a:r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FF378DE6-15F1-F385-0237-8E225BACA672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156211561"/>
              </p:ext>
            </p:extLst>
          </p:nvPr>
        </p:nvGraphicFramePr>
        <p:xfrm>
          <a:off x="609600" y="1554618"/>
          <a:ext cx="10195249" cy="49633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7219">
                  <a:extLst>
                    <a:ext uri="{9D8B030D-6E8A-4147-A177-3AD203B41FA5}">
                      <a16:colId xmlns:a16="http://schemas.microsoft.com/office/drawing/2014/main" val="326406572"/>
                    </a:ext>
                  </a:extLst>
                </a:gridCol>
                <a:gridCol w="2771001">
                  <a:extLst>
                    <a:ext uri="{9D8B030D-6E8A-4147-A177-3AD203B41FA5}">
                      <a16:colId xmlns:a16="http://schemas.microsoft.com/office/drawing/2014/main" val="2231775543"/>
                    </a:ext>
                  </a:extLst>
                </a:gridCol>
                <a:gridCol w="2593911">
                  <a:extLst>
                    <a:ext uri="{9D8B030D-6E8A-4147-A177-3AD203B41FA5}">
                      <a16:colId xmlns:a16="http://schemas.microsoft.com/office/drawing/2014/main" val="3391421346"/>
                    </a:ext>
                  </a:extLst>
                </a:gridCol>
                <a:gridCol w="3023118">
                  <a:extLst>
                    <a:ext uri="{9D8B030D-6E8A-4147-A177-3AD203B41FA5}">
                      <a16:colId xmlns:a16="http://schemas.microsoft.com/office/drawing/2014/main" val="2384128777"/>
                    </a:ext>
                  </a:extLst>
                </a:gridCol>
              </a:tblGrid>
              <a:tr h="2721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Tipo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Descripción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Riesgo / Desafío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Estrategia sugerida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3285740386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 El cliente silencioso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No aporta información, dice "todo está bien" o evita involucrarse.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Falta de datos clave, malentendidos.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Hacer preguntas cerradas y abiertas, mostrar prototipos para provocar reacción.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1454904745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con visión clara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Sabe lo que quiere y lo comunica con claridad.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Puede subestimar la complejidad técnica.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Valorar su claridad, pero contrastar expectativas con viabilidad.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728830879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cambiante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Cambia de opinión con frecuencia o redefine prioridades.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Incremento de costos y tiempo, confusión.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Documentar todo, aplicar gestión de cambios, usar entregas incrementales.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708709273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dominante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Impone su punto de vista sin escuchar otras áreas.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Requisitos sesgados o poco funcionales para otros usuarios.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Incluir más stakeholders, fomentar colaboración y visibilizar consecuencias.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131754316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confundido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Tiene ideas vagas o contradictorias sobre el sistema.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Dificultad para definir alcance, riesgo de retrabajo.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Usar ejemplos visuales, escenarios de uso, y simplificar el lenguaje técnico.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4223925789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espejo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Dice “como el sistema anterior” sin explicar detalles.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Reproduce problemas pasados, falta de innovación.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Pedir ejemplos concretos, cuestionar limitaciones del sistema previo.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1871013272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con múltiples sombreros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 dirty="0">
                          <a:effectLst/>
                        </a:rPr>
                        <a:t>Representa varios roles (ej. usuario y gerente), con prioridades distintas.</a:t>
                      </a:r>
                      <a:endParaRPr lang="es-CL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Puede generar conflictos internos o ambigüedad.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Separar funciones por rol, pedir que aclare “desde qué rol” habla.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3244443442"/>
                  </a:ext>
                </a:extLst>
              </a:tr>
              <a:tr h="5569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El cliente inseguro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No toma decisiones o pide muchas validaciones.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>
                          <a:effectLst/>
                        </a:rPr>
                        <a:t>Bloquea el avance del proyecto.</a:t>
                      </a:r>
                      <a:endParaRPr lang="es-CL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400" kern="100" dirty="0">
                          <a:effectLst/>
                        </a:rPr>
                        <a:t>Brindar confianza, ofrecer alternativas simples, definir criterios de aprobación.</a:t>
                      </a:r>
                      <a:endParaRPr lang="es-CL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514" marR="67514" marT="0" marB="0"/>
                </a:tc>
                <a:extLst>
                  <a:ext uri="{0D108BD9-81ED-4DB2-BD59-A6C34878D82A}">
                    <a16:rowId xmlns:a16="http://schemas.microsoft.com/office/drawing/2014/main" val="162454044"/>
                  </a:ext>
                </a:extLst>
              </a:tr>
            </a:tbl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99C716-FD55-2BCE-680B-CD361FE386EE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54DE674-3723-96EE-F571-D6E7D06C9D7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4D89346-F726-0E88-26FC-8B51093BB332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C7C2A5-240C-8DB7-654C-307EE42C6E0A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4FEB44A-3CB4-A349-F158-5D41D9144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5C15E18-1F7F-39F8-1405-09A4A0B76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49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7B32-0649-D3BF-117A-0C61CCB0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35C9F-45BE-B334-C7CF-2799099C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262524" cy="114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3200" dirty="0"/>
              <a:t>Actividad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FE5BDE-CF23-805A-1828-717144BDE634}"/>
              </a:ext>
            </a:extLst>
          </p:cNvPr>
          <p:cNvSpPr txBox="1">
            <a:spLocks/>
          </p:cNvSpPr>
          <p:nvPr/>
        </p:nvSpPr>
        <p:spPr>
          <a:xfrm>
            <a:off x="1981200" y="1417638"/>
            <a:ext cx="4402832" cy="4939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Myriad Pr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</a:pPr>
            <a:endParaRPr lang="es-CL" sz="1800" dirty="0"/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4CAD76D9-E645-EA6F-6508-5698129AC8D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536463B-F277-1D2C-5AD8-30E9DD84403E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67A56B5-22BA-C432-D555-D38C8254ECAD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44C5BAC-5A9F-5CA1-3E01-55E87B449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F504782-4431-FF95-A135-F3014109C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C050DF1-7897-C2A4-19DD-41F2944710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3722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3882</TotalTime>
  <Words>1477</Words>
  <Application>Microsoft Office PowerPoint</Application>
  <PresentationFormat>Panorámica</PresentationFormat>
  <Paragraphs>186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Principios de comunicación</vt:lpstr>
      <vt:lpstr>10 Principios</vt:lpstr>
      <vt:lpstr>Escuchar</vt:lpstr>
      <vt:lpstr>Prepárese antes de comunicarse</vt:lpstr>
      <vt:lpstr>Alguien debe facilitar la actividad</vt:lpstr>
      <vt:lpstr>Es mejor la comunicación cara a cara</vt:lpstr>
      <vt:lpstr>Tomar notas y documentar las decisiones</vt:lpstr>
      <vt:lpstr>Buscar la colaboración</vt:lpstr>
      <vt:lpstr>Permanecer enfocado, modular su discusión</vt:lpstr>
      <vt:lpstr>Si algo no esta claro, dibuje una imagen</vt:lpstr>
      <vt:lpstr>(a) Una vez que este de acuerdo en algo, pase a lo siguiente. (b) y si no puede coincidir en algo, pase a lo siguiente. (c) Si una característica o función no esta clara, y no puede aclararse en ese momento, pase a lo siguiente.</vt:lpstr>
      <vt:lpstr>La negociación no es un concurso ni un juego. Funciona mejor cuando ambas partes ganan.</vt:lpstr>
      <vt:lpstr>Estableciendo las bases para una compresión de los requerimientos del software.</vt:lpstr>
      <vt:lpstr>Identificación de las partes interesadas</vt:lpstr>
      <vt:lpstr>Reconocimiento de múltiples puntos de vista</vt:lpstr>
      <vt:lpstr>Trabajar en torno a la colaboración</vt:lpstr>
      <vt:lpstr>Hacer las primeras preguntas</vt:lpstr>
      <vt:lpstr>Preguntas libres de contexto</vt:lpstr>
      <vt:lpstr>Preguntas enfocadas en la efectividad de la actividad de comunicación</vt:lpstr>
      <vt:lpstr>Tipos de clientes</vt:lpstr>
      <vt:lpstr>Actividad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225</cp:revision>
  <dcterms:created xsi:type="dcterms:W3CDTF">2019-05-21T16:47:52Z</dcterms:created>
  <dcterms:modified xsi:type="dcterms:W3CDTF">2026-03-31T14:57:06Z</dcterms:modified>
</cp:coreProperties>
</file>