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40" r:id="rId2"/>
    <p:sldId id="335" r:id="rId3"/>
    <p:sldId id="375" r:id="rId4"/>
    <p:sldId id="356" r:id="rId5"/>
    <p:sldId id="358" r:id="rId6"/>
    <p:sldId id="368" r:id="rId7"/>
    <p:sldId id="369" r:id="rId8"/>
    <p:sldId id="376" r:id="rId9"/>
    <p:sldId id="377" r:id="rId10"/>
    <p:sldId id="378" r:id="rId11"/>
    <p:sldId id="320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1" autoAdjust="0"/>
    <p:restoredTop sz="95154" autoAdjust="0"/>
  </p:normalViewPr>
  <p:slideViewPr>
    <p:cSldViewPr snapToGrid="0">
      <p:cViewPr varScale="1">
        <p:scale>
          <a:sx n="89" d="100"/>
          <a:sy n="89" d="100"/>
        </p:scale>
        <p:origin x="1043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21/04/2026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A2C1-9BE9-A1C4-9DF9-EBE897F6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B69360-87C5-8315-B622-08C72E95D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82922-7D9A-9C1B-7210-22EB0162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76D445-D6B7-2D80-687F-84001CA5F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5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21/04/2026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21-04-2026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s-CL" sz="2400" b="1" noProof="0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s-CL" sz="2400" noProof="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DB9F-67D5-C650-4F03-3371B69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6EDD-E6FC-B5DB-D465-C228471B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pPr algn="l"/>
            <a:r>
              <a:rPr lang="es-MX" noProof="0" dirty="0"/>
              <a:t>Diagrama de paquetes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55B4DE5-40D4-2B10-5CCB-8022BCCC2D1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75BDB44-9E6F-F6B6-873B-7B3BEC531B3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BE4157-EDDA-DA8F-D77F-F7AE9AA9CEE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CA93F0E-614E-D21E-2BA0-1BD17D1BD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8B9C2A-F997-70F7-B84E-86813681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8B1CCFF-6AC8-90D9-5F18-E1C2414672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noProof="0" dirty="0"/>
              <a:t>Es un diagrama de alto nivel que muestra:</a:t>
            </a:r>
          </a:p>
          <a:p>
            <a:pPr algn="just"/>
            <a:r>
              <a:rPr lang="es-MX" noProof="0" dirty="0"/>
              <a:t>Los paquetes (agrupaciones de clases e interfaces).</a:t>
            </a:r>
          </a:p>
          <a:p>
            <a:pPr algn="just"/>
            <a:r>
              <a:rPr lang="es-MX" noProof="0" dirty="0"/>
              <a:t>Las dependencias entre paquetes.</a:t>
            </a:r>
          </a:p>
          <a:p>
            <a:pPr algn="just"/>
            <a:r>
              <a:rPr lang="es-MX" noProof="0" dirty="0"/>
              <a:t>La organización jerárquica de los paquetes.</a:t>
            </a:r>
          </a:p>
          <a:p>
            <a:pPr algn="just"/>
            <a:endParaRPr lang="es-MX" noProof="0" dirty="0"/>
          </a:p>
          <a:p>
            <a:pPr marL="0" indent="0" algn="just">
              <a:buNone/>
            </a:pPr>
            <a:r>
              <a:rPr lang="es-MX" noProof="0" dirty="0"/>
              <a:t>Esto permite:</a:t>
            </a:r>
          </a:p>
          <a:p>
            <a:pPr algn="just"/>
            <a:r>
              <a:rPr lang="es-MX" noProof="0" dirty="0"/>
              <a:t>Visualizar las capas (ej. presentación, lógica de negocio, acceso a datos).</a:t>
            </a:r>
          </a:p>
          <a:p>
            <a:pPr algn="just"/>
            <a:r>
              <a:rPr lang="es-MX" noProof="0" dirty="0"/>
              <a:t>Entender las dependencias y evitar acoplamientos innecesarios.</a:t>
            </a:r>
          </a:p>
          <a:p>
            <a:pPr algn="just"/>
            <a:r>
              <a:rPr lang="es-MX" noProof="0" dirty="0"/>
              <a:t>Planificar el mantenimiento y la evolución de la arquitectura</a:t>
            </a:r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86146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¿Qué representa?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838200" y="1825625"/>
            <a:ext cx="9985310" cy="4351338"/>
          </a:xfrm>
        </p:spPr>
        <p:txBody>
          <a:bodyPr>
            <a:normAutofit/>
          </a:bodyPr>
          <a:lstStyle/>
          <a:p>
            <a:r>
              <a:rPr lang="es-CL" noProof="0" dirty="0"/>
              <a:t>Los paquetes son contenedores de elementos de software.</a:t>
            </a:r>
          </a:p>
          <a:p>
            <a:pPr algn="just"/>
            <a:r>
              <a:rPr lang="es-CL" noProof="0" dirty="0"/>
              <a:t>Un paquete permite agrupar elementos de un modelo, tales como clases, actividades, estados, etc.</a:t>
            </a:r>
          </a:p>
          <a:p>
            <a:r>
              <a:rPr lang="es-CL" noProof="0" dirty="0"/>
              <a:t>Un paquete también puede contener otros paquetes.</a:t>
            </a:r>
          </a:p>
          <a:p>
            <a:pPr algn="just"/>
            <a:r>
              <a:rPr lang="es-CL" noProof="0" dirty="0"/>
              <a:t>Por ejemplo en un Sistema de Administración Universitaria podrían existir paquetes que contienen información de enseñanza, de investigación y de aspectos administrativos.</a:t>
            </a:r>
          </a:p>
          <a:p>
            <a:r>
              <a:rPr lang="es-CL" noProof="0" dirty="0"/>
              <a:t>Los paquetes son a menudo integrados en otros diagramas, como diagrama de despliegue.</a:t>
            </a:r>
          </a:p>
          <a:p>
            <a:endParaRPr lang="es-CL" noProof="0" dirty="0"/>
          </a:p>
        </p:txBody>
      </p:sp>
      <p:grpSp>
        <p:nvGrpSpPr>
          <p:cNvPr id="2" name="Agrupar 2">
            <a:extLst>
              <a:ext uri="{FF2B5EF4-FFF2-40B4-BE49-F238E27FC236}">
                <a16:creationId xmlns:a16="http://schemas.microsoft.com/office/drawing/2014/main" id="{8D9ACD34-934C-7F49-AA7D-308B1B10D49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28118E36-8A09-4AE2-C32C-11ECA47CA6F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A12DC72-2AD2-40DD-E8E3-940EDEC5571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BB49D438-D070-8538-2D3C-F6D1B9D8E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DA498E6-CBAA-09D0-D96B-87F1440D0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Paquete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1CB108-2143-4B02-813A-0C1167283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67" y="2332062"/>
            <a:ext cx="3501641" cy="2470150"/>
          </a:xfrm>
          <a:prstGeom prst="rect">
            <a:avLst/>
          </a:prstGeom>
        </p:spPr>
      </p:pic>
      <p:grpSp>
        <p:nvGrpSpPr>
          <p:cNvPr id="4" name="Agrupar 2">
            <a:extLst>
              <a:ext uri="{FF2B5EF4-FFF2-40B4-BE49-F238E27FC236}">
                <a16:creationId xmlns:a16="http://schemas.microsoft.com/office/drawing/2014/main" id="{170D71AF-89DA-8359-3E08-598E26B1E8A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2C8E464-18F8-B9F2-C496-07E60CAFA73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B57543C-AA3A-ED95-DC75-7A97ED5CA10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52552CE-9714-8904-9E7E-C64C7C611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1E3A3A4-0294-82EE-D3FC-5CEBA84B5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Paquetes dentro de paquetes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  <a:p>
            <a:endParaRPr lang="es-CL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3BB3FA-4D8A-4D50-9B08-2F966CBEE3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95"/>
          <a:stretch/>
        </p:blipFill>
        <p:spPr>
          <a:xfrm>
            <a:off x="2503755" y="1969476"/>
            <a:ext cx="5542963" cy="3726167"/>
          </a:xfrm>
          <a:prstGeom prst="rect">
            <a:avLst/>
          </a:prstGeom>
        </p:spPr>
      </p:pic>
      <p:grpSp>
        <p:nvGrpSpPr>
          <p:cNvPr id="5" name="Agrupar 2">
            <a:extLst>
              <a:ext uri="{FF2B5EF4-FFF2-40B4-BE49-F238E27FC236}">
                <a16:creationId xmlns:a16="http://schemas.microsoft.com/office/drawing/2014/main" id="{2D014F49-294E-B1A8-D9A5-9AF222C5E7E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9F1F12E-2960-AFB0-0F67-D71CDBAF9DFD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072C63C-9C0B-C103-3ADF-54BF212378BF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38FBE62-9390-9160-D0FC-23ED91D67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C756E5-2C15-4982-52F8-8DBCBBA0D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92108-1B2B-4E43-A3DA-4DF9DA7B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33924" cy="1325563"/>
          </a:xfrm>
        </p:spPr>
        <p:txBody>
          <a:bodyPr/>
          <a:lstStyle/>
          <a:p>
            <a:r>
              <a:rPr lang="es-CL" noProof="0" dirty="0"/>
              <a:t>Notaciones alternativas para diagramas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668510-2669-4CDE-A6E7-89CC66D08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23794" cy="4351338"/>
          </a:xfrm>
        </p:spPr>
        <p:txBody>
          <a:bodyPr/>
          <a:lstStyle/>
          <a:p>
            <a:endParaRPr lang="es-CL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D45DD5-996D-4403-A6B5-27625EDBB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126" y="1939925"/>
            <a:ext cx="5524500" cy="4371975"/>
          </a:xfrm>
          <a:prstGeom prst="rect">
            <a:avLst/>
          </a:prstGeom>
        </p:spPr>
      </p:pic>
      <p:grpSp>
        <p:nvGrpSpPr>
          <p:cNvPr id="5" name="Agrupar 2">
            <a:extLst>
              <a:ext uri="{FF2B5EF4-FFF2-40B4-BE49-F238E27FC236}">
                <a16:creationId xmlns:a16="http://schemas.microsoft.com/office/drawing/2014/main" id="{80A4D1EE-2A1E-0490-33BA-BFF1269C371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6CC57FF-6BF0-B5D2-8563-33209C8046E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12D332F-CE66-F42C-F110-D88911858C6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3D7961C-13A4-0321-E0CE-AD7A0227C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7E5F21-DCAB-3124-EDCD-843647772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A2C3-D6B2-28E2-62B0-3CB00DC2F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3060-2BD3-7EAF-66E2-1954DF17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33924" cy="1325563"/>
          </a:xfrm>
        </p:spPr>
        <p:txBody>
          <a:bodyPr/>
          <a:lstStyle/>
          <a:p>
            <a:r>
              <a:rPr lang="es-MX" noProof="0" dirty="0"/>
              <a:t>Ejemplo</a:t>
            </a:r>
            <a:endParaRPr lang="es-CL" noProof="0" dirty="0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A87D30D3-A471-A101-69C4-0F7D6B317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011" y="2029060"/>
            <a:ext cx="6886575" cy="3562350"/>
          </a:xfrm>
        </p:spPr>
      </p:pic>
      <p:grpSp>
        <p:nvGrpSpPr>
          <p:cNvPr id="5" name="Agrupar 2">
            <a:extLst>
              <a:ext uri="{FF2B5EF4-FFF2-40B4-BE49-F238E27FC236}">
                <a16:creationId xmlns:a16="http://schemas.microsoft.com/office/drawing/2014/main" id="{493B02AA-7D65-A8B5-C378-ED30A9FBA01D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A35D598-B3F7-A2D9-B94E-4D77D600F9A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D2C6244-27E5-97DD-B742-5A539D30D28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B140330-6BB1-B47C-7AEA-A41BCEB7A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53C91E-572C-9FBB-664E-7BF0941C7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6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50E2-03C9-A2BC-8835-888C6BA9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2C5B3-7F97-2AF5-34B7-A1D8D742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33924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L" noProof="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05F0331-F956-DD09-CF6F-ABB5903BE9F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5D0B540-5610-972A-A784-A12C2427644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70C2F37-8C21-8196-86DC-324C5554A56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F2834E21-1603-F301-0028-8335AE73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6C8610D-F0BE-1B64-D8CB-14F96A067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C7C6172-6279-0CE7-4A7F-B8A1A7ACD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58607" y="247254"/>
            <a:ext cx="4258541" cy="58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23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D8C6-8581-CF8B-CB04-178F9423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D7878-1F08-05F7-471C-47143245F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33924" cy="1325563"/>
          </a:xfrm>
        </p:spPr>
        <p:txBody>
          <a:bodyPr/>
          <a:lstStyle/>
          <a:p>
            <a:r>
              <a:rPr lang="es-MX" dirty="0"/>
              <a:t>Ejemplo</a:t>
            </a:r>
            <a:endParaRPr lang="es-CL" noProof="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58B18331-BAD3-8AF5-72B6-3C1A966CF09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5A0B4DB-226A-6B4E-28C7-931B00EDB63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5466068-7A3A-90A9-2F0C-559A2A18652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noProof="0" dirty="0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07B9C2F-A456-67C1-A03F-917CD7A29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04C16A-CBC1-1EC9-34CB-D5E6157C0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9E93D4-AD76-005E-FF75-544A7721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85310" cy="4351338"/>
          </a:xfrm>
        </p:spPr>
        <p:txBody>
          <a:bodyPr/>
          <a:lstStyle/>
          <a:p>
            <a:r>
              <a:rPr lang="es-MX" dirty="0"/>
              <a:t>Arquitectura lógica (3 capas)</a:t>
            </a:r>
            <a:endParaRPr lang="es-CL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BF4E6DE-7FF7-B2DF-FC62-C0A4F057D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904" y="2274743"/>
            <a:ext cx="8270387" cy="329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03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s-CL" sz="2400" b="1" noProof="0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s-CL" sz="2400" noProof="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188</Words>
  <Application>Microsoft Office PowerPoint</Application>
  <PresentationFormat>Panorámica</PresentationFormat>
  <Paragraphs>42</Paragraphs>
  <Slides>11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Diagrama de paquetes</vt:lpstr>
      <vt:lpstr>¿Qué representa?</vt:lpstr>
      <vt:lpstr>Paquete</vt:lpstr>
      <vt:lpstr>Paquetes dentro de paquetes</vt:lpstr>
      <vt:lpstr>Notaciones alternativas para diagramas</vt:lpstr>
      <vt:lpstr>Ejemplo</vt:lpstr>
      <vt:lpstr>Ejemplo</vt:lpstr>
      <vt:lpstr>Ejemplo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229</cp:revision>
  <dcterms:created xsi:type="dcterms:W3CDTF">2019-05-21T16:47:52Z</dcterms:created>
  <dcterms:modified xsi:type="dcterms:W3CDTF">2026-04-21T15:23:31Z</dcterms:modified>
</cp:coreProperties>
</file>