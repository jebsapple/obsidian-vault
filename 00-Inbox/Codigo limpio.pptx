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40" r:id="rId2"/>
    <p:sldId id="335" r:id="rId3"/>
    <p:sldId id="260" r:id="rId4"/>
    <p:sldId id="365" r:id="rId5"/>
    <p:sldId id="381" r:id="rId6"/>
    <p:sldId id="366" r:id="rId7"/>
    <p:sldId id="380" r:id="rId8"/>
    <p:sldId id="367" r:id="rId9"/>
    <p:sldId id="379" r:id="rId10"/>
    <p:sldId id="369" r:id="rId11"/>
    <p:sldId id="378" r:id="rId12"/>
    <p:sldId id="370" r:id="rId13"/>
    <p:sldId id="377" r:id="rId14"/>
    <p:sldId id="371" r:id="rId15"/>
    <p:sldId id="376" r:id="rId16"/>
    <p:sldId id="372" r:id="rId17"/>
    <p:sldId id="375" r:id="rId18"/>
    <p:sldId id="373" r:id="rId19"/>
    <p:sldId id="374" r:id="rId20"/>
    <p:sldId id="383" r:id="rId21"/>
    <p:sldId id="384" r:id="rId22"/>
    <p:sldId id="385" r:id="rId23"/>
    <p:sldId id="386" r:id="rId24"/>
    <p:sldId id="387" r:id="rId25"/>
    <p:sldId id="389" r:id="rId26"/>
    <p:sldId id="364" r:id="rId27"/>
    <p:sldId id="382" r:id="rId28"/>
    <p:sldId id="394" r:id="rId29"/>
    <p:sldId id="395" r:id="rId30"/>
    <p:sldId id="391" r:id="rId31"/>
    <p:sldId id="396" r:id="rId32"/>
    <p:sldId id="392" r:id="rId33"/>
    <p:sldId id="397" r:id="rId34"/>
    <p:sldId id="393" r:id="rId35"/>
    <p:sldId id="398" r:id="rId36"/>
    <p:sldId id="399" r:id="rId37"/>
    <p:sldId id="320" r:id="rId3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rge Díaz Ramirez" initials="JDR" lastIdx="1" clrIdx="0">
    <p:extLst>
      <p:ext uri="{19B8F6BF-5375-455C-9EA6-DF929625EA0E}">
        <p15:presenceInfo xmlns:p15="http://schemas.microsoft.com/office/powerpoint/2012/main" userId="S::jdiazr@utaicin.onmicrosoft.com::24a050a3-dd5e-4216-aec0-1116f1ad97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8B"/>
    <a:srgbClr val="E59356"/>
    <a:srgbClr val="313967"/>
    <a:srgbClr val="21B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1" autoAdjust="0"/>
    <p:restoredTop sz="95154" autoAdjust="0"/>
  </p:normalViewPr>
  <p:slideViewPr>
    <p:cSldViewPr snapToGrid="0">
      <p:cViewPr varScale="1">
        <p:scale>
          <a:sx n="89" d="100"/>
          <a:sy n="89" d="100"/>
        </p:scale>
        <p:origin x="1043" y="8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DEBD1-2A31-CD48-AEF6-F7D6115C2ADE}" type="datetimeFigureOut">
              <a:rPr lang="es-ES_tradnl" smtClean="0"/>
              <a:t>30/06/2025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C247B-BF22-8347-871C-504C859AB74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79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6536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77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1419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184B0-EF6D-777F-6478-D13BA92B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EC1642-EB75-E8EF-AAD0-598B9F2B8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574D23-96A5-65DB-957C-01912D416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4B6BE2-A9BB-F016-EE4A-E311324756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8528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B839A-B8A6-A9B0-F0A9-611AC6F5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1F31BF4-AB61-5400-E0F8-1122B4294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44836D5-8569-4C5F-B607-2BCCAB5A9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458DBF-707A-D286-6F95-35A033409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3262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65B97-A750-2039-BC40-8F7957486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0C3FAC1-64BB-C925-6100-2E07C0CD3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D090F6D-D7E5-75E8-8B9F-35CD79BAD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49C492-C923-9759-DDB2-E4081ABF0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232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C4258-B72B-FED1-8BB8-98940F287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F27F97-39F2-F80A-2D04-A0275D307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5A0AB16-460F-43FE-0E81-4EFCB5A96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EC3906-29ED-29F2-6B01-809019F76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1662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E6FB3-0E78-F6B4-C32A-6563EAFC2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A1F62B2-0CAB-62CE-73B1-FA95CEBE9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FC02D6-CF5E-DD60-AB0C-A19E5BBBA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C5C055-2DBB-20F4-1B5E-F41B996236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3188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3395-E4DE-D550-EE6F-6B3387B81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F0A563-E6B5-E885-6550-A28BEC678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C4F7DA3-3382-A32B-8C3E-486153B6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215E63-DED7-506A-946D-6B6BF00EC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0094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C5993-8CCE-5A73-98DF-43AD4217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6A47DD-5BE3-9B41-2BF2-99CDFFE54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B1DF6C7-33DD-391F-D638-631C3DEBE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AA31D4-24B2-68FB-8885-0FF5A27EE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0798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78A0-20AF-F075-82AB-F5B42F1ED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8EC4724-7D74-90CA-A95C-1254BC510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8440C6-20DB-EAE9-BDC2-2A7861ED7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8EEC98-29B3-0C00-99CA-7431042843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4784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BCBB8-540B-DC65-9048-2F3B33B5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A8DAB5A-4A67-26C3-DA85-B5C6DB5E8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616378-0FE3-DC11-3AB3-0AFE6C8E6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AB48CA-F253-770D-3AD3-B7F334B252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4321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EDE9B-B390-DE1B-5DC3-24DCA0653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E91A8C-A0AD-E902-0172-BAEAB7C7B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F712041-AF5C-225F-8923-78814A788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772D8B-F2ED-244A-B246-F7B839FAC0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4358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81D60-6D87-3BBD-A193-63E14089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32DF1C-327F-5D85-0971-86A3B66F5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39681FD-92F8-CC72-6566-00C2E106B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EA2297-8DCD-77E6-21E8-986CC9FEBB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01979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E0DDB-0D3E-143F-D396-4C77FEE50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33F9F4A-C82B-BB15-0B7F-20D904B72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0F59E6A-B2C3-19D7-B709-41C3330F8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58A39E-4441-87F2-F0AB-B2AE7A6BE6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72610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CC5A6-263F-F388-7636-19CFDD597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C73EC78-3264-A347-DF86-07E4BCDBA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BFC623-225B-B3CB-485A-7BDB63FF2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9D684F-E701-45DD-7475-1514C71FA3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3669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45298-A559-A72E-6A13-8BCE84310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B79B701-E153-1BBE-5406-3D9D4EE01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447632-AF25-AB15-D917-F37C57C5A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C68085-5580-5268-3B21-9684B6D805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25624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21EF7-33C1-F70E-5E12-BDC3886C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61C5C4C-971E-39A3-7A13-6FF8B5FA3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BC8D34F-BA43-6E56-FDD9-A1182D38A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3ED6FE-560A-4E24-FB57-8E8635C3FA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76727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1E42F-73A2-E36F-A942-6E2467BEE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A9F9335-F7D2-0A2D-F973-1C40C2E38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1FB738-70BE-1736-D7A0-73ECACE2C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7DB197-87B0-ED24-3FCC-46C4871827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749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F94F-D7BD-2226-C0C5-72AF9659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1FA547-C45A-F8D3-29BE-95663BC14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F23DA05-7A78-3FA0-2054-B9BF0A95D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7A3FFA-9EA6-1CED-FF61-BE97AD884E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67255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CF670-C742-FCDB-4E2E-0EA68F43D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88B735-008C-597F-6677-4DDC5C3E9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6425D7B-FE12-F9BF-95A5-A142355A3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7402EA-9FAB-5512-6283-18870C2AC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28970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71A14-905D-73F1-07E2-1DF65A7A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4738C8-E7EC-3C32-11F6-25BBA2435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423806D-0EBE-BC42-81C8-F616B9835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48034B-410B-A028-B1DD-9DD17FC62F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65263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86B1-66B0-F59F-D18B-D509F5EE9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86464C6-E34D-A653-DF64-5506F8431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278D619-365F-BA7D-EFE2-A0EF5BF7F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4151BD-9211-C546-775F-B4F28179F8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15570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ABF05-55E1-899D-B3B1-94C65027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1FE3259-F074-D28E-A138-07F85E700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23A7B9-62E7-4CC2-2C1F-BDD4BB006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8AE907-9291-C125-3B2F-F513BE2E3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86339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ED0D1-01D8-3735-AAD6-9260FCDE9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64ABEE-2AF0-34F0-2E01-F0EF4027F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A010046-9937-C31E-DE71-EADD9493C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C66131-06F8-435D-8211-0515383D07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81750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0741-AACA-CAB4-EE5A-03EC4686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D82EC9E-4876-9C8A-5748-318976A72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58EB452-3FA4-8883-F334-2257B0BF1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01E530-8465-668D-357E-A078416C5A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50594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290D5-7E9D-DFCA-0054-42EE9F6C8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CFDE9E2-5BD0-8A5B-4966-C81636C92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93E13D-D0AA-BFE5-EBE0-C84E691E3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DABB78-AECC-0560-DC08-54FD098B74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05304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D40E-8CA7-23C4-B38D-8F5644EE2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8F220B8-4D2A-3109-A6FE-89C2CB60D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AB07D4B-56EB-94F9-6FAF-D29B30257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37F01E-74E6-77B7-AAB4-733207536F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08063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DC046-DC9B-9BDE-FCDB-80EB9DA11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1C5FCC4-5776-4155-849C-ACA3FF478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3178CE-7360-A104-319C-21CA38F61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7296BF-A61D-54C2-9048-53EFF563EF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20936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D02D2-2822-80E1-DF72-B155249C0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515F590-5019-AA49-EBA6-29E356E16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118C3B6-7AC0-8043-DFA9-40293BCBD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9DAECB-2518-F6CA-4E75-010071718F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27816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A2755-83B2-1E21-E91A-422FC9D03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BCBF2BD-840C-643A-6915-B1752CC25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D736FA-E48B-11D2-0401-1DD9E41E1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BC5219-2BC4-B527-7FC7-36C0844623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96330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D427A-E3C6-E3F4-366D-8E905BCBE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BE23544-1071-EDF4-660E-1715195B7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58F52A-8CE3-B085-3F20-4A7991178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43A6EB-F482-758A-B7DC-31200D56A7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6589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9E2B4-9640-BE7E-D525-6834F42C1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C94E02-DE0D-AC88-9D9D-CF9029B25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465037C-93E0-1E06-B7DD-C29C562E5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B977FD-D360-3CF7-3623-F8FC36E87A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7789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53D9A-761A-B71C-1479-5B5F2AE90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891E591-9A5F-3F5B-363F-F5A86100A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F55CF7D-E55F-87AB-7D52-9BC6A98EC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13DE6A-4690-923A-9AE4-7B9A8A5F17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50860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E9BFF-C0F5-96A6-2229-5C442118B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16C0C57-AF50-2DEA-1B3A-4DFC781D3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A0F9CD4-7DC7-4ADB-655B-FB519CD27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F84BA-21A1-B7A1-2AEC-F5F0817D4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97450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564DE-93B7-CAE0-775D-0F9DFB91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5B1111E-97A7-6B53-A9DC-5826A32C9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FCBB2E-8686-A62C-8E07-D6B3A2800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6ABA39-78A9-4033-D596-2198EBDD3E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66810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 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37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662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FD61C-0A90-4B9A-A315-3352DD766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DF5D3-A263-4863-96AA-6D12D8E5C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12CE5-C309-4B2D-BD10-0B7E82AB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1AD1E-A33A-461A-BED1-AAFF577C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513482-8FCA-43F3-ACFF-A812379D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148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6DE8B-6551-4B7F-B63E-815A6341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0A3D7-77B3-46D3-AE54-4F9D6BEA8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F2BFCD-DDD8-4F96-82E2-713C0873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40AEEB-1DA1-4197-96DA-AD62BE8B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9690DF-3D9A-4C6A-AD36-5A24BB90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704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4D864-4966-49DA-B249-8501969A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3EA68D-43FF-4618-AB62-E544AE9DD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8C3B9-76FF-4222-99FB-9217B8D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BA531C-D6D2-49A3-91F5-6D96EA9A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AA51F6-8B98-4630-BB14-C36D0F55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20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A0161-C576-4CEA-B1E9-8FA28523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9F4BF3-C1AF-4910-9597-5A55AC439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48A99F-4AD1-4C69-9A10-919EB711C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EB02A-C1AC-418C-A930-C585FF05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30-06-2025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74E7B3-D0B5-433B-857E-25A13C04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4B8614-7433-45BC-8EC8-56E68443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077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A9C18-7D1B-4166-9AEE-545CA176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F95075-0256-468A-AD8F-A1F61BD08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B9E5E0-11B2-4B05-8789-85B0EE1FE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901DD3-B34A-4DD8-97CA-E2987EF30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7AAD9E-A074-42CF-9F72-8E1E7DFC5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D3C18F-D681-4F6D-BE42-609E8839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30-06-2025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EC7256-E19E-4965-8F6B-EFBABFAB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4FF0C1-9153-4A2B-8E4F-F4152A4F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614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39F0E-B6B3-413D-B8D5-3EBC57D1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873099-B246-4157-B167-31A34CBF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30-06-2025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9BD8DC-CF8D-421C-B582-E2834B32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83B244-BE08-415F-A652-086EC5A8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03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583E29-A1E4-4FC8-B85D-6BE7C231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30-06-2025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6CF79B-BA17-4D6D-BA75-5945303F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90813B-FF99-42BE-A591-72FF118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257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F088D-2BE3-4F1B-987C-8B905E08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5BA28C-FB6A-486F-B219-12DC33399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3A24BF-DD2F-442E-BB2E-79EB05656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195DAA-3224-49BF-B596-C1113FBB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30-06-2025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C48EA5-0BD0-4552-BA61-0390B0F0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22A88C-7103-4730-8BB6-AF641F0D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425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E449A-69B1-4F86-96DA-B146C800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1A6C1D-C402-4DEF-8993-5ADD947C4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3F710F-DB16-4B8C-AD3D-F16A5E7BE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293B3C-6CA9-4BD6-91F2-9DBFEA73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30-06-2025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81912F-C394-4F33-9CE7-44AD534C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308917-DFFC-4144-833E-8D05F22B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836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03DF0-44BB-459D-A838-EF8CDA87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7B1C5A-66F0-408C-BC62-0DA1AFF38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D2308-48DE-4E9C-9E15-BEFCC70A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30F8CE-545A-4BD0-895C-230FB50B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A02F44-FB0E-4A1A-80B4-D8CEC3A2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741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80EC09-2B9E-40D2-93FB-147D12F01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58EEA2-F90F-4403-88FA-A9DF1626D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1CCB10-1A32-4DA2-B6B5-FCD7DDDC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30-06-2025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64AA77-03F2-4456-AA16-C71D986C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0BDE9E-A2E7-4823-88CC-A641B66D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566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30/06/2025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contenido 2"/>
          <p:cNvSpPr>
            <a:spLocks noGrp="1"/>
          </p:cNvSpPr>
          <p:nvPr>
            <p:ph idx="13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buClr>
                <a:srgbClr val="C00000"/>
              </a:buClr>
              <a:defRPr sz="2800"/>
            </a:lvl1pPr>
            <a:lvl2pPr>
              <a:buClr>
                <a:srgbClr val="C00000"/>
              </a:buClr>
              <a:defRPr sz="2400"/>
            </a:lvl2pPr>
            <a:lvl3pPr>
              <a:buClr>
                <a:srgbClr val="C00000"/>
              </a:buClr>
              <a:defRPr sz="2000"/>
            </a:lvl3pPr>
            <a:lvl4pPr>
              <a:buClr>
                <a:srgbClr val="C00000"/>
              </a:buClr>
              <a:defRPr sz="1800"/>
            </a:lvl4pPr>
            <a:lvl5pPr>
              <a:buClr>
                <a:srgbClr val="C0000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106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409B45-06C2-4FB9-B509-A3427AB2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9B8760-EA6E-4D6E-B268-4352C5049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8343C-E792-4C94-A41E-2EF624E8F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9C6B0-6393-4131-9540-C068361BDDD0}" type="datetimeFigureOut">
              <a:rPr lang="es-CL" smtClean="0"/>
              <a:t>30-06-2025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AAD5A-6B54-414C-9F0A-B594F6AC7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33233-6333-443C-BD19-C54F679A2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2743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83" y="2826327"/>
            <a:ext cx="10875818" cy="2227783"/>
          </a:xfrm>
          <a:prstGeom prst="rect">
            <a:avLst/>
          </a:prstGeom>
        </p:spPr>
      </p:pic>
      <p:sp>
        <p:nvSpPr>
          <p:cNvPr id="10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-16914"/>
            <a:ext cx="12192000" cy="354751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01" y="5803165"/>
            <a:ext cx="2745501" cy="9409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3477"/>
            <a:ext cx="12192000" cy="331262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0600"/>
            <a:ext cx="3393948" cy="33274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5" y="1073299"/>
            <a:ext cx="2672079" cy="93379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050420"/>
            <a:ext cx="5303520" cy="281940"/>
          </a:xfrm>
          <a:prstGeom prst="rect">
            <a:avLst/>
          </a:prstGeom>
        </p:spPr>
      </p:pic>
      <p:pic>
        <p:nvPicPr>
          <p:cNvPr id="3" name="Imagen 2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5B34141F-EC2F-144F-8268-7D4182D95A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054" y="5356904"/>
            <a:ext cx="2971800" cy="10795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2FC531-FC77-0243-AE81-8F245A6FA785}"/>
              </a:ext>
            </a:extLst>
          </p:cNvPr>
          <p:cNvSpPr txBox="1"/>
          <p:nvPr/>
        </p:nvSpPr>
        <p:spPr>
          <a:xfrm>
            <a:off x="8616096" y="6468320"/>
            <a:ext cx="3498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rgbClr val="004C8B"/>
                </a:solidFill>
              </a:rPr>
              <a:t>INGENIERÍA CIVIL EN INFORMÁTICA</a:t>
            </a:r>
          </a:p>
        </p:txBody>
      </p:sp>
    </p:spTree>
    <p:extLst>
      <p:ext uri="{BB962C8B-B14F-4D97-AF65-F5344CB8AC3E}">
        <p14:creationId xmlns:p14="http://schemas.microsoft.com/office/powerpoint/2010/main" val="208229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171"/>
            <a:ext cx="12192000" cy="6890172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673" y="1073299"/>
            <a:ext cx="2672079" cy="93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Patrones de Código Limpio 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69F034-329A-4742-8C2C-8C0DD2E698C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Los Patrones de Código Limpio no son patrones de diseño clásicos, sino prácticas o principios recurrentes que te ayudan a escribir código más:</a:t>
            </a:r>
          </a:p>
          <a:p>
            <a:pPr lvl="1" algn="just"/>
            <a:r>
              <a:rPr lang="es-MX" dirty="0"/>
              <a:t>L</a:t>
            </a:r>
            <a:r>
              <a:rPr lang="es-MX" noProof="0" dirty="0" err="1"/>
              <a:t>egible</a:t>
            </a:r>
            <a:endParaRPr lang="es-MX" noProof="0" dirty="0"/>
          </a:p>
          <a:p>
            <a:pPr lvl="1" algn="just"/>
            <a:r>
              <a:rPr lang="es-MX" dirty="0"/>
              <a:t>M</a:t>
            </a:r>
            <a:r>
              <a:rPr lang="es-MX" noProof="0" dirty="0" err="1"/>
              <a:t>antenible</a:t>
            </a:r>
            <a:endParaRPr lang="es-MX" noProof="0" dirty="0"/>
          </a:p>
          <a:p>
            <a:pPr lvl="1" algn="just"/>
            <a:r>
              <a:rPr lang="es-MX" dirty="0"/>
              <a:t>C</a:t>
            </a:r>
            <a:r>
              <a:rPr lang="es-MX" noProof="0" dirty="0" err="1"/>
              <a:t>omprensible</a:t>
            </a:r>
            <a:endParaRPr lang="es-MX" noProof="0" dirty="0"/>
          </a:p>
          <a:p>
            <a:pPr lvl="1" algn="just"/>
            <a:r>
              <a:rPr lang="es-MX" dirty="0"/>
              <a:t>C</a:t>
            </a:r>
            <a:r>
              <a:rPr lang="es-MX" noProof="0" dirty="0" err="1"/>
              <a:t>on</a:t>
            </a:r>
            <a:r>
              <a:rPr lang="es-MX" noProof="0" dirty="0"/>
              <a:t> menos errores.</a:t>
            </a:r>
          </a:p>
          <a:p>
            <a:pPr marL="0" indent="0" algn="just">
              <a:buNone/>
            </a:pPr>
            <a:r>
              <a:rPr lang="es-MX" noProof="0" dirty="0"/>
              <a:t>Estos patrones surgen del libro "</a:t>
            </a:r>
            <a:r>
              <a:rPr lang="es-MX" noProof="0" dirty="0" err="1"/>
              <a:t>Clean</a:t>
            </a:r>
            <a:r>
              <a:rPr lang="es-MX" noProof="0" dirty="0"/>
              <a:t> </a:t>
            </a:r>
            <a:r>
              <a:rPr lang="es-MX" noProof="0" dirty="0" err="1"/>
              <a:t>Code</a:t>
            </a:r>
            <a:r>
              <a:rPr lang="es-MX" noProof="0" dirty="0"/>
              <a:t>" de Robert C. Martin y de buenas prácticas ampliamente aceptadas en la industria del software.</a:t>
            </a: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0F68CF3-2050-4A6F-AF5F-CB6DCB46DCE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13D1E45-2E41-49FD-8CBC-ECAD056683E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C3B1013-3A74-4808-9459-EF0A0BE2B45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56108630-1BE7-4C16-ACBC-7DAC47485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08AAB99-AA43-457A-BFA2-8B68AFA22B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98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6B708-E11B-91BA-C2A2-15DAF4E33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899D4-1446-A9E8-7901-42E6BEDA2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DRY (</a:t>
            </a:r>
            <a:r>
              <a:rPr lang="es-MX" dirty="0" err="1"/>
              <a:t>Don't</a:t>
            </a:r>
            <a:r>
              <a:rPr lang="es-MX" dirty="0"/>
              <a:t> </a:t>
            </a:r>
            <a:r>
              <a:rPr lang="es-MX" dirty="0" err="1"/>
              <a:t>Repeat</a:t>
            </a:r>
            <a:r>
              <a:rPr lang="es-MX" dirty="0"/>
              <a:t> </a:t>
            </a:r>
            <a:r>
              <a:rPr lang="es-MX" dirty="0" err="1"/>
              <a:t>Yourself</a:t>
            </a:r>
            <a:r>
              <a:rPr lang="es-MX" dirty="0"/>
              <a:t>)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113060-5A92-270F-440D-4B8FBD35BF6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La duplicación conduce a errores difíciles de encontrar. Si duplicas lógica y luego necesitas cambiarla, puedes olvidarte de una de las copias.</a:t>
            </a:r>
          </a:p>
          <a:p>
            <a:pPr marL="0" indent="0" algn="just">
              <a:buNone/>
            </a:pPr>
            <a:r>
              <a:rPr lang="es-MX" noProof="0" dirty="0"/>
              <a:t>Beneficios:</a:t>
            </a:r>
          </a:p>
          <a:p>
            <a:pPr algn="just"/>
            <a:r>
              <a:rPr lang="es-MX" noProof="0" dirty="0"/>
              <a:t>Cambios rápidos y seguros (una sola fuente de verdad).</a:t>
            </a:r>
          </a:p>
          <a:p>
            <a:pPr algn="just"/>
            <a:r>
              <a:rPr lang="es-MX" noProof="0" dirty="0"/>
              <a:t>Menor volumen de código.</a:t>
            </a:r>
          </a:p>
          <a:p>
            <a:pPr algn="just"/>
            <a:r>
              <a:rPr lang="es-MX" noProof="0" dirty="0"/>
              <a:t>Más fácil de probar y mantener.</a:t>
            </a:r>
          </a:p>
          <a:p>
            <a:pPr marL="457200" lvl="1" indent="0" algn="just">
              <a:buNone/>
            </a:pPr>
            <a:r>
              <a:rPr lang="es-MX" i="1" noProof="0" dirty="0">
                <a:solidFill>
                  <a:schemeClr val="bg2">
                    <a:lumMod val="50000"/>
                  </a:schemeClr>
                </a:solidFill>
              </a:rPr>
              <a:t>Cálculo de impuesto repetido en 3 lugares distintos. Si la fórmula cambia, puede que olvides actualizar alguna copia.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F9DE65-C3AC-B6FA-BEBA-D7C82A5F4047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1C9061B2-A520-DD30-6B4F-7565A038543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6F39917-7AE5-B447-97ED-20F7DF19F584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DCB56C3-4FC3-CC71-1D60-24E913CBE3D4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F773A41F-3D78-6AC6-CB34-ED0582E2A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27021E2-6ADE-548E-3CEA-CC01F23696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643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069B6-DF1B-E378-45E5-EC0BFDD3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FF9-8CE3-F7BF-EBD6-8315F0909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DRY (</a:t>
            </a:r>
            <a:r>
              <a:rPr lang="es-MX" dirty="0" err="1"/>
              <a:t>Don't</a:t>
            </a:r>
            <a:r>
              <a:rPr lang="es-MX" dirty="0"/>
              <a:t> </a:t>
            </a:r>
            <a:r>
              <a:rPr lang="es-MX" dirty="0" err="1"/>
              <a:t>Repeat</a:t>
            </a:r>
            <a:r>
              <a:rPr lang="es-MX" dirty="0"/>
              <a:t> </a:t>
            </a:r>
            <a:r>
              <a:rPr lang="es-MX" dirty="0" err="1"/>
              <a:t>Yourself</a:t>
            </a:r>
            <a:r>
              <a:rPr lang="es-MX" dirty="0"/>
              <a:t>)</a:t>
            </a:r>
            <a:endParaRPr lang="es-CL" dirty="0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2398CDC3-F853-BBB1-DFFC-C044CE02EE57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609600" y="1956016"/>
            <a:ext cx="5069554" cy="3202579"/>
          </a:xfrm>
        </p:spPr>
      </p:pic>
      <p:grpSp>
        <p:nvGrpSpPr>
          <p:cNvPr id="5" name="Agrupar 2">
            <a:extLst>
              <a:ext uri="{FF2B5EF4-FFF2-40B4-BE49-F238E27FC236}">
                <a16:creationId xmlns:a16="http://schemas.microsoft.com/office/drawing/2014/main" id="{35E18FE7-A50A-F236-88F5-7B9D147A346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57EA469-F1ED-9B06-CFF7-13553D51521E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0D889C4-8B41-736B-B004-2636C6A9E5EE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232AB43C-28A9-F5BE-C088-B55E9AEC7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2EA98F6-0D52-2341-EF90-33FB2EAD54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C662E31-F38F-4BE6-9810-269339B39F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1" y="1956016"/>
            <a:ext cx="5542926" cy="320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70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87ECF-9084-0254-75DC-F843F5CD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CA703-72CF-02BD-B750-D85639B1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KISS (Keep It Simple, Stupid)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3D0B15-9C83-5BC3-8110-05781AC507E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Tendemos a sobre complicar por anticipación o por ego técnico. Pero el código simple es más comprensible, más confiable y más fácil de mantener.</a:t>
            </a:r>
          </a:p>
          <a:p>
            <a:pPr marL="0" indent="0" algn="just">
              <a:buNone/>
            </a:pPr>
            <a:r>
              <a:rPr lang="es-MX" noProof="0" dirty="0"/>
              <a:t>Beneficios:</a:t>
            </a:r>
          </a:p>
          <a:p>
            <a:pPr algn="just"/>
            <a:r>
              <a:rPr lang="es-MX" noProof="0" dirty="0"/>
              <a:t>Facilita la lectura y revisión.</a:t>
            </a:r>
          </a:p>
          <a:p>
            <a:pPr algn="just"/>
            <a:r>
              <a:rPr lang="es-MX" noProof="0" dirty="0"/>
              <a:t>Reduce la posibilidad de errores.</a:t>
            </a:r>
          </a:p>
          <a:p>
            <a:pPr algn="just"/>
            <a:r>
              <a:rPr lang="es-MX" noProof="0" dirty="0"/>
              <a:t>Cualquiera puede entenderlo, incluso tú en 6 meses.</a:t>
            </a:r>
          </a:p>
          <a:p>
            <a:pPr marL="457200" lvl="1" indent="0" algn="just">
              <a:buNone/>
            </a:pPr>
            <a:r>
              <a:rPr lang="es-MX" i="1" noProof="0" dirty="0">
                <a:solidFill>
                  <a:schemeClr val="bg2">
                    <a:lumMod val="50000"/>
                  </a:schemeClr>
                </a:solidFill>
              </a:rPr>
              <a:t>Diseñar un sistema de </a:t>
            </a:r>
            <a:r>
              <a:rPr lang="es-MX" i="1" noProof="0" dirty="0" err="1">
                <a:solidFill>
                  <a:schemeClr val="bg2">
                    <a:lumMod val="50000"/>
                  </a:schemeClr>
                </a:solidFill>
              </a:rPr>
              <a:t>plugins</a:t>
            </a:r>
            <a:r>
              <a:rPr lang="es-MX" i="1" noProof="0" dirty="0">
                <a:solidFill>
                  <a:schemeClr val="bg2">
                    <a:lumMod val="50000"/>
                  </a:schemeClr>
                </a:solidFill>
              </a:rPr>
              <a:t> para algo que solo necesita un switch simple con 3 opciones.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BCABAE-557C-C9B2-4F6B-64CCA8006539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E67A9AFF-4E47-4262-F58C-F45F68267E7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B84EFCC-EFFB-7171-6FD2-EC8D074C0105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C2CE3F7-8974-9044-3561-44E7C198C998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7BFBA9B2-FE0C-53B0-14FF-A1174EBB0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6EDFD18-F3EA-60E8-C9D3-5AD9D2D3E3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17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DF6CB-DBDD-4583-6B40-A22D4833D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59834-AB9C-D3A0-2ACF-17106363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KISS (Keep It Simple, Stupid)</a:t>
            </a:r>
            <a:endParaRPr lang="es-CL" dirty="0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AD0DA867-02FB-203D-312D-39A662EA608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718197" y="1821785"/>
            <a:ext cx="3290835" cy="4130864"/>
          </a:xfr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69738D-A9BC-9643-2CA6-953C00CC44EB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65219496-5FDC-CB2F-CE99-609F75286EB5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C5FCE903-3B9F-4127-8777-581FEBB1D71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9B04AC3F-4EBD-C1F7-D334-4282FCB258C5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601C3E1E-6641-56E2-6342-88F41E844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6D5E6BB-EC83-CCDA-6F98-DFC3B4C732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315FA98-2FBA-6ABC-BFF9-9BC212D51A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3695" y="1815674"/>
            <a:ext cx="4120931" cy="414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77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A202F-3787-A546-5165-2C3F554DE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EF963-23EA-D4AB-8286-8185B5712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YAGNI (You Aren’t </a:t>
            </a:r>
            <a:r>
              <a:rPr lang="en-US" dirty="0" err="1"/>
              <a:t>Gonna</a:t>
            </a:r>
            <a:r>
              <a:rPr lang="en-US" dirty="0"/>
              <a:t> Need It)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958129-A925-4A64-4A15-676B0881AE6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Los programadores muchas veces anticipan requisitos que nunca se llegan a usar, aumentando la complejidad innecesariamente.</a:t>
            </a:r>
          </a:p>
          <a:p>
            <a:pPr marL="0" indent="0" algn="just">
              <a:buNone/>
            </a:pPr>
            <a:r>
              <a:rPr lang="es-MX" noProof="0" dirty="0"/>
              <a:t>Beneficios:</a:t>
            </a:r>
          </a:p>
          <a:p>
            <a:pPr algn="just"/>
            <a:r>
              <a:rPr lang="es-MX" noProof="0" dirty="0"/>
              <a:t>Menos código que mantener.</a:t>
            </a:r>
          </a:p>
          <a:p>
            <a:pPr algn="just"/>
            <a:r>
              <a:rPr lang="es-MX" noProof="0" dirty="0"/>
              <a:t>Desarrollo más rápido y enfocado. </a:t>
            </a:r>
          </a:p>
          <a:p>
            <a:pPr marL="0" indent="0" algn="just">
              <a:buNone/>
            </a:pPr>
            <a:endParaRPr lang="es-MX" i="1" dirty="0">
              <a:solidFill>
                <a:schemeClr val="bg2">
                  <a:lumMod val="50000"/>
                </a:schemeClr>
              </a:solidFill>
            </a:endParaRPr>
          </a:p>
          <a:p>
            <a:pPr marL="457200" lvl="1" indent="0" algn="just">
              <a:buNone/>
            </a:pPr>
            <a:r>
              <a:rPr lang="es-MX" i="1" noProof="0" dirty="0">
                <a:solidFill>
                  <a:schemeClr val="bg2">
                    <a:lumMod val="50000"/>
                  </a:schemeClr>
                </a:solidFill>
              </a:rPr>
              <a:t>Escribir un sistema de exportación a cinco formatos distintos, cuando por ahora solo se necesita PDF.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B33F2B-D60B-2578-BABC-DDF9B9A88134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167E517F-9BF2-D55A-12D2-84E43278077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D29E193-D7AA-C816-D8F0-61E582379AD7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9B8D6F73-E026-4C02-44F4-31125F63738D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C34CE158-B2D6-17D4-EB6E-B4D22FD50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1103C15-015C-3D12-C86E-633A196B3E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16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FABF1-CE78-3413-495A-99747F0CF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DC99D-647C-9E1F-6C2E-0E662566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YAGNI (You Aren’t </a:t>
            </a:r>
            <a:r>
              <a:rPr lang="en-US" dirty="0" err="1"/>
              <a:t>Gonna</a:t>
            </a:r>
            <a:r>
              <a:rPr lang="en-US" dirty="0"/>
              <a:t> Need It)</a:t>
            </a:r>
            <a:endParaRPr lang="es-CL" dirty="0"/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45B7D2B1-895F-8425-FE8E-81E7724EED9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6171972" y="2308279"/>
            <a:ext cx="4190772" cy="3062945"/>
          </a:xfr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8CFED6-C7F9-4B16-50BA-AECE46BA097C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C546EBC6-E60C-9234-A05E-F784E895490C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CAC2EDE-1731-9946-F630-6FF3BA37C0F4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4AEBC12-4FCA-0C55-C3B3-253424874A5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958D8C15-A776-D58B-6F34-E09DE8998D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E19EE46-18E4-42B4-A77C-45A2482DE9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F1E8C46-0549-7890-3C1A-5E2B598946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145" y="1570991"/>
            <a:ext cx="3386096" cy="474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446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8D8-6097-1488-2333-4F038B9A0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1A126-8C96-B745-AD8D-B24C873A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noProof="0" dirty="0"/>
              <a:t>Nombres significativos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BE2927-C4FB-0285-8498-E30C22ED396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Los nombres son la principal fuente de comunicación entre personas que leen código (¡y tú mismo!). Malos nombres hacen que el código sea un acertijo.</a:t>
            </a:r>
          </a:p>
          <a:p>
            <a:pPr marL="0" indent="0" algn="just">
              <a:buNone/>
            </a:pPr>
            <a:r>
              <a:rPr lang="es-MX" noProof="0" dirty="0"/>
              <a:t>Beneficios:</a:t>
            </a:r>
          </a:p>
          <a:p>
            <a:pPr algn="just"/>
            <a:r>
              <a:rPr lang="es-MX" noProof="0" dirty="0"/>
              <a:t>No necesitas comentarios redundantes.</a:t>
            </a:r>
          </a:p>
          <a:p>
            <a:pPr algn="just"/>
            <a:r>
              <a:rPr lang="es-MX" noProof="0" dirty="0"/>
              <a:t>Mejor comprensión por parte del equipo.</a:t>
            </a:r>
          </a:p>
          <a:p>
            <a:pPr algn="just"/>
            <a:r>
              <a:rPr lang="es-MX" noProof="0" dirty="0"/>
              <a:t>Más fácil de mantener y depurar.</a:t>
            </a:r>
            <a:endParaRPr lang="es-MX" i="1" dirty="0">
              <a:solidFill>
                <a:schemeClr val="bg2">
                  <a:lumMod val="50000"/>
                </a:schemeClr>
              </a:solidFill>
            </a:endParaRPr>
          </a:p>
          <a:p>
            <a:pPr marL="457200" lvl="1" indent="0" algn="just">
              <a:buNone/>
            </a:pPr>
            <a:r>
              <a:rPr lang="es-MX" i="1" noProof="0" dirty="0">
                <a:solidFill>
                  <a:schemeClr val="bg2">
                    <a:lumMod val="50000"/>
                  </a:schemeClr>
                </a:solidFill>
              </a:rPr>
              <a:t>f(a, b) es imposible de entender sin mirar todo el código. En cambio, </a:t>
            </a:r>
            <a:r>
              <a:rPr lang="es-MX" i="1" noProof="0" dirty="0" err="1">
                <a:solidFill>
                  <a:schemeClr val="bg2">
                    <a:lumMod val="50000"/>
                  </a:schemeClr>
                </a:solidFill>
              </a:rPr>
              <a:t>calcularArea</a:t>
            </a:r>
            <a:r>
              <a:rPr lang="es-MX" i="1" noProof="0" dirty="0">
                <a:solidFill>
                  <a:schemeClr val="bg2">
                    <a:lumMod val="50000"/>
                  </a:schemeClr>
                </a:solidFill>
              </a:rPr>
              <a:t>(base, altura) comunica su propósito de inmediato.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02B1FD-8464-FBD8-385B-182F1C0CC7C2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34751F02-B4FD-007E-912A-C714FD725CA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C185773-346A-F3E2-B140-214339D11881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8B4E1557-6886-F514-1757-3D3536A20289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6CE7F595-A645-60D6-AD06-B5FECF3A0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8F196F9-E1F1-C7F3-C919-DEE13280B6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6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89240-8BB3-6A53-1840-7E555693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9F239-2ECF-DBDE-1FF5-569771AC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noProof="0" dirty="0"/>
              <a:t>Nombres significativos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32F834-D393-C432-DB29-0FCFB290639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MX" i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5D0CBD-18AC-4ED2-B5C0-9AD58DD498C7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3752C3A9-5212-30A8-B061-D81D893B8393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D2A3628-99DE-4187-2762-03411F35D31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8833D82-9DD5-2D4A-93AB-CC611997EA6E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D77BAABE-6A9C-F207-5FD0-E206E51C4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CA141CB-6ADC-BBA4-168D-B565A83412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77D53D9-7328-CE54-D21F-3F25FA7B1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540" y="2556325"/>
            <a:ext cx="3680532" cy="270147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1F7AC15-841A-0DDD-54CC-B9B2EE706E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8653" y="2556325"/>
            <a:ext cx="5116907" cy="270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2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BB2F-A7B8-2B66-2DB4-0A2849075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957E9-A094-38D1-079C-16AB26F7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noProof="0" dirty="0"/>
              <a:t>Funciones pequeñas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358964-DFED-892A-10A7-750E02B91F0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Funciones largas mezclan responsabilidades y hacen difícil aislar errores o probar comportamientos específicos. Dividir en pequeñas funciones mejora modularidad.</a:t>
            </a:r>
          </a:p>
          <a:p>
            <a:pPr marL="0" indent="0" algn="just">
              <a:buNone/>
            </a:pPr>
            <a:r>
              <a:rPr lang="es-MX" noProof="0" dirty="0"/>
              <a:t>Beneficios:</a:t>
            </a:r>
          </a:p>
          <a:p>
            <a:pPr algn="just"/>
            <a:r>
              <a:rPr lang="es-MX" noProof="0" dirty="0"/>
              <a:t>Reutilizables.</a:t>
            </a:r>
          </a:p>
          <a:p>
            <a:pPr algn="just"/>
            <a:r>
              <a:rPr lang="es-MX" noProof="0" dirty="0"/>
              <a:t>Más fáciles de testear.</a:t>
            </a:r>
          </a:p>
          <a:p>
            <a:pPr algn="just"/>
            <a:r>
              <a:rPr lang="es-MX" noProof="0" dirty="0"/>
              <a:t>Mejora la comprensión de la lógica.</a:t>
            </a:r>
          </a:p>
          <a:p>
            <a:pPr marL="457200" lvl="1" indent="0" algn="just">
              <a:buNone/>
            </a:pPr>
            <a:r>
              <a:rPr lang="es-MX" i="1" noProof="0" dirty="0">
                <a:solidFill>
                  <a:schemeClr val="bg2">
                    <a:lumMod val="50000"/>
                  </a:schemeClr>
                </a:solidFill>
              </a:rPr>
              <a:t>Una función </a:t>
            </a:r>
            <a:r>
              <a:rPr lang="es-MX" i="1" noProof="0" dirty="0" err="1">
                <a:solidFill>
                  <a:schemeClr val="bg2">
                    <a:lumMod val="50000"/>
                  </a:schemeClr>
                </a:solidFill>
              </a:rPr>
              <a:t>procesarPedido</a:t>
            </a:r>
            <a:r>
              <a:rPr lang="es-MX" i="1" noProof="0" dirty="0">
                <a:solidFill>
                  <a:schemeClr val="bg2">
                    <a:lumMod val="50000"/>
                  </a:schemeClr>
                </a:solidFill>
              </a:rPr>
              <a:t>() que valida, calcula descuentos, guarda en la base de datos y envía correos: si algo falla, cuesta saber por qué.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7FF514-AE8E-3C66-620C-906057319827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B7738B58-B64C-2B88-1DC4-68594CD258BF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EA68C224-C706-96D7-A37D-CC043AE4A405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DB1DFF1-0C91-8544-403D-957C96E58318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5581B1E-F772-81F9-E82A-66B257E28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5A894FD-4071-656B-5D86-7CAA85ED4A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39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F2CDB-8186-936A-7CBB-D5033EF4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E09C6-F7FC-996A-04D0-1844D093D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noProof="0" dirty="0"/>
              <a:t>Funciones pequeñas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C77050-5C38-66EC-776B-7CE081DE88E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i="1" noProof="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72E309-2EA1-30C8-9756-C9A87B5B48C2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4858A553-8759-0B99-C6B3-6EF077D32D07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4CCCD8D-8EDA-00A3-4609-2CD69FA381B6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2A95C90-D09C-A18A-9D3D-4B95A9FB3E4A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9420882B-8250-BF47-880D-EEB64493E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836908A-8A10-7762-17A9-8368E8B385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95D827B-8F8F-9C6A-A876-2473D7CC8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817" y="1677805"/>
            <a:ext cx="4260765" cy="465046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5F513E8-C427-392D-FB23-171346D09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9769" y="1653061"/>
            <a:ext cx="5389697" cy="467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74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73613-3363-2C63-34E7-26F5CFE81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E09D2-E104-0256-5694-0F429497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noProof="0" dirty="0"/>
              <a:t>Separación de preocupaciones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AEE958-CA24-F645-3A5F-9C85D66E6A7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Cuando la lógica de negocio se mezcla con la interfaz o acceso a datos, se dificulta el testeo, el cambio de tecnologías o la reutilización.</a:t>
            </a:r>
          </a:p>
          <a:p>
            <a:pPr marL="0" indent="0" algn="just">
              <a:buNone/>
            </a:pPr>
            <a:r>
              <a:rPr lang="es-MX" noProof="0" dirty="0"/>
              <a:t>Beneficios:</a:t>
            </a:r>
          </a:p>
          <a:p>
            <a:pPr algn="just"/>
            <a:r>
              <a:rPr lang="es-MX" noProof="0" dirty="0"/>
              <a:t>Capas independientes = mejor mantenimiento.</a:t>
            </a:r>
          </a:p>
          <a:p>
            <a:pPr algn="just"/>
            <a:r>
              <a:rPr lang="es-MX" noProof="0" dirty="0"/>
              <a:t>Puedes cambiar la interfaz sin afectar la lógica.</a:t>
            </a:r>
          </a:p>
          <a:p>
            <a:pPr algn="just"/>
            <a:r>
              <a:rPr lang="es-MX" noProof="0" dirty="0"/>
              <a:t>Facilita las pruebas unitarias.</a:t>
            </a:r>
          </a:p>
          <a:p>
            <a:pPr marL="0" indent="0" algn="just">
              <a:buNone/>
            </a:pPr>
            <a:endParaRPr lang="es-MX" noProof="0" dirty="0"/>
          </a:p>
          <a:p>
            <a:pPr marL="457200" lvl="1" indent="0" algn="just">
              <a:buNone/>
            </a:pPr>
            <a:r>
              <a:rPr lang="es-MX" i="1" noProof="0" dirty="0">
                <a:solidFill>
                  <a:schemeClr val="bg2">
                    <a:lumMod val="50000"/>
                  </a:schemeClr>
                </a:solidFill>
              </a:rPr>
              <a:t>Un botón de interfaz que tiene lógica de negocio embebida directamente en su evento </a:t>
            </a:r>
            <a:r>
              <a:rPr lang="es-MX" i="1" noProof="0" dirty="0" err="1">
                <a:solidFill>
                  <a:schemeClr val="bg2">
                    <a:lumMod val="50000"/>
                  </a:schemeClr>
                </a:solidFill>
              </a:rPr>
              <a:t>onClick</a:t>
            </a:r>
            <a:endParaRPr lang="es-MX" i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944C3B-61FE-4607-54BB-CB6D1740875B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E9CBCB3F-1A2C-2415-997C-7EFBB35992AB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EF8C663-144F-6DAA-9DE1-1E6628BCDC49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CB941D3-1D3B-CBBD-F8BD-325534E73306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399D6BBE-056F-22D0-7052-9A2E945CA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58C6C32-F5C6-60E7-6269-F7F84B643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1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E0C16-BB4F-DAD5-1153-30102445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5EEA5-A8AC-302C-7E3F-B41FD6DA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noProof="0" dirty="0"/>
              <a:t>Separación de preocupaciones</a:t>
            </a:r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B5806D79-231C-E573-F0C2-9547E14255F5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3831487" y="3488142"/>
            <a:ext cx="6906057" cy="2322805"/>
          </a:xfr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928846-0780-176E-9F01-CC231209F199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33879AFA-9A27-7801-8AE9-81FFC64AA806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DB8AA0E-B49E-BA25-C361-B1740646B709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AB2CDD2-D427-6948-55FA-85C81C03210B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80829EC7-2018-6D71-7F0B-6F39DF1D49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6BCFE7B-0DBC-F50E-663C-F66D58AEB2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6230DEC-8E6E-920D-AE16-1FB30BCFCF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785" y="760746"/>
            <a:ext cx="7623368" cy="163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66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D58B-24A2-FD70-A9B9-2968E61C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59B91-0782-6FF3-7CF5-8D52EA9CA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noProof="0" dirty="0"/>
              <a:t>Refactorización continua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5BAB22-7C30-C9AE-E325-0282496C3AD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A medida que el código evoluciona, su estructura se deteriora. Refactorizar permite mantener un diseño saludable, sin modificar el comportamiento externo.</a:t>
            </a:r>
          </a:p>
          <a:p>
            <a:pPr marL="0" indent="0" algn="just">
              <a:buNone/>
            </a:pPr>
            <a:r>
              <a:rPr lang="es-MX" noProof="0" dirty="0"/>
              <a:t>Beneficios:</a:t>
            </a:r>
          </a:p>
          <a:p>
            <a:pPr algn="just"/>
            <a:r>
              <a:rPr lang="es-MX" noProof="0" dirty="0"/>
              <a:t>Mejora progresiva sin reescrituras costosas.</a:t>
            </a:r>
          </a:p>
          <a:p>
            <a:pPr algn="just"/>
            <a:r>
              <a:rPr lang="es-MX" noProof="0" dirty="0"/>
              <a:t>Facilita la lectura y testeo.</a:t>
            </a:r>
          </a:p>
          <a:p>
            <a:pPr algn="just"/>
            <a:r>
              <a:rPr lang="es-MX" noProof="0" dirty="0"/>
              <a:t>Previene la deuda técnica.</a:t>
            </a:r>
            <a:r>
              <a:rPr lang="es-MX" i="1" noProof="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 marL="457200" lvl="1" indent="0" algn="just">
              <a:buNone/>
            </a:pPr>
            <a:r>
              <a:rPr lang="es-MX" i="1" noProof="0" dirty="0">
                <a:solidFill>
                  <a:schemeClr val="bg2">
                    <a:lumMod val="50000"/>
                  </a:schemeClr>
                </a:solidFill>
              </a:rPr>
              <a:t>Dejar el código desordenado “porque funciona”, hasta que es imposible entenderlo o cambiarlo sin romperlo.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D655E0-6BF0-2388-E946-E45EC5306366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EFF97722-C425-0CBA-D96E-E608EF2D7B68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77ABDBA-CFB0-4BCC-B936-EF3E5A451754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BD498B2-1F27-7ADC-38C4-7FFDB6406A96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962F7682-300E-6750-1056-A165469FE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803EAD1-2324-ADFE-64CD-CE569E5946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880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FFED6-1072-449B-F8B2-C28924CFC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1C9B4-3D78-905F-C064-0C9E9B4F2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noProof="0" dirty="0"/>
              <a:t>Refactorización continua</a:t>
            </a: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F74A0560-1C2C-1A63-AA91-6288DEC1BBC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1023208" y="2684231"/>
            <a:ext cx="4125459" cy="2405353"/>
          </a:xfr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3BF1C2-5E73-F68B-6D96-5425078E8C3B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7BD3C1BF-1BBF-4EE3-2B98-F7496F4284A1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D5B0369-0F2A-8788-6FB5-50DFA027A47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5ADC266-E644-1B32-FEF1-AEB51213F1E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463DBEB-9A50-55FD-3ACB-BC4DF3635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E781A84-F963-A4FC-7CE7-9DB0E56511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BA1DCCA-B703-2E0C-C76E-A2772D5806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970" y="2714424"/>
            <a:ext cx="4570579" cy="237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953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280B3-1A5F-E42B-16D5-18B0FB592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AD27F-C698-22E2-BF23-356D50CD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noProof="0" dirty="0"/>
              <a:t>Regla de las Tres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5A7DA6-403F-0148-F7F0-E67E351D5C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El código repetido es costoso de mantener: si hay que hacer un cambio o corregir un error, debe hacerse en múltiples lugares.</a:t>
            </a:r>
          </a:p>
          <a:p>
            <a:pPr marL="0" indent="0" algn="just">
              <a:buNone/>
            </a:pPr>
            <a:r>
              <a:rPr lang="es-MX" noProof="0" dirty="0"/>
              <a:t>Beneficios:</a:t>
            </a:r>
          </a:p>
          <a:p>
            <a:pPr algn="just"/>
            <a:r>
              <a:rPr lang="es-MX" noProof="0" dirty="0"/>
              <a:t>Reducción de errores y mantenimiento más sencillo.</a:t>
            </a:r>
          </a:p>
          <a:p>
            <a:pPr algn="just"/>
            <a:r>
              <a:rPr lang="es-MX" noProof="0" dirty="0"/>
              <a:t>Mejora la claridad del propósito del código.</a:t>
            </a:r>
          </a:p>
          <a:p>
            <a:pPr algn="just"/>
            <a:r>
              <a:rPr lang="es-MX" noProof="0" dirty="0"/>
              <a:t>Facilita la refactorización y la evolución del software.</a:t>
            </a:r>
          </a:p>
          <a:p>
            <a:pPr marL="457200" lvl="1" indent="0" algn="just">
              <a:buNone/>
            </a:pPr>
            <a:r>
              <a:rPr lang="es-MX" i="1" noProof="0" dirty="0">
                <a:solidFill>
                  <a:schemeClr val="bg2">
                    <a:lumMod val="50000"/>
                  </a:schemeClr>
                </a:solidFill>
              </a:rPr>
              <a:t>La duplicación lleva a inconsistencias y errores. Peor aún, suele ocultar comportamientos comunes que deberían haberse abstraído.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CDBDBF-87B7-70EF-399D-A3CF35C622E5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134E665A-F4EB-072A-F11A-D0A9E5C51084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ED0A1DF-0D6E-B843-D086-A4DB6EC974A2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7CD495C-EC5C-13DA-20E8-ACF086C0AC82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B07992B8-1ED1-ACCF-1492-41E34BE24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C1F1EB1-94CD-95E1-ACA9-DD89B8154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02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AF178-899E-E780-A9BB-9D846463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27743-3BD6-7F98-6BF8-858B128F3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noProof="0" dirty="0"/>
              <a:t>Regla de las Tres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B35647-37D6-D806-9BC6-40CD8E0CCD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MX" i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1547E0-A10A-5823-5749-2E6A97074B4C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C8E53197-0952-F0E1-8CDE-7AA94DC17C97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DE5B332-F7FD-FFDF-29E6-B8487E1E8677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E71748A-B265-FD0B-9C59-E1E96E943F49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EFEE637-A59E-CC42-2BC8-21BD561CA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B013062-C6B5-2A9D-AA86-1C3EAC970A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B875DAA-161E-A9D0-9A4A-54AB19CF0E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1695896"/>
            <a:ext cx="4402832" cy="433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1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3FBE9-4915-3C88-7627-2F0EB073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BC792-31A5-DCAC-11AE-65571CB26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noProof="0" dirty="0" err="1"/>
              <a:t>Singleton</a:t>
            </a:r>
            <a:endParaRPr lang="es-CL" noProof="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A59BE1-B104-E7D2-D47D-989FC6331B3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El patrón </a:t>
            </a:r>
            <a:r>
              <a:rPr lang="es-MX" noProof="0" dirty="0" err="1"/>
              <a:t>Singleton</a:t>
            </a:r>
            <a:r>
              <a:rPr lang="es-MX" noProof="0" dirty="0"/>
              <a:t> es uno de los patrones de diseño más conocidos y utilizados en programación, especialmente cuando se necesita garantizar que una clase tenga una única instancia y proporcionar un punto de acceso global a ella.</a:t>
            </a:r>
          </a:p>
          <a:p>
            <a:pPr marL="0" indent="0" algn="just">
              <a:buNone/>
            </a:pPr>
            <a:endParaRPr lang="es-MX" i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7DCAA6-F2F2-862D-6AC2-030294630F20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31206BC2-D11B-652D-16AB-C2F64E6AF541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EA80643-2A7B-8FCE-DCDA-5E7713646BE9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32CA4E7-CC01-C43A-D6DE-F83E73015C54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7A3CF085-E05B-F0A4-4EE6-48602A48E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E8BE17E-BF4E-C856-66FD-9B9C3881F8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92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930AE-709D-44F7-918F-50A5DAE5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9389C-CA95-B6EF-E103-19DA6F5E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noProof="0" dirty="0" err="1"/>
              <a:t>Singleton</a:t>
            </a:r>
            <a:endParaRPr lang="es-CL" noProof="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2891F4-3C1C-F8A5-283E-25C8A3008AF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Estás</a:t>
            </a:r>
            <a:r>
              <a:rPr lang="es-MX" noProof="0" dirty="0"/>
              <a:t> desarrollando un sistema y necesitas una única conexión a la base de datos, o un único manejador de configuración, o un </a:t>
            </a:r>
            <a:r>
              <a:rPr lang="es-MX" noProof="0" dirty="0" err="1"/>
              <a:t>logger</a:t>
            </a:r>
            <a:r>
              <a:rPr lang="es-MX" noProof="0" dirty="0"/>
              <a:t> global. Si se crean múltiples instancias, podrías tener inconsistencias o un uso ineficiente de recursos. </a:t>
            </a:r>
          </a:p>
          <a:p>
            <a:pPr marL="0" indent="0" algn="just">
              <a:buNone/>
            </a:pPr>
            <a:r>
              <a:rPr lang="es-MX" noProof="0" dirty="0"/>
              <a:t>Aquí es donde entra el </a:t>
            </a:r>
            <a:r>
              <a:rPr lang="es-MX" noProof="0" dirty="0" err="1"/>
              <a:t>Singleton</a:t>
            </a:r>
            <a:r>
              <a:rPr lang="es-MX" noProof="0" dirty="0"/>
              <a:t> quien garantiza que solo exista una instancia y que sea accesible desde cualquier parte del código.</a:t>
            </a:r>
          </a:p>
          <a:p>
            <a:pPr marL="0" indent="0" algn="just">
              <a:buNone/>
            </a:pPr>
            <a:endParaRPr lang="es-MX" i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423547-FE8C-8074-7353-4852C53B1822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470BFAF9-AE99-8A02-DBBB-0E5D829BFF6C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C268625-52A3-150A-8534-591953332A22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72B4B8A-8522-07BE-A067-39929D31BE45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95B25626-6298-3DAE-A635-7478EB6D7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CB4045F-4C7F-CB6B-7B10-47E09CC42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23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C909F-8BDE-11CD-D46F-F14FD8741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88475-A0AE-BFE5-8138-03D501431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MX" dirty="0"/>
              <a:t>¿Cómo funciona?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4FC6D8-CB52-7624-5E87-D8B590E116C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b="1" noProof="0" dirty="0"/>
              <a:t>Constructor privado</a:t>
            </a:r>
            <a:r>
              <a:rPr lang="es-MX" noProof="0" dirty="0"/>
              <a:t>: impide que se creen instancias desde fuera de la clase.</a:t>
            </a:r>
          </a:p>
          <a:p>
            <a:pPr marL="0" indent="0" algn="just">
              <a:buNone/>
            </a:pPr>
            <a:r>
              <a:rPr lang="es-MX" b="1" noProof="0" dirty="0"/>
              <a:t>Instancia estática</a:t>
            </a:r>
            <a:r>
              <a:rPr lang="es-MX" noProof="0" dirty="0"/>
              <a:t>: se almacena la única instancia dentro de un atributo estático de la misma clase.</a:t>
            </a:r>
          </a:p>
          <a:p>
            <a:pPr marL="0" indent="0" algn="just">
              <a:buNone/>
            </a:pPr>
            <a:r>
              <a:rPr lang="es-MX" b="1" noProof="0" dirty="0"/>
              <a:t>Método de acceso público</a:t>
            </a:r>
            <a:r>
              <a:rPr lang="es-MX" noProof="0" dirty="0"/>
              <a:t>: proporciona acceso a la instancia, generalmente llamado </a:t>
            </a:r>
            <a:r>
              <a:rPr lang="es-MX" noProof="0" dirty="0" err="1"/>
              <a:t>getInstance</a:t>
            </a:r>
            <a:r>
              <a:rPr lang="es-MX" noProof="0" dirty="0"/>
              <a:t>() o similar.</a:t>
            </a:r>
          </a:p>
          <a:p>
            <a:pPr marL="0" indent="0" algn="just">
              <a:buNone/>
            </a:pPr>
            <a:endParaRPr lang="es-MX" noProof="0" dirty="0"/>
          </a:p>
          <a:p>
            <a:pPr marL="0" indent="0" algn="just">
              <a:buNone/>
            </a:pPr>
            <a:endParaRPr lang="es-MX" noProof="0" dirty="0"/>
          </a:p>
          <a:p>
            <a:pPr marL="0" indent="0" algn="just">
              <a:buNone/>
            </a:pPr>
            <a:endParaRPr lang="es-MX" i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D0181510-1872-FE76-71E7-98DD2C74CE88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E95316C6-5197-2991-EA57-98E01853A2D9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C5EE85E-D515-B1D3-D0F4-C76BF201B4A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523FF73F-35F6-E333-6C7D-47E83D8D7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4BE2AA9-B01A-B9F4-385B-BBF3D39147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62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220B-6547-9ED9-CBE6-3750277A1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0FA6BA-F293-7A62-6049-D5014A902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MX" dirty="0"/>
              <a:t>¿Cómo funciona?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5CEF98-5BD5-B7F2-5112-26F30512839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MX" noProof="0" dirty="0"/>
          </a:p>
          <a:p>
            <a:pPr marL="0" indent="0" algn="just">
              <a:buNone/>
            </a:pPr>
            <a:endParaRPr lang="es-MX" noProof="0" dirty="0"/>
          </a:p>
          <a:p>
            <a:pPr marL="0" indent="0" algn="just">
              <a:buNone/>
            </a:pPr>
            <a:endParaRPr lang="es-MX" i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11657254-BB91-E4BD-81D0-ECA82C744055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6DB60E5-A525-9B49-0B9F-29B68F0A1A6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E2CEAE3-3F29-2D79-2336-E01FAA03A1E2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EC6E6731-5655-910F-B1BE-F2C20697B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21FA767-AB57-2BAE-5DE0-A6EBF56002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88777B9-5938-EA26-76E4-DC2E33321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600201"/>
            <a:ext cx="3221554" cy="422612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66F112C-85BD-CA7E-7480-C8494F9F49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1852" y="1600201"/>
            <a:ext cx="4164231" cy="323884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7676610-6E6F-DE46-F111-ED8DECB88F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625" y="1600201"/>
            <a:ext cx="2424826" cy="649507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6BAB181-69B3-1CBA-B776-8F5A2A8AD263}"/>
              </a:ext>
            </a:extLst>
          </p:cNvPr>
          <p:cNvSpPr txBox="1"/>
          <p:nvPr/>
        </p:nvSpPr>
        <p:spPr>
          <a:xfrm>
            <a:off x="4053463" y="4963400"/>
            <a:ext cx="67029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s1 y s2 apuntan al mismo objeto en memoria.</a:t>
            </a:r>
          </a:p>
          <a:p>
            <a:r>
              <a:rPr lang="es-MX" dirty="0"/>
              <a:t>El valor aleatorio se genera solo una vez en el constructor del </a:t>
            </a:r>
            <a:r>
              <a:rPr lang="es-MX" dirty="0" err="1"/>
              <a:t>Singleton</a:t>
            </a:r>
            <a:r>
              <a:rPr lang="es-MX" dirty="0"/>
              <a:t>.</a:t>
            </a:r>
          </a:p>
          <a:p>
            <a:r>
              <a:rPr lang="es-MX" dirty="0"/>
              <a:t>Aunque lo "pidamos" muchas veces, la clase solo se construye una vez.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66695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584BB-1485-8F49-3165-85671FBD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2A2DC-EAD8-3585-FAEF-1FDAA7270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endParaRPr lang="es-MX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2108AC-2D02-E54F-7C25-BA6F3CC99D2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Ventajas:</a:t>
            </a:r>
          </a:p>
          <a:p>
            <a:pPr lvl="1" algn="just"/>
            <a:r>
              <a:rPr lang="es-MX" noProof="0" dirty="0"/>
              <a:t>Control total sobre la instancia.</a:t>
            </a:r>
          </a:p>
          <a:p>
            <a:pPr lvl="1" algn="just"/>
            <a:r>
              <a:rPr lang="es-MX" noProof="0" dirty="0"/>
              <a:t>Útil para recursos compartidos (</a:t>
            </a:r>
            <a:r>
              <a:rPr lang="es-MX" noProof="0" dirty="0" err="1"/>
              <a:t>loggers</a:t>
            </a:r>
            <a:r>
              <a:rPr lang="es-MX" noProof="0" dirty="0"/>
              <a:t>, configuración global, etc.).</a:t>
            </a:r>
          </a:p>
          <a:p>
            <a:pPr lvl="1" algn="just"/>
            <a:r>
              <a:rPr lang="es-MX" noProof="0" dirty="0"/>
              <a:t>Reduce uso innecesario de memoria o conexiones.</a:t>
            </a:r>
          </a:p>
          <a:p>
            <a:pPr marL="0" indent="0" algn="just">
              <a:buNone/>
            </a:pPr>
            <a:r>
              <a:rPr lang="es-MX" noProof="0" dirty="0"/>
              <a:t>Desventajas:</a:t>
            </a:r>
          </a:p>
          <a:p>
            <a:pPr lvl="1" algn="just"/>
            <a:r>
              <a:rPr lang="es-MX" noProof="0" dirty="0"/>
              <a:t>Dificulta el </a:t>
            </a:r>
            <a:r>
              <a:rPr lang="es-MX" noProof="0" dirty="0" err="1"/>
              <a:t>testing</a:t>
            </a:r>
            <a:r>
              <a:rPr lang="es-MX" noProof="0" dirty="0"/>
              <a:t> (porque es estático = no se puede </a:t>
            </a:r>
            <a:r>
              <a:rPr lang="es-MX" noProof="0" dirty="0" err="1"/>
              <a:t>mockear</a:t>
            </a:r>
            <a:r>
              <a:rPr lang="es-MX" noProof="0" dirty="0"/>
              <a:t> fácilmente).</a:t>
            </a:r>
          </a:p>
          <a:p>
            <a:pPr lvl="1" algn="just"/>
            <a:r>
              <a:rPr lang="es-MX" noProof="0" dirty="0"/>
              <a:t>Rompe el principio de inyección de dependencias.</a:t>
            </a:r>
          </a:p>
          <a:p>
            <a:pPr lvl="1" algn="just"/>
            <a:r>
              <a:rPr lang="es-MX" noProof="0" dirty="0"/>
              <a:t>Puede convertirse en un antipatrón si se abusa (efecto "global oculto").</a:t>
            </a:r>
            <a:endParaRPr lang="es-MX" i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21C1E51-8986-3A33-6C84-2DFEC7DB0EDB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09BCDFC-3EAF-B073-FE1C-723664DFA4CF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6C9B0D9-7859-8FC9-2403-E92C76406DA6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34DD3784-8C50-9E65-D5C3-DFAE1D796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8C583AA-2914-DAD8-1C02-21A6126E19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394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6F43C-2CF8-3BA6-9B90-DFF5970A1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8CCD6-DED2-0CD8-2D25-34F0CC4B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MX" dirty="0"/>
              <a:t>Principios SOLID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821569-F424-207E-3630-A7B8339EB46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noProof="0" dirty="0"/>
              <a:t>Los principios SOLID son cinco principios fundamentales del diseño orientado a objetos. Fueron popularizados por Robert C. Martin y ayudan a construir software más limpio, flexible, mantenible y escalable.</a:t>
            </a:r>
            <a:endParaRPr lang="es-MX" i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33E1EA1-7923-3420-EA39-1F04B499BB1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610A624-E88D-8C24-3455-CC9D72F6AF94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122C5A8-1492-47B9-4366-8CABF9864778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FF824AC-B3A7-8A7C-A9E4-CA875556C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BF7A4C-BA9F-2342-E28B-BFAAA8AB5C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13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7ED08-3724-8B49-B306-A7213CF0F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21B33-6147-9CC1-A3D0-865B49077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S — Single Responsibility Principle (SRP)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2007C3-5BFB-ADFA-8F58-9EB22F8A573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s-MX" i="1" dirty="0"/>
              <a:t>Una clase debe tener una sola razón para cambiar.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Cada clase debe hacer </a:t>
            </a:r>
            <a:r>
              <a:rPr lang="es-MX" b="1" dirty="0"/>
              <a:t>una sola cosa</a:t>
            </a:r>
            <a:r>
              <a:rPr lang="es-MX" dirty="0"/>
              <a:t> y hacerla bien. Si una clase tiene múltiples responsabilidades (por ejemplo, lógica de negocio y acceso a datos), los cambios en una pueden afectar innecesariamente la otra.</a:t>
            </a:r>
          </a:p>
          <a:p>
            <a:pPr lvl="1" algn="just"/>
            <a:r>
              <a:rPr lang="es-MX" dirty="0"/>
              <a:t>Mejor mantenibilidad</a:t>
            </a:r>
          </a:p>
          <a:p>
            <a:pPr lvl="1" algn="just"/>
            <a:r>
              <a:rPr lang="es-MX" dirty="0"/>
              <a:t>Menor acoplamiento</a:t>
            </a:r>
          </a:p>
          <a:p>
            <a:pPr lvl="1" algn="just"/>
            <a:r>
              <a:rPr lang="es-MX" dirty="0"/>
              <a:t>Menos errores al hacer cambios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397F15-9D65-0A47-A09D-E7B114B1E1CE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2A93D5F8-4F4B-8B74-A112-D3C76D84810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5B4D59E-4B62-2597-5914-AAF8215DC20E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F164DF3-767A-CA48-AA9C-82C31AAEB724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71E9C53-C6AB-91AB-6CE4-E32569EC0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8C7417D-7E10-B04D-17AA-96002ACEF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75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28968-0780-2C13-CB87-D358BB51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B13A5-E710-2A1F-1D7C-9C5AA80E7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MX" dirty="0"/>
              <a:t>SRP (Single </a:t>
            </a:r>
            <a:r>
              <a:rPr lang="es-MX" dirty="0" err="1"/>
              <a:t>Responsibility</a:t>
            </a:r>
            <a:r>
              <a:rPr lang="es-MX" dirty="0"/>
              <a:t> </a:t>
            </a:r>
            <a:r>
              <a:rPr lang="es-MX" dirty="0" err="1"/>
              <a:t>Principle</a:t>
            </a:r>
            <a:r>
              <a:rPr lang="es-MX" dirty="0"/>
              <a:t>)</a:t>
            </a:r>
            <a:endParaRPr lang="es-CL" dirty="0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DDADE57C-216E-422B-9916-2AC3DEEBB5F8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1206416" y="1765462"/>
            <a:ext cx="3899794" cy="3889846"/>
          </a:xfr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FE6B35-4972-B265-1FC9-D2AEF1CA0578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4A2E0EEF-9762-8AEF-5C13-9DC293910F6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307E379-ABC2-4CDB-F772-2FB92C8BC404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79DBD2E-DF4B-93FD-F1AC-400F742EF935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A8D6E0E7-DF21-DBA6-0124-1D39D6AF37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204FAFE-F630-F2ED-18B4-043D9C8689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09BDA22-71F6-9C3A-3EA9-A1D1596878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03" y="1732287"/>
            <a:ext cx="3559298" cy="392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405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2E2ED-776F-110A-9321-77BC580C5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0BCF3-468E-E403-B72C-90FDA5C9B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O — Open/Closed Principle (OCP)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EF5E37-99C1-59A3-927D-1BF48AB4888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s-MX" i="1" dirty="0"/>
              <a:t>Las clases deben estar abiertas para extensión, pero cerradas para modificación.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Se puede agregar nuevas funcionalidades sin modificar el código existente. Se logra mediante herencia e interfaces.</a:t>
            </a:r>
          </a:p>
          <a:p>
            <a:pPr lvl="1" algn="just"/>
            <a:r>
              <a:rPr lang="es-MX" dirty="0"/>
              <a:t>Menor riesgo de romper código funcionando</a:t>
            </a:r>
          </a:p>
          <a:p>
            <a:pPr lvl="1" algn="just"/>
            <a:r>
              <a:rPr lang="es-MX" dirty="0"/>
              <a:t>Facilita escalar 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90EDF4-2B14-4229-C5AA-5F2EF151A039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67927139-EF8A-76E3-C967-712CCDA5B65D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B4F8A43-7264-6597-9E04-33E6BF7E7750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DA9E47B-1450-E433-BF72-00C49655C4F4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A1DD14B8-9C37-B0F3-4027-E5A559D2D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6F829B3-116F-B361-30E6-D708FBD82D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26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09744-6B5C-7CD0-6A55-5F54A1568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CFB1C-BE76-AA31-0A3C-7AEB5F85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O — Open/Closed Principle (OCP)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10F492-0E5E-43A3-E8AD-357B3F2A035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MX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05D1B4FC-98CB-D678-23CF-CFB1297ED8AC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65792AE-7147-F31A-F65C-20C1FED0ECD2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49A37AB-69A3-6F9B-115B-AB697C44A23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C443C8B-9713-4690-EFA5-13ACF4719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20928E-7C8B-65D0-C481-D94C833F75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19DFE55-256C-46F5-30BE-5285132DB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86" y="1708581"/>
            <a:ext cx="5663700" cy="426076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88FE86E-9ADF-09E9-7FC3-9BF70F9285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763350"/>
            <a:ext cx="5377917" cy="219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08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4FC8-FF88-8FCA-F86C-87AD0DCE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76E3F3-3D98-7DDE-8518-D1BBBB2B9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dirty="0"/>
              <a:t> L — </a:t>
            </a:r>
            <a:r>
              <a:rPr lang="fr-FR" dirty="0" err="1"/>
              <a:t>Liskov</a:t>
            </a:r>
            <a:r>
              <a:rPr lang="fr-FR" dirty="0"/>
              <a:t> Substitution </a:t>
            </a:r>
            <a:r>
              <a:rPr lang="fr-FR" dirty="0" err="1"/>
              <a:t>Principle</a:t>
            </a:r>
            <a:r>
              <a:rPr lang="fr-FR" dirty="0"/>
              <a:t> (LSP)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117E29-4083-A3A3-EEDF-6F485215A44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s-MX" i="1" dirty="0"/>
              <a:t>Una clase hija debe poder sustituir a su clase padre sin que el sistema deje de funcionar correctamente.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Si una subclase rompe el comportamiento esperado de su superclase, no debería heredar de ella.</a:t>
            </a:r>
          </a:p>
          <a:p>
            <a:pPr lvl="1" algn="just"/>
            <a:r>
              <a:rPr lang="es-MX" dirty="0"/>
              <a:t>Evita errores al usar polimorfismo</a:t>
            </a:r>
          </a:p>
          <a:p>
            <a:pPr lvl="1" algn="just"/>
            <a:r>
              <a:rPr lang="es-MX" dirty="0"/>
              <a:t>Garantiza comportamientos previsibles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BA5D04-2DB8-AA64-B80F-709A2D01D1A0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FD92189D-39A5-57AD-B797-125D574934BB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51A7A8C-FDEF-BC0A-6E88-A24ACC457151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EE11635-6112-E1E1-4ED0-32B8083F18A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6A2F1A53-2E84-6596-1C9E-0C3EA857F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BA3D0B9-BA30-591B-199A-8C55D10DB9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45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2DB8F-1DA1-7331-B954-97BBC000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38F15-1A12-B079-62D9-B2FCDC63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dirty="0"/>
              <a:t> L — </a:t>
            </a:r>
            <a:r>
              <a:rPr lang="fr-FR" dirty="0" err="1"/>
              <a:t>Liskov</a:t>
            </a:r>
            <a:r>
              <a:rPr lang="fr-FR" dirty="0"/>
              <a:t> Substitution </a:t>
            </a:r>
            <a:r>
              <a:rPr lang="fr-FR" dirty="0" err="1"/>
              <a:t>Principle</a:t>
            </a:r>
            <a:r>
              <a:rPr lang="fr-FR" dirty="0"/>
              <a:t> (LSP)</a:t>
            </a:r>
            <a:endParaRPr lang="es-CL" dirty="0"/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0C997455-9AE6-3EF6-A87F-43080FCD4902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3478504" y="3218784"/>
            <a:ext cx="5439627" cy="3063559"/>
          </a:xfr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D6F30E-A280-B400-EC53-A6408E5B3D85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82DFCDB3-BF7A-4514-EF6F-DDCEACC8ED9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7670203A-0D17-C689-E111-68F3B6971CFD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BCF0C2D-485A-76C8-6388-BBB240D676CA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B17ABEE9-D9C3-AD30-F28B-EE1E42439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2CC13A-BA8F-8A34-3EFA-78C40BBC03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BB40E37-AD3B-0A62-3E74-81E0587DCC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732287"/>
            <a:ext cx="7844287" cy="75234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EE71E5E-000B-D933-0E13-5777D4A3F762}"/>
              </a:ext>
            </a:extLst>
          </p:cNvPr>
          <p:cNvSpPr txBox="1"/>
          <p:nvPr/>
        </p:nvSpPr>
        <p:spPr>
          <a:xfrm>
            <a:off x="759124" y="2502074"/>
            <a:ext cx="874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Pingüino no puede volar. No debería heredar de Ave si se espera que todas las aves vuelen.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39119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6E4E6-CBE0-C9B4-AD22-E60435F44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5FED3-1592-8AAA-8610-1B8F7828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 I — Interface Segregation Principle (ISP)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575EC8-A2D0-AACC-83E6-AEA2C0C042C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s-MX" i="1" dirty="0"/>
              <a:t>Una clase no debe estar obligada a implementar métodos que no usa.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Es mejor tener interfaces pequeñas y específicas que una grande con muchos métodos.</a:t>
            </a:r>
          </a:p>
          <a:p>
            <a:pPr lvl="1" algn="just"/>
            <a:r>
              <a:rPr lang="es-MX" dirty="0"/>
              <a:t>Mayor claridad y cohesión</a:t>
            </a:r>
          </a:p>
          <a:p>
            <a:pPr lvl="1" algn="just"/>
            <a:r>
              <a:rPr lang="es-MX" dirty="0"/>
              <a:t>Menos código innecesario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EE3BB9-D7BA-9AAD-9E54-0790DC834CC3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51A114D2-D279-2D48-0ACD-3396481E92FC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F71E5EC-ED97-C6A9-AACE-BBACD020E781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C617857-820E-AEBB-4C95-1779B16D8FCD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2886120B-2F3E-3748-2685-C708E478F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92D2AEA-6B8E-7968-3ED7-BC4A73D470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551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7F8E4-5173-479B-8A94-B847BA41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610E6-8B6A-5BE0-FC67-F9CE577A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 I — Interface Segregation Principle (ISP)</a:t>
            </a:r>
            <a:endParaRPr lang="es-CL" dirty="0"/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03CA0BDB-14A7-BF91-0F51-35FB31B66262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6096485" y="1613140"/>
            <a:ext cx="4810980" cy="3827222"/>
          </a:xfr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A3E6DE-F7F5-20C9-8415-45F811FF5CEB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6C0B3064-954C-DE76-9D87-45EBB58D384B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6FEB767-3EE5-2367-D086-9A6E96560AF2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8076D461-B573-D30B-399E-1321F1DE8D36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24C0652-7A3F-13AE-D5A9-7FFBCC756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20A7FF9-36EF-5209-FB9A-6D902C9D12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F8B1A25-F2FF-1E46-D9B0-CA3C4B85BF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501" y="1613140"/>
            <a:ext cx="5629002" cy="294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713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A6944-6E29-D3B2-8206-5C713E210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4F9B5-B0E2-DA33-3B61-1748E1D9D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D — Dependency Inversion Principle (DIP)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0D94C9-B74A-0894-15CC-AB483858F72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s-MX" i="1" dirty="0"/>
              <a:t>Las clases de alto nivel no deben depender de clases de bajo nivel. Ambas deben depender de abstracciones.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Tu clase no debe depender de implementaciones concretas, sino de interfaces o abstracciones. Así puedes cambiar una parte del sistema sin romper otras.</a:t>
            </a:r>
          </a:p>
          <a:p>
            <a:pPr lvl="1" algn="just"/>
            <a:r>
              <a:rPr lang="es-MX" dirty="0"/>
              <a:t>Más flexibilidad</a:t>
            </a:r>
          </a:p>
          <a:p>
            <a:pPr lvl="1" algn="just"/>
            <a:r>
              <a:rPr lang="es-MX" dirty="0"/>
              <a:t>Fácil de testear (</a:t>
            </a:r>
            <a:r>
              <a:rPr lang="es-MX" dirty="0" err="1"/>
              <a:t>mockear</a:t>
            </a:r>
            <a:r>
              <a:rPr lang="es-MX" dirty="0"/>
              <a:t>)</a:t>
            </a:r>
          </a:p>
          <a:p>
            <a:pPr lvl="1" algn="just"/>
            <a:r>
              <a:rPr lang="es-MX" dirty="0"/>
              <a:t>Bajo acoplamiento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09F6FA-6BB2-FB64-CD2E-5010B1150790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6B81E99D-C517-936A-0A88-3F439E5CE23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91BDA89-A45F-6354-9BEF-11221B637F65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1576C70-15D5-8219-542E-31E44A81AADD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6764FEBA-B7BE-C62B-7911-B7BAB1D2D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57ADDA7-06A0-9F61-5C7C-FC72B4A1A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712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95EAF-4868-80F8-8890-2CA6813C0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30DC6-E3DA-B620-AD8D-A869F6BE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S — Single Responsibility Principle (SRP)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258139-2CAA-020D-FA6A-10AA13655D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1A0F04-93AE-76BC-EEED-2228A1AD276A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1B15CFF0-BD86-5817-93F7-B5C98B5723B3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2E337EC-7436-7F61-4F23-F426D16E92A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8E649EB2-F798-90C2-8BAB-18270A05706A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297FA89D-0AED-727C-EBA3-6F263319B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0439B92-1743-B4DA-F0F7-FF381EFB08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96136DE-4F33-3CB9-CA68-C77427354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2052492"/>
            <a:ext cx="4442627" cy="255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519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C928C-F1BD-D282-BCD4-29799B873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720EE-D953-3A73-4567-0475AC3CA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 — Dependency Inversion Principle (DIP)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CE609D-A531-446D-119C-213AE3F5526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0520C3-F22B-FED8-1D8C-42DB2D54F6A9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CB1A6898-D43F-77CB-FCDC-2930EAABDC44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B3A70B1-EA4F-E219-59CF-E2362A227CBE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3948924-BA94-24D1-9093-1523665A9783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DA3F4C35-79A1-65FB-1EAE-00199902A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6585E1E-0302-11A6-78FB-AD23E6935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83" y="1789890"/>
            <a:ext cx="1506856" cy="77074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10219AA-3E93-B185-ED37-8C2719314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83" y="2673914"/>
            <a:ext cx="4191484" cy="235554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206992B-C2BC-E2DA-7840-0CB3620B5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5797" y="1351096"/>
            <a:ext cx="4217465" cy="234688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F77BBE3-A689-6ADE-269C-ABC8111076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5797" y="4206227"/>
            <a:ext cx="4425307" cy="1636757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98B15AEC-82FF-BC20-062F-FB5B9C2F3420}"/>
              </a:ext>
            </a:extLst>
          </p:cNvPr>
          <p:cNvSpPr txBox="1"/>
          <p:nvPr/>
        </p:nvSpPr>
        <p:spPr>
          <a:xfrm>
            <a:off x="5336575" y="3714734"/>
            <a:ext cx="707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Automóvil depende de la abstracción </a:t>
            </a:r>
            <a:r>
              <a:rPr lang="es-MX" dirty="0" err="1"/>
              <a:t>IMotor</a:t>
            </a:r>
            <a:r>
              <a:rPr lang="es-MX" dirty="0"/>
              <a:t>, no de una clase concreta.</a:t>
            </a:r>
            <a:endParaRPr lang="es-CL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0D79274-B28C-B340-7DC9-E7731373D10F}"/>
              </a:ext>
            </a:extLst>
          </p:cNvPr>
          <p:cNvSpPr txBox="1"/>
          <p:nvPr/>
        </p:nvSpPr>
        <p:spPr>
          <a:xfrm>
            <a:off x="5487177" y="5831507"/>
            <a:ext cx="6371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 puede elegir qué tipo de motor usar fuera de la clase Automóvil. Esto es inyección de dependencias manual.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725621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8"/>
            <a:ext cx="12192000" cy="6430945"/>
          </a:xfrm>
          <a:prstGeom prst="rect">
            <a:avLst/>
          </a:prstGeom>
          <a:ln>
            <a:noFill/>
          </a:ln>
        </p:spPr>
      </p:pic>
      <p:sp>
        <p:nvSpPr>
          <p:cNvPr id="13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13618"/>
            <a:ext cx="5972452" cy="6417325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32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5688710"/>
            <a:ext cx="12192000" cy="11699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402" y="2951018"/>
            <a:ext cx="4282247" cy="149648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690"/>
            <a:ext cx="5966423" cy="1621108"/>
          </a:xfrm>
          <a:prstGeom prst="rect">
            <a:avLst/>
          </a:prstGeom>
        </p:spPr>
      </p:pic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6F54D0E-9772-4A28-255B-A44403E3D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84" y="4230126"/>
            <a:ext cx="4060054" cy="143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62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3303</TotalTime>
  <Words>1637</Words>
  <Application>Microsoft Office PowerPoint</Application>
  <PresentationFormat>Panorámica</PresentationFormat>
  <Paragraphs>214</Paragraphs>
  <Slides>37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Eurostile BoldExtendedTwo</vt:lpstr>
      <vt:lpstr>Tema de Office</vt:lpstr>
      <vt:lpstr>Presentación de PowerPoint</vt:lpstr>
      <vt:lpstr>Presentación de PowerPoint</vt:lpstr>
      <vt:lpstr>Patrones de Código Limpio </vt:lpstr>
      <vt:lpstr>DRY (Don't Repeat Yourself)</vt:lpstr>
      <vt:lpstr>DRY (Don't Repeat Yourself)</vt:lpstr>
      <vt:lpstr>KISS (Keep It Simple, Stupid)</vt:lpstr>
      <vt:lpstr>KISS (Keep It Simple, Stupid)</vt:lpstr>
      <vt:lpstr>YAGNI (You Aren’t Gonna Need It)</vt:lpstr>
      <vt:lpstr>YAGNI (You Aren’t Gonna Need It)</vt:lpstr>
      <vt:lpstr>Nombres significativos</vt:lpstr>
      <vt:lpstr>Nombres significativos</vt:lpstr>
      <vt:lpstr>Funciones pequeñas</vt:lpstr>
      <vt:lpstr>Funciones pequeñas</vt:lpstr>
      <vt:lpstr>Separación de preocupaciones</vt:lpstr>
      <vt:lpstr>Separación de preocupaciones</vt:lpstr>
      <vt:lpstr>Refactorización continua</vt:lpstr>
      <vt:lpstr>Refactorización continua</vt:lpstr>
      <vt:lpstr>Regla de las Tres</vt:lpstr>
      <vt:lpstr>Regla de las Tres</vt:lpstr>
      <vt:lpstr>Singleton</vt:lpstr>
      <vt:lpstr>Singleton</vt:lpstr>
      <vt:lpstr>¿Cómo funciona?</vt:lpstr>
      <vt:lpstr>¿Cómo funciona?</vt:lpstr>
      <vt:lpstr>Presentación de PowerPoint</vt:lpstr>
      <vt:lpstr>Principios SOLID</vt:lpstr>
      <vt:lpstr>S — Single Responsibility Principle (SRP)</vt:lpstr>
      <vt:lpstr>SRP (Single Responsibility Principle)</vt:lpstr>
      <vt:lpstr>O — Open/Closed Principle (OCP)</vt:lpstr>
      <vt:lpstr>O — Open/Closed Principle (OCP)</vt:lpstr>
      <vt:lpstr> L — Liskov Substitution Principle (LSP)</vt:lpstr>
      <vt:lpstr> L — Liskov Substitution Principle (LSP)</vt:lpstr>
      <vt:lpstr> I — Interface Segregation Principle (ISP)</vt:lpstr>
      <vt:lpstr> I — Interface Segregation Principle (ISP)</vt:lpstr>
      <vt:lpstr>D — Dependency Inversion Principle (DIP)</vt:lpstr>
      <vt:lpstr>S — Single Responsibility Principle (SRP)</vt:lpstr>
      <vt:lpstr>D — Dependency Inversion Principle (DIP)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Alejandro Rodriguez</dc:creator>
  <cp:lastModifiedBy>Diego Supanta</cp:lastModifiedBy>
  <cp:revision>221</cp:revision>
  <dcterms:created xsi:type="dcterms:W3CDTF">2019-05-21T16:47:52Z</dcterms:created>
  <dcterms:modified xsi:type="dcterms:W3CDTF">2025-06-30T14:33:36Z</dcterms:modified>
</cp:coreProperties>
</file>