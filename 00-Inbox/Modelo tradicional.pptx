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40" r:id="rId2"/>
    <p:sldId id="335" r:id="rId3"/>
    <p:sldId id="260" r:id="rId4"/>
    <p:sldId id="341" r:id="rId5"/>
    <p:sldId id="342" r:id="rId6"/>
    <p:sldId id="343" r:id="rId7"/>
    <p:sldId id="344" r:id="rId8"/>
    <p:sldId id="345" r:id="rId9"/>
    <p:sldId id="347" r:id="rId10"/>
    <p:sldId id="346" r:id="rId11"/>
    <p:sldId id="348" r:id="rId12"/>
    <p:sldId id="320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1" autoAdjust="0"/>
    <p:restoredTop sz="95154" autoAdjust="0"/>
  </p:normalViewPr>
  <p:slideViewPr>
    <p:cSldViewPr snapToGrid="0">
      <p:cViewPr varScale="1">
        <p:scale>
          <a:sx n="52" d="100"/>
          <a:sy n="52" d="100"/>
        </p:scale>
        <p:origin x="65" y="6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26/05/2025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141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DF92-BBF5-9473-3C4A-143017BF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556555-4C30-8BD7-D810-C1B5A807D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33A84F-B6A3-6DF5-86A1-725E097DC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BEAC0B-DB0D-4750-E936-45323AE047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3184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A8967-CDC4-1B0A-CE25-F73E4682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8A70F7-636E-1CF2-7F66-9D74BD948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001857-A2F0-2883-3F49-A40E9EB3E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DC96D7-CCA5-0334-1C69-7EC27E3FC2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835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AF6A-4E61-E965-E147-758B2BC7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3F0C419-7DA7-96D7-8952-C4E31DFD2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821F9C-89AB-062F-0CD6-408F80C00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4D1906-2550-45C6-62AF-4C49C1A74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7313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EB92-FA09-5332-3065-1CA5114E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D5CAB6-7847-AB78-6C9F-B6F2E76E4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60E0A0-DC99-0D7D-74B0-DC99450B1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E78FAE-E84F-D2AE-0650-4DBC1C7D5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1990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B93D2-4D7E-41F4-75D7-F35DC8818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0C9E27-0D2E-9F5D-4F6F-6711F4A42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FB366A-9FD1-770C-2CE8-EC4953824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F4C984-66B2-7744-EDD1-42322F540B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701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1AB9-9392-6434-635A-8DB16AC06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BFD466-C129-8C9E-B35E-85D7A059B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0B88E5-7E66-A1EB-65B0-C427E87CE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E000EB-ADEE-BF8B-D5BD-A5FC0C1C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6608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BFAF-F110-DC24-4AC5-03F5630A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AE6F54-7D2D-D8B9-242A-70929535F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0F3E24-A48A-339C-EE12-7AE64D004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73F91C-6829-6C62-6CF0-BAC2E3F6A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183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F1641-84B6-2F26-0423-C5B5B641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9DFD3A-B019-BB4F-16F8-EFC1702C3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1725FB-1605-8638-7413-8506B794C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C01D71-E20D-5DAD-E875-3CB50D1A7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8881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26/05/2025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26-05-2025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41E8D970-9CF6-25DC-7BFE-B2A2EE5EB84E}"/>
              </a:ext>
            </a:extLst>
          </p:cNvPr>
          <p:cNvGrpSpPr/>
          <p:nvPr/>
        </p:nvGrpSpPr>
        <p:grpSpPr>
          <a:xfrm>
            <a:off x="0" y="-16914"/>
            <a:ext cx="12192001" cy="6874914"/>
            <a:chOff x="0" y="-16914"/>
            <a:chExt cx="12192001" cy="6874914"/>
          </a:xfrm>
        </p:grpSpPr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6183" y="2826327"/>
              <a:ext cx="10875818" cy="2227783"/>
            </a:xfrm>
            <a:prstGeom prst="rect">
              <a:avLst/>
            </a:prstGeom>
          </p:spPr>
        </p:pic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996DAE91-E53D-4FFB-8098-8AFE46881F1D}"/>
                </a:ext>
              </a:extLst>
            </p:cNvPr>
            <p:cNvSpPr/>
            <p:nvPr/>
          </p:nvSpPr>
          <p:spPr>
            <a:xfrm flipV="1">
              <a:off x="1" y="-16914"/>
              <a:ext cx="12192000" cy="354751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12" name="Imagen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901" y="5803165"/>
              <a:ext cx="2745501" cy="940998"/>
            </a:xfrm>
            <a:prstGeom prst="rect">
              <a:avLst/>
            </a:prstGeom>
          </p:spPr>
        </p:pic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5"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373477"/>
              <a:ext cx="12192000" cy="3312629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530600"/>
              <a:ext cx="3393948" cy="3327400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8255" y="1073299"/>
              <a:ext cx="2672079" cy="933791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1" y="1050420"/>
              <a:ext cx="5303520" cy="281940"/>
            </a:xfrm>
            <a:prstGeom prst="rect">
              <a:avLst/>
            </a:prstGeom>
          </p:spPr>
        </p:pic>
        <p:pic>
          <p:nvPicPr>
            <p:cNvPr id="3" name="Imagen 2" descr="Imagen que contiene alimentos&#10;&#10;Descripción generada automáticamente">
              <a:extLst>
                <a:ext uri="{FF2B5EF4-FFF2-40B4-BE49-F238E27FC236}">
                  <a16:creationId xmlns:a16="http://schemas.microsoft.com/office/drawing/2014/main" id="{5B34141F-EC2F-144F-8268-7D4182D95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8054" y="5356904"/>
              <a:ext cx="2971800" cy="1079500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202FC531-FC77-0243-AE81-8F245A6FA785}"/>
                </a:ext>
              </a:extLst>
            </p:cNvPr>
            <p:cNvSpPr txBox="1"/>
            <p:nvPr/>
          </p:nvSpPr>
          <p:spPr>
            <a:xfrm>
              <a:off x="8616096" y="6468320"/>
              <a:ext cx="3498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dirty="0">
                  <a:solidFill>
                    <a:srgbClr val="004C8B"/>
                  </a:solidFill>
                </a:rPr>
                <a:t>INGENIERÍA CIVIL EN INFORMÁTICA</a:t>
              </a: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1C2C39FD-2AC4-F200-12F6-8C5DF1474347}"/>
              </a:ext>
            </a:extLst>
          </p:cNvPr>
          <p:cNvSpPr txBox="1"/>
          <p:nvPr/>
        </p:nvSpPr>
        <p:spPr>
          <a:xfrm>
            <a:off x="2632852" y="2284905"/>
            <a:ext cx="7651102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MX" sz="5400" dirty="0">
                <a:solidFill>
                  <a:schemeClr val="bg1">
                    <a:lumMod val="95000"/>
                  </a:schemeClr>
                </a:solidFill>
              </a:rPr>
              <a:t>Ingeniería de Software</a:t>
            </a:r>
            <a:endParaRPr lang="es-CL" sz="5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07C69F4-A719-9282-A5A3-B9E0B388ED8A}"/>
              </a:ext>
            </a:extLst>
          </p:cNvPr>
          <p:cNvSpPr txBox="1"/>
          <p:nvPr/>
        </p:nvSpPr>
        <p:spPr>
          <a:xfrm>
            <a:off x="852544" y="1831834"/>
            <a:ext cx="91160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>
                  <a:lumMod val="95000"/>
                </a:schemeClr>
              </a:solidFill>
            </a:endParaRP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2ED4177-7178-272F-04C9-F49F1939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¿</a:t>
            </a:r>
            <a:r>
              <a:rPr lang="es-CL" dirty="0"/>
              <a:t>Cómo comenzó todo?</a:t>
            </a: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0F68CF3-2050-4A6F-AF5F-CB6DCB46DCE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13D1E45-2E41-49FD-8CBC-ECAD056683E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C3B1013-3A74-4808-9459-EF0A0BE2B45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6108630-1BE7-4C16-ACBC-7DAC47485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8AAB99-AA43-457A-BFA2-8B68AFA22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24B55F71-E1F3-39A2-54AF-2716FC55CD06}"/>
              </a:ext>
            </a:extLst>
          </p:cNvPr>
          <p:cNvSpPr/>
          <p:nvPr/>
        </p:nvSpPr>
        <p:spPr>
          <a:xfrm>
            <a:off x="849086" y="3607734"/>
            <a:ext cx="9890449" cy="684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Hexágono 11">
            <a:extLst>
              <a:ext uri="{FF2B5EF4-FFF2-40B4-BE49-F238E27FC236}">
                <a16:creationId xmlns:a16="http://schemas.microsoft.com/office/drawing/2014/main" id="{9EF140DB-50CE-D5DA-AE2D-7409F3B8232C}"/>
              </a:ext>
            </a:extLst>
          </p:cNvPr>
          <p:cNvSpPr/>
          <p:nvPr/>
        </p:nvSpPr>
        <p:spPr>
          <a:xfrm>
            <a:off x="1048139" y="3778898"/>
            <a:ext cx="320351" cy="345234"/>
          </a:xfrm>
          <a:prstGeom prst="hex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6A61164-54BF-CCFA-421E-5F0489EF9A09}"/>
              </a:ext>
            </a:extLst>
          </p:cNvPr>
          <p:cNvSpPr txBox="1"/>
          <p:nvPr/>
        </p:nvSpPr>
        <p:spPr>
          <a:xfrm>
            <a:off x="62204" y="1214141"/>
            <a:ext cx="2289110" cy="93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Década de 1960: </a:t>
            </a:r>
            <a:br>
              <a:rPr lang="es-MX" dirty="0"/>
            </a:br>
            <a:r>
              <a:rPr lang="es-MX" dirty="0"/>
              <a:t>El Inicio de la Crisis del Software</a:t>
            </a:r>
            <a:endParaRPr lang="es-CL" dirty="0"/>
          </a:p>
        </p:txBody>
      </p:sp>
      <p:sp>
        <p:nvSpPr>
          <p:cNvPr id="14" name="Hexágono 13">
            <a:extLst>
              <a:ext uri="{FF2B5EF4-FFF2-40B4-BE49-F238E27FC236}">
                <a16:creationId xmlns:a16="http://schemas.microsoft.com/office/drawing/2014/main" id="{C4667E3F-8636-D5A4-04F4-291CB892EDD9}"/>
              </a:ext>
            </a:extLst>
          </p:cNvPr>
          <p:cNvSpPr/>
          <p:nvPr/>
        </p:nvSpPr>
        <p:spPr>
          <a:xfrm>
            <a:off x="2553139" y="3778986"/>
            <a:ext cx="320351" cy="345234"/>
          </a:xfrm>
          <a:prstGeom prst="hex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4210FF-45EF-78AF-7134-E4EDF2806181}"/>
              </a:ext>
            </a:extLst>
          </p:cNvPr>
          <p:cNvSpPr txBox="1"/>
          <p:nvPr/>
        </p:nvSpPr>
        <p:spPr>
          <a:xfrm>
            <a:off x="1775318" y="4184620"/>
            <a:ext cx="1971869" cy="93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Década de 1970: Primeros Intentos de Solución</a:t>
            </a:r>
            <a:endParaRPr lang="es-CL" dirty="0"/>
          </a:p>
        </p:txBody>
      </p:sp>
      <p:sp>
        <p:nvSpPr>
          <p:cNvPr id="17" name="Hexágono 16">
            <a:extLst>
              <a:ext uri="{FF2B5EF4-FFF2-40B4-BE49-F238E27FC236}">
                <a16:creationId xmlns:a16="http://schemas.microsoft.com/office/drawing/2014/main" id="{31D24045-09D5-92EC-8B3D-A90289A58AA2}"/>
              </a:ext>
            </a:extLst>
          </p:cNvPr>
          <p:cNvSpPr/>
          <p:nvPr/>
        </p:nvSpPr>
        <p:spPr>
          <a:xfrm>
            <a:off x="4148234" y="3777291"/>
            <a:ext cx="320351" cy="345234"/>
          </a:xfrm>
          <a:prstGeom prst="hex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375A7A58-D53C-474D-24F3-3696A9AB8CE7}"/>
              </a:ext>
            </a:extLst>
          </p:cNvPr>
          <p:cNvSpPr/>
          <p:nvPr/>
        </p:nvSpPr>
        <p:spPr>
          <a:xfrm>
            <a:off x="5694139" y="3778898"/>
            <a:ext cx="320351" cy="345234"/>
          </a:xfrm>
          <a:prstGeom prst="hex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Hexágono 18">
            <a:extLst>
              <a:ext uri="{FF2B5EF4-FFF2-40B4-BE49-F238E27FC236}">
                <a16:creationId xmlns:a16="http://schemas.microsoft.com/office/drawing/2014/main" id="{6D631E32-14F5-06BD-8F55-72561EB84AF0}"/>
              </a:ext>
            </a:extLst>
          </p:cNvPr>
          <p:cNvSpPr/>
          <p:nvPr/>
        </p:nvSpPr>
        <p:spPr>
          <a:xfrm>
            <a:off x="7384113" y="3777291"/>
            <a:ext cx="320351" cy="345234"/>
          </a:xfrm>
          <a:prstGeom prst="hex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Hexágono 19">
            <a:extLst>
              <a:ext uri="{FF2B5EF4-FFF2-40B4-BE49-F238E27FC236}">
                <a16:creationId xmlns:a16="http://schemas.microsoft.com/office/drawing/2014/main" id="{BEC53F72-E9AF-0DEA-46E1-336F2175EF3C}"/>
              </a:ext>
            </a:extLst>
          </p:cNvPr>
          <p:cNvSpPr/>
          <p:nvPr/>
        </p:nvSpPr>
        <p:spPr>
          <a:xfrm>
            <a:off x="9354615" y="3777291"/>
            <a:ext cx="320351" cy="345234"/>
          </a:xfrm>
          <a:prstGeom prst="hex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3EEEA9-84BD-B732-D1E5-5309407E3612}"/>
              </a:ext>
            </a:extLst>
          </p:cNvPr>
          <p:cNvSpPr txBox="1"/>
          <p:nvPr/>
        </p:nvSpPr>
        <p:spPr>
          <a:xfrm>
            <a:off x="3367742" y="2583568"/>
            <a:ext cx="1971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Década de 1980: Surgimiento de la Ingeniería de Software</a:t>
            </a:r>
            <a:endParaRPr lang="es-CL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5C86166-82A3-FAAF-606E-8F124E688A81}"/>
              </a:ext>
            </a:extLst>
          </p:cNvPr>
          <p:cNvSpPr txBox="1"/>
          <p:nvPr/>
        </p:nvSpPr>
        <p:spPr>
          <a:xfrm>
            <a:off x="5009214" y="4130193"/>
            <a:ext cx="1971869" cy="93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Década de 1990: Evolución de las Metodologías</a:t>
            </a:r>
            <a:endParaRPr lang="es-CL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A90DEDC-EDFF-1F91-4731-8547C03DEF2E}"/>
              </a:ext>
            </a:extLst>
          </p:cNvPr>
          <p:cNvSpPr txBox="1"/>
          <p:nvPr/>
        </p:nvSpPr>
        <p:spPr>
          <a:xfrm>
            <a:off x="6769697" y="1135314"/>
            <a:ext cx="1971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Década de 2000: La Revolución Ágil</a:t>
            </a:r>
            <a:endParaRPr lang="es-CL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E2B45E2-78AA-E706-BB2E-64C40D3D6FFF}"/>
              </a:ext>
            </a:extLst>
          </p:cNvPr>
          <p:cNvSpPr txBox="1"/>
          <p:nvPr/>
        </p:nvSpPr>
        <p:spPr>
          <a:xfrm>
            <a:off x="8963015" y="4184620"/>
            <a:ext cx="197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Actualidad</a:t>
            </a:r>
            <a:endParaRPr lang="es-CL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AB08B76-A8D3-591E-243B-15DDBC87E7AE}"/>
              </a:ext>
            </a:extLst>
          </p:cNvPr>
          <p:cNvSpPr txBox="1"/>
          <p:nvPr/>
        </p:nvSpPr>
        <p:spPr>
          <a:xfrm>
            <a:off x="114129" y="2148926"/>
            <a:ext cx="25171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El software se volvía cada vez más complejo y los proyectos fracasaban debido a sobrecostos, retrasos y errores en los sistemas</a:t>
            </a:r>
            <a:endParaRPr lang="es-CL" sz="1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80F27C0-D787-5288-61EF-8E929BFD7AC3}"/>
              </a:ext>
            </a:extLst>
          </p:cNvPr>
          <p:cNvSpPr txBox="1"/>
          <p:nvPr/>
        </p:nvSpPr>
        <p:spPr>
          <a:xfrm>
            <a:off x="1368490" y="5034859"/>
            <a:ext cx="2879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Se introduce el modelo en cascada. </a:t>
            </a:r>
            <a:br>
              <a:rPr lang="es-MX" sz="16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Se desarrollaron lenguajes de programación estructurada (C)</a:t>
            </a:r>
            <a:endParaRPr lang="es-CL" sz="1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E619B3C-CBC8-BD2C-2D9C-4136327E8448}"/>
              </a:ext>
            </a:extLst>
          </p:cNvPr>
          <p:cNvSpPr txBox="1"/>
          <p:nvPr/>
        </p:nvSpPr>
        <p:spPr>
          <a:xfrm>
            <a:off x="3049887" y="1080096"/>
            <a:ext cx="3198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Aparecieron nuevos modelos de desarrollo, como el modelo en espiral. </a:t>
            </a:r>
            <a:br>
              <a:rPr lang="es-MX" sz="16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Se popularizó la programación orientada a objetos con lenguajes como C++.</a:t>
            </a:r>
            <a:endParaRPr lang="es-CL" sz="1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552EFEA-9D9C-6A86-18EF-DABA3D0623CC}"/>
              </a:ext>
            </a:extLst>
          </p:cNvPr>
          <p:cNvSpPr txBox="1"/>
          <p:nvPr/>
        </p:nvSpPr>
        <p:spPr>
          <a:xfrm>
            <a:off x="4777616" y="4958301"/>
            <a:ext cx="26858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Aparecen modelos más flexibles, como el desarrollo iterativo e incremental. </a:t>
            </a:r>
          </a:p>
          <a:p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Los patrones de diseño toman importancia.</a:t>
            </a:r>
            <a:br>
              <a:rPr lang="es-MX" sz="1600" i="1" dirty="0">
                <a:solidFill>
                  <a:schemeClr val="bg1">
                    <a:lumMod val="50000"/>
                  </a:schemeClr>
                </a:solidFill>
              </a:rPr>
            </a:br>
            <a:endParaRPr lang="es-CL" sz="1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119FD1F-B913-001D-0BFF-DFDA9C75C56A}"/>
              </a:ext>
            </a:extLst>
          </p:cNvPr>
          <p:cNvSpPr txBox="1"/>
          <p:nvPr/>
        </p:nvSpPr>
        <p:spPr>
          <a:xfrm>
            <a:off x="6583801" y="1874522"/>
            <a:ext cx="25171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Se publicó el Manifiesto Ágil, dando lugar a metodologías como Scrum</a:t>
            </a:r>
            <a:br>
              <a:rPr lang="es-MX" sz="16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Se empezaron a adoptar prácticas de aseguramiento de la calidad.</a:t>
            </a:r>
            <a:endParaRPr lang="es-CL" sz="1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A101A15-9B6E-45F5-D1F8-3418F89C0CFC}"/>
              </a:ext>
            </a:extLst>
          </p:cNvPr>
          <p:cNvSpPr txBox="1"/>
          <p:nvPr/>
        </p:nvSpPr>
        <p:spPr>
          <a:xfrm>
            <a:off x="8060560" y="4616047"/>
            <a:ext cx="28194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Se adoptó la integración continua y la entrega continua</a:t>
            </a:r>
            <a:br>
              <a:rPr lang="es-MX" sz="16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Comienza el uso de arquitecturas de microservicios y computación en la nube</a:t>
            </a:r>
            <a:br>
              <a:rPr lang="es-MX" sz="16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MX" sz="1600" i="1" dirty="0">
                <a:solidFill>
                  <a:schemeClr val="bg1">
                    <a:lumMod val="50000"/>
                  </a:schemeClr>
                </a:solidFill>
              </a:rPr>
              <a:t>La seguridad y la privacidad del software toman relevancia</a:t>
            </a:r>
            <a:endParaRPr lang="es-CL" sz="16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59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03BF-F297-167C-8425-50900E759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BE089-AF66-6883-7027-39EA53EB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Modelo Cascada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522378-9928-06D0-4202-27E6480C7986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53809B3A-B92C-8634-CAAA-4A274FE6709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4BB7DAF-438C-0D75-FD38-684D10248F9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6693E48-82D0-04F0-F127-B5A69F7EAB2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77F4D3BC-0EF8-FE61-7829-29D0EBBF1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CF9147-2F71-1CB5-0036-D0FB6B165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768B106-F029-2EB3-CC17-ADF9B3D50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48" y="2110488"/>
            <a:ext cx="10623036" cy="222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3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9E62-3DF7-519A-3094-CB47649B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85130-F00F-545B-02FA-EAD94F458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Modelo Cascada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74E706-3EE8-1F17-AEC2-FB6A9C8BE18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13910" cy="4525963"/>
          </a:xfrm>
        </p:spPr>
        <p:txBody>
          <a:bodyPr>
            <a:normAutofit/>
          </a:bodyPr>
          <a:lstStyle/>
          <a:p>
            <a:r>
              <a:rPr lang="es-MX" dirty="0"/>
              <a:t>Es el paradigma más antiguo de la ingeniería de software.</a:t>
            </a:r>
          </a:p>
          <a:p>
            <a:pPr lvl="1"/>
            <a:r>
              <a:rPr lang="es-MX" dirty="0"/>
              <a:t>Se aplica cuando:</a:t>
            </a:r>
          </a:p>
          <a:p>
            <a:pPr lvl="2"/>
            <a:r>
              <a:rPr lang="es-MX" dirty="0"/>
              <a:t>El problema se entiende bien</a:t>
            </a:r>
          </a:p>
          <a:p>
            <a:pPr lvl="2"/>
            <a:r>
              <a:rPr lang="es-MX" dirty="0"/>
              <a:t>En caso de mejoras, cuando los requerimientos estén bien definidos</a:t>
            </a:r>
          </a:p>
          <a:p>
            <a:pPr lvl="1"/>
            <a:r>
              <a:rPr lang="es-CL" dirty="0"/>
              <a:t>Problemas:</a:t>
            </a:r>
          </a:p>
          <a:p>
            <a:pPr lvl="2"/>
            <a:r>
              <a:rPr lang="es-CL" dirty="0"/>
              <a:t>Rara vez se sigue el flujo de trabajo secuencial.</a:t>
            </a:r>
          </a:p>
          <a:p>
            <a:pPr lvl="2"/>
            <a:r>
              <a:rPr lang="es-CL" dirty="0"/>
              <a:t>Es difícil para el cliente indicar todos los requerimientos.</a:t>
            </a:r>
          </a:p>
          <a:p>
            <a:pPr lvl="2"/>
            <a:r>
              <a:rPr lang="es-CL" dirty="0"/>
              <a:t>El cliente debe ser paciente, ya que no habrá una versión hasta las etapas avanzadas.</a:t>
            </a:r>
          </a:p>
          <a:p>
            <a:pPr lvl="2"/>
            <a:r>
              <a:rPr lang="es-CL" dirty="0"/>
              <a:t>Errores graves no pueden detectarse hasta que se revisa el programa funcional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E9036-8340-CAE2-6A3D-5BC6CC02A7FE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36AEA21E-B17F-390A-759A-06E20073EB15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8CC7A9E-7FD6-810E-9639-7FADD42DE747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C03BD86-9A48-B8BB-5229-2487400B4C0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30524C8-92D4-A94B-E6A5-16345887E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5D974B7-F241-15B7-0448-B203D852B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6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745D-5198-EE5B-634F-913BACE2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42807-BA13-831C-FE74-B04A1FAC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MX" dirty="0"/>
              <a:t>Prototipos de modelos de proceso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E1CA68-349B-19DB-10CC-5102DC1C931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13910" cy="4525963"/>
          </a:xfrm>
        </p:spPr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E3F6B4-4823-DA11-C937-6448AC9B040E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668FEE5-3A49-27DE-72CA-419DA028099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B365BC3-411F-0EDD-7307-8CF2A9A2FCA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1E2BC3B-D8B9-DB42-24FF-A1C2D536191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AA1179CC-8D29-8CA5-2498-AD4127055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E94BD81-8F73-7161-1877-F8926AEEF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413F247-70A1-D8EA-12AB-44F1F6C7E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397" y="1708583"/>
            <a:ext cx="5334616" cy="421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109C-5E43-FE64-4348-6AC666ED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5CC95-B48F-1B64-D9E0-51B03FBB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MX" dirty="0"/>
              <a:t>Prototipos de modelos de proceso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9DAE4D-0548-46F0-8E09-8BF4846C4D1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13910" cy="4525963"/>
          </a:xfrm>
        </p:spPr>
        <p:txBody>
          <a:bodyPr/>
          <a:lstStyle/>
          <a:p>
            <a:r>
              <a:rPr lang="es-MX" dirty="0"/>
              <a:t>Se puede ocupar como un modelo de proceso independiente.</a:t>
            </a:r>
          </a:p>
          <a:p>
            <a:r>
              <a:rPr lang="es-MX" dirty="0"/>
              <a:t>Sirve para identificar los requerimientos del software.</a:t>
            </a:r>
          </a:p>
          <a:p>
            <a:pPr lvl="1"/>
            <a:r>
              <a:rPr lang="es-MX" dirty="0"/>
              <a:t>Problemas:</a:t>
            </a:r>
          </a:p>
          <a:p>
            <a:pPr lvl="2"/>
            <a:r>
              <a:rPr lang="es-MX" dirty="0"/>
              <a:t>Los interesados pueden ver el prototipo como una versión funcional. </a:t>
            </a:r>
          </a:p>
          <a:p>
            <a:pPr lvl="2"/>
            <a:r>
              <a:rPr lang="es-MX" dirty="0"/>
              <a:t>Se pierde de vista la calidad y la capacidad de mantenimiento del software.</a:t>
            </a:r>
          </a:p>
          <a:p>
            <a:pPr lvl="2"/>
            <a:r>
              <a:rPr lang="es-MX" dirty="0"/>
              <a:t>Ser tentado a ceder en algunos aspectos de la implementación, para lograr que el prototipo funcione rápidamente.</a:t>
            </a:r>
          </a:p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E5A06C-B435-9528-27CE-EB8096296976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54F7F4A-7C1E-B6ED-B2EA-F1248558377A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DD8A674-FA6F-93CA-8261-E40F70524CA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A2550BE-3851-1114-7B21-18C91F80ADE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4FA73E7-1955-808F-17FB-43CBBBD3E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ACEA53-220C-53CB-A045-E8A4D7F21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60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57B41-3360-DEF6-8DCE-4DD4A40E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E1155-9C66-AF8A-5C13-E11F77D51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Modelo de espiral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B6056B-EB5B-C112-A984-E9399E9017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13910" cy="4525963"/>
          </a:xfrm>
        </p:spPr>
        <p:txBody>
          <a:bodyPr/>
          <a:lstStyle/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ACEF2E-75CB-FA8E-F2E8-6E8C06F3EBB7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545B3D9-AC93-1960-8218-A392352FFCEF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20B0A00-8E48-F790-C096-F7D8CC1623D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F0D50BD-56DF-9C68-E03B-1A60C92478A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B9F0905-51DD-753C-DA57-CCAC434B3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6AFDE81-400E-7EC4-C176-ACC1BD2CB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4943F85-3F3F-525E-03F4-CE5FA25D3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6914" y="1623905"/>
            <a:ext cx="6798172" cy="423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3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3182-4704-97F5-CE26-4AFAF8CBE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E1771-ED94-5856-2A0B-E8A9C707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Modelo de espiral</a:t>
            </a: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1B756A-3175-680F-9334-38DAA468698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13910" cy="4525963"/>
          </a:xfrm>
        </p:spPr>
        <p:txBody>
          <a:bodyPr/>
          <a:lstStyle/>
          <a:p>
            <a:pPr algn="just"/>
            <a:r>
              <a:rPr lang="es-MX" dirty="0"/>
              <a:t>Es un modelo de proceso de software evolutivo que acopla la naturaleza iterativa de los prototipos con los aspectos controlados del modelo cascada.</a:t>
            </a:r>
          </a:p>
          <a:p>
            <a:pPr algn="just"/>
            <a:r>
              <a:rPr lang="es-MX" dirty="0"/>
              <a:t>Problemas:</a:t>
            </a:r>
          </a:p>
          <a:p>
            <a:pPr algn="just"/>
            <a:r>
              <a:rPr lang="es-MX" dirty="0"/>
              <a:t>Exige una considerable experiencia en  evaluación del riesgo y depende de esta experiencia para tener éxito.</a:t>
            </a:r>
          </a:p>
          <a:p>
            <a:pPr algn="just"/>
            <a:endParaRPr lang="es-MX" dirty="0"/>
          </a:p>
          <a:p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3E6EC2-448B-9341-B265-94FAE2242167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2F86424-5DD6-E269-3AB8-6B76F307FDA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8D3CD96-3184-D463-3DF5-10A09FC53DD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4567BFB-213F-4C8C-6596-ECE9607EEAF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0837CC1-E367-2E91-B1B8-636C28439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BDBDFA1-8C34-51EA-0E65-EB85A0F92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94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2A5F-48F0-432D-32C5-71EAE904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572E9-1A54-B01B-6A23-79AD9427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MX" dirty="0"/>
              <a:t>Comparación de modelos de procesos</a:t>
            </a:r>
            <a:endParaRPr lang="es-CL" dirty="0"/>
          </a:p>
        </p:txBody>
      </p:sp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364964C6-F62F-3F0C-2231-DE6032AF7450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179020352"/>
              </p:ext>
            </p:extLst>
          </p:nvPr>
        </p:nvGraphicFramePr>
        <p:xfrm>
          <a:off x="674654" y="1534161"/>
          <a:ext cx="10186179" cy="4935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679">
                  <a:extLst>
                    <a:ext uri="{9D8B030D-6E8A-4147-A177-3AD203B41FA5}">
                      <a16:colId xmlns:a16="http://schemas.microsoft.com/office/drawing/2014/main" val="1421232207"/>
                    </a:ext>
                  </a:extLst>
                </a:gridCol>
                <a:gridCol w="4573079">
                  <a:extLst>
                    <a:ext uri="{9D8B030D-6E8A-4147-A177-3AD203B41FA5}">
                      <a16:colId xmlns:a16="http://schemas.microsoft.com/office/drawing/2014/main" val="838971556"/>
                    </a:ext>
                  </a:extLst>
                </a:gridCol>
                <a:gridCol w="4273421">
                  <a:extLst>
                    <a:ext uri="{9D8B030D-6E8A-4147-A177-3AD203B41FA5}">
                      <a16:colId xmlns:a16="http://schemas.microsoft.com/office/drawing/2014/main" val="699131125"/>
                    </a:ext>
                  </a:extLst>
                </a:gridCol>
              </a:tblGrid>
              <a:tr h="402594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Modelo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Ventajas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Desventajas</a:t>
                      </a:r>
                      <a:endParaRPr lang="es-C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62385"/>
                  </a:ext>
                </a:extLst>
              </a:tr>
              <a:tr h="1158147">
                <a:tc>
                  <a:txBody>
                    <a:bodyPr/>
                    <a:lstStyle/>
                    <a:p>
                      <a:r>
                        <a:rPr lang="es-MX" sz="1600" b="1" dirty="0"/>
                        <a:t>Cascada</a:t>
                      </a:r>
                      <a:endParaRPr lang="es-CL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Es fácil de entender y planear.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Funciona para proyectos pequeños bien entendidos.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El análisis y las pruebas son simples.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No se adapta bien al cambio.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Las pruebas ocurren en las ultimas etapas del proceso.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La aprobación del cliente es al final.</a:t>
                      </a:r>
                      <a:endParaRPr lang="es-C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81068"/>
                  </a:ext>
                </a:extLst>
              </a:tr>
              <a:tr h="1952305">
                <a:tc>
                  <a:txBody>
                    <a:bodyPr/>
                    <a:lstStyle/>
                    <a:p>
                      <a:r>
                        <a:rPr lang="es-MX" sz="1600" b="1" dirty="0"/>
                        <a:t>Prototipo</a:t>
                      </a:r>
                      <a:endParaRPr lang="es-CL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Los cambios en los requerimientos generan un menor impacto.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El cliente se involucra desde las primeras etapas y con frecuencia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Funciona bien para proyectos pequeños.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Hay una menor probabilidad de que se rechace el proyecto.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La participación del cliente puede provocar retrasos.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Puede existir la tentación de “enviar” un prototipo.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El trabajo se pierde en un prototipo que se descarta.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Es difícil de planear y gestionar.</a:t>
                      </a:r>
                      <a:endParaRPr lang="es-C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403596"/>
                  </a:ext>
                </a:extLst>
              </a:tr>
              <a:tr h="1422866">
                <a:tc>
                  <a:txBody>
                    <a:bodyPr/>
                    <a:lstStyle/>
                    <a:p>
                      <a:r>
                        <a:rPr lang="es-MX" sz="1600" b="1" dirty="0"/>
                        <a:t>Espiral</a:t>
                      </a:r>
                      <a:endParaRPr lang="es-CL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Hay una participación continua del cliente.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Se gestionan los riesgos de desarrollo.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Es adecuado para proyectos grandes y complejos.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Funciona bien para productos extensibles.</a:t>
                      </a:r>
                      <a:endParaRPr lang="es-C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Las fallas en el análisis de riesgo pueden condenar el proyecto.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El proyecto puede ser difícil de gestionar.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600" dirty="0"/>
                        <a:t>Se requiere un equipo de desarrollo experimentado.</a:t>
                      </a:r>
                      <a:endParaRPr lang="es-C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698182"/>
                  </a:ext>
                </a:extLst>
              </a:tr>
            </a:tbl>
          </a:graphicData>
        </a:graphic>
      </p:graphicFrame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C16583-2B88-00E7-B5EA-BB872376F987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9DBCA778-0CB5-6FFD-2DCD-7F2CCBDA1AC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1DB68D3-BF31-0CB8-548C-63AD9811DAA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75B2940A-D661-1E90-2360-0447896505C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1433180-295C-4B29-88D4-7BD0437B4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0C88E4-BB05-542A-3F14-70DFB21654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2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917F-FEF6-08E6-D383-127C9899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A3E32-3481-51D9-6861-47091AAEF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Actividad 05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0DD55C-73F5-63E3-0399-D3EDFE988B1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108E3D6-62A5-B5ED-D7DA-515A1AE7D2F8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3BBBAF2-3F55-87C3-9E43-6400FC58B74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5C3DCE3-511C-2DB4-E06C-5BF1FE88F8E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C3BB45D8-29D3-09F5-B0A7-609A5620F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E0A6E2A-A620-497F-40DB-0C2C83D2F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07F2D2C-15D3-ECF4-0BED-374B72D3826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90442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6217</TotalTime>
  <Words>680</Words>
  <Application>Microsoft Office PowerPoint</Application>
  <PresentationFormat>Panorámica</PresentationFormat>
  <Paragraphs>97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¿Cómo comenzó todo?</vt:lpstr>
      <vt:lpstr>Modelo Cascada</vt:lpstr>
      <vt:lpstr>Modelo Cascada</vt:lpstr>
      <vt:lpstr>Prototipos de modelos de proceso</vt:lpstr>
      <vt:lpstr>Prototipos de modelos de proceso</vt:lpstr>
      <vt:lpstr>Modelo de espiral</vt:lpstr>
      <vt:lpstr>Modelo de espiral</vt:lpstr>
      <vt:lpstr>Comparación de modelos de procesos</vt:lpstr>
      <vt:lpstr>Actividad 05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Diego Supanta</cp:lastModifiedBy>
  <cp:revision>228</cp:revision>
  <dcterms:created xsi:type="dcterms:W3CDTF">2019-05-21T16:47:52Z</dcterms:created>
  <dcterms:modified xsi:type="dcterms:W3CDTF">2025-05-26T21:23:01Z</dcterms:modified>
</cp:coreProperties>
</file>