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desplazar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diapositiv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el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las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F85D9BE-A9B8-485C-B028-432DCAF38B48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ED80B8-DC73-457F-ABE2-A85002DCA4D9}" type="slidenum">
              <a: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547F46-7FF5-498A-9F1C-1B9AD3646880}" type="slidenum">
              <a: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FAFDB3-C418-414E-A538-BB764FECDADF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AA7195-031A-4CFF-82AB-2884C9A4D7B8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BD2F39-A921-4315-A9D5-4FC6C00A68C9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903169-37CC-470D-AB03-40B81A1E706E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4EB2D9-968E-4AFE-9BEA-1BE16D720BCB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2E766F-587E-4901-9FCB-F2CEB1462028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ABEF8F-18E7-48D5-A0EF-4EAF2F8EE441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A7F0FD-4E97-4C65-BECA-1F61BD1F680B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3FCE12-AF9D-4E3C-8FFA-E8EA2AD5798A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7258EC-A472-48E7-8714-752669F549A1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94AD62-530C-4356-9B4F-0CCFAC29A8A2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FD7BEB-EE9F-4F41-9334-6792541307E5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8D5126-0268-43AF-9E0F-D029F4D387FD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C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Sugerencia: Reemplazar con temas y subtemas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2F88F5-62E7-4D07-AFD9-8445BF49E43E}" type="slidenum">
              <a:rPr lang="es-C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s-ES_trad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60221A-DA63-4915-8B19-09C47A6468CF}" type="slidenum">
              <a:rPr lang="es-ES_tradnl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ga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ra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od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ific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est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ilo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ul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del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tró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n</a:t>
            </a:r>
            <a:endParaRPr lang="es-C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BBA7F6-1649-4FCD-94A1-69AFC9DA9042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dific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estil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títul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del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patr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</a:t>
            </a: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 estilos de texto del </a:t>
            </a: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EA6DB4-7AB5-4A75-83A3-4A1990D59A3E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29DBE8-D4F9-4456-B974-44A67F673DA9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711828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_trad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 </a:t>
            </a:r>
            <a:r>
              <a:rPr lang="es-ES_trad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</a:t>
            </a:r>
            <a:r>
              <a:rPr lang="es-ES_trad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</a:t>
            </a:r>
            <a:r>
              <a:rPr lang="es-ES_trad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edit</a:t>
            </a:r>
            <a:r>
              <a:rPr lang="es-ES_trad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 </a:t>
            </a:r>
            <a:r>
              <a:rPr lang="es-ES_trad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títul</a:t>
            </a:r>
            <a:r>
              <a:rPr lang="es-ES_trad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s-E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s-E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353637-9591-4F50-9AAB-3879FF158253}" type="slidenum">
              <a:rPr lang="es-ES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el estilo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s-ES_trad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dific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estil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títul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del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patr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2700BA-9230-4606-85F6-AF5E5854DAF8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ga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ra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od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ific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est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ilo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ul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del 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tró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n</a:t>
            </a:r>
            <a:endParaRPr lang="es-C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EA3EFC-F025-405D-95DF-F1D6EE4646E6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dific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estil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títul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del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patr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5DF5CB-DF7C-4BFC-8EBF-34E8572527AA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26276A-2F51-47DB-8ED3-EAD315468512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34C95A-8152-49F9-88D0-6D48B81A33C6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1FA69-B7EB-4BE6-810A-0798A1F00CB1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el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del texto </a:t>
            </a: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 título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para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ficar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estilo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título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del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patró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n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C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C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FB47DA-8A95-42AE-885B-E698B1594E5F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para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ficar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el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estilo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título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del 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patró</a:t>
            </a: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n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C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55E54D-8CBE-4A4A-8294-6A2A6CB6489F}" type="slidenum">
              <a:rPr lang="es-C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n 12"/>
          <p:cNvPicPr/>
          <p:nvPr/>
        </p:nvPicPr>
        <p:blipFill>
          <a:blip r:embed="rId1"/>
          <a:stretch/>
        </p:blipFill>
        <p:spPr>
          <a:xfrm>
            <a:off x="1316160" y="2826360"/>
            <a:ext cx="10875600" cy="222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Rectangle 18"/>
          <p:cNvSpPr/>
          <p:nvPr/>
        </p:nvSpPr>
        <p:spPr>
          <a:xfrm flipV="1">
            <a:off x="0" y="-17640"/>
            <a:ext cx="12191760" cy="3547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s-CL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Imagen 11"/>
          <p:cNvPicPr/>
          <p:nvPr/>
        </p:nvPicPr>
        <p:blipFill>
          <a:blip r:embed="rId2"/>
          <a:stretch/>
        </p:blipFill>
        <p:spPr>
          <a:xfrm>
            <a:off x="558000" y="5803200"/>
            <a:ext cx="2745000" cy="94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Imagen 4"/>
          <p:cNvPicPr/>
          <p:nvPr/>
        </p:nvPicPr>
        <p:blipFill>
          <a:blip r:embed="rId3">
            <a:alphaModFix amt="6000"/>
          </a:blip>
          <a:stretch/>
        </p:blipFill>
        <p:spPr>
          <a:xfrm>
            <a:off x="0" y="373320"/>
            <a:ext cx="12191760" cy="331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n 8"/>
          <p:cNvPicPr/>
          <p:nvPr/>
        </p:nvPicPr>
        <p:blipFill>
          <a:blip r:embed="rId4"/>
          <a:stretch/>
        </p:blipFill>
        <p:spPr>
          <a:xfrm>
            <a:off x="0" y="3530520"/>
            <a:ext cx="3393720" cy="332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Imagen 10"/>
          <p:cNvPicPr/>
          <p:nvPr/>
        </p:nvPicPr>
        <p:blipFill>
          <a:blip r:embed="rId5"/>
          <a:stretch/>
        </p:blipFill>
        <p:spPr>
          <a:xfrm>
            <a:off x="928080" y="1073160"/>
            <a:ext cx="2671560" cy="93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Imagen 7"/>
          <p:cNvPicPr/>
          <p:nvPr/>
        </p:nvPicPr>
        <p:blipFill>
          <a:blip r:embed="rId6"/>
          <a:stretch/>
        </p:blipFill>
        <p:spPr>
          <a:xfrm>
            <a:off x="6095880" y="1050480"/>
            <a:ext cx="5303160" cy="28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n 2" descr="Imagen que contiene alimentos&#10;&#10;Descripción generada automáticamente"/>
          <p:cNvPicPr/>
          <p:nvPr/>
        </p:nvPicPr>
        <p:blipFill>
          <a:blip r:embed="rId7"/>
          <a:stretch/>
        </p:blipFill>
        <p:spPr>
          <a:xfrm>
            <a:off x="8798040" y="5356800"/>
            <a:ext cx="2971440" cy="10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CuadroTexto 3"/>
          <p:cNvSpPr/>
          <p:nvPr/>
        </p:nvSpPr>
        <p:spPr>
          <a:xfrm>
            <a:off x="8616240" y="6468480"/>
            <a:ext cx="3498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CL" sz="1800" b="0" u="none" strike="noStrike">
                <a:solidFill>
                  <a:srgbClr val="004c8b"/>
                </a:solidFill>
                <a:effectLst/>
                <a:uFillTx/>
                <a:latin typeface="Calibri"/>
              </a:rPr>
              <a:t>INGENIERÍA CIVIL EN INFORMÁTICA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8"/>
          <p:cNvSpPr/>
          <p:nvPr/>
        </p:nvSpPr>
        <p:spPr>
          <a:xfrm>
            <a:off x="3303360" y="5887440"/>
            <a:ext cx="6857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ARICA - CHILE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n 3"/>
          <p:cNvPicPr/>
          <p:nvPr/>
        </p:nvPicPr>
        <p:blipFill>
          <a:blip r:embed="rId1"/>
          <a:stretch/>
        </p:blipFill>
        <p:spPr>
          <a:xfrm>
            <a:off x="0" y="-32040"/>
            <a:ext cx="12191760" cy="688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n 16"/>
          <p:cNvPicPr/>
          <p:nvPr/>
        </p:nvPicPr>
        <p:blipFill>
          <a:blip r:embed="rId2"/>
          <a:stretch/>
        </p:blipFill>
        <p:spPr>
          <a:xfrm>
            <a:off x="8603640" y="1073160"/>
            <a:ext cx="2671560" cy="93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711828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C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¿Qué es UML?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35216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UML significa </a:t>
            </a:r>
            <a:r>
              <a:rPr lang="es-MX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Unified Modeling Language</a:t>
            </a: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(Lenguaje Unificado de Modelado)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un lenguaje gráfico para visualizar, especificar, construir y documentar sistemas de software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es un lenguaje de programación, sino un lenguaje de modelado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Está estandarizado por el OMG (Object Management Group)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Marcador de contenido 2"/>
          <p:cNvSpPr/>
          <p:nvPr/>
        </p:nvSpPr>
        <p:spPr>
          <a:xfrm>
            <a:off x="1981080" y="1417680"/>
            <a:ext cx="4402440" cy="49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360"/>
              </a:spcBef>
            </a:pP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87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88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90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711828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¿Para qué se usa UML?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35216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Comprender y comunicar ideas sobre el sistema entre analistas, desarrolladores y clientes.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Diseñar la arquitectura del sistema antes de programar.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Documentar el sistema para su mantenimiento y evolución.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Detectar errores conceptuales tempranos.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Marcador de contenido 2"/>
          <p:cNvSpPr/>
          <p:nvPr/>
        </p:nvSpPr>
        <p:spPr>
          <a:xfrm>
            <a:off x="1981080" y="1417680"/>
            <a:ext cx="4402440" cy="49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360"/>
              </a:spcBef>
            </a:pP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95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96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7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98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Beneficios del modelado con UML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35216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Mejora la comunicación entre los equipos.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Facilita el análisis y el diseño del sistema.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dividir el sistema en partes comprensibles.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Apoya la reutilización de modelos en otros proyectos.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Sirve como documentación del software.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Marcador de contenido 2"/>
          <p:cNvSpPr/>
          <p:nvPr/>
        </p:nvSpPr>
        <p:spPr>
          <a:xfrm>
            <a:off x="1981080" y="1417680"/>
            <a:ext cx="4402440" cy="49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360"/>
              </a:spcBef>
            </a:pP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03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04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5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06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Herramientas para diagramas 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35216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Draw.io: Gratuita, basada en navegador y versión escritorio.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Lucidchart: Online, colaborativa, freemium.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StarUML: Herramienta de escritorio, profesional (Pago).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 Paradigm: Potente, educativa, versátil (Pago).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Marcador de contenido 2"/>
          <p:cNvSpPr/>
          <p:nvPr/>
        </p:nvSpPr>
        <p:spPr>
          <a:xfrm>
            <a:off x="1981080" y="1417680"/>
            <a:ext cx="4402440" cy="49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360"/>
              </a:spcBef>
            </a:pP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11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12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3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14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Casos de uso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35216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Diagrama debe seguir la notación para casos de uso establecida por UML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Actores.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Casos de Uso.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Relaciones.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Las relaciones de Actores con casos de usos se denominan “Asociaciones”.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Las relaciones entre casos de uso se denominan “Generalizaciones” y pueden ser de dos tipos, de uso (Uses) o de herencia (Extends).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Según el número de casos de uso se puede usar un diagrama, o varios según los módulos o funcionalidad.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Marcador de contenido 2"/>
          <p:cNvSpPr/>
          <p:nvPr/>
        </p:nvSpPr>
        <p:spPr>
          <a:xfrm>
            <a:off x="1981080" y="1417680"/>
            <a:ext cx="4402440" cy="49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360"/>
              </a:spcBef>
            </a:pP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19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20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22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Casos de uso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5" name="Marcador de contenido 9"/>
          <p:cNvPicPr/>
          <p:nvPr/>
        </p:nvPicPr>
        <p:blipFill>
          <a:blip r:embed="rId1"/>
          <a:stretch/>
        </p:blipFill>
        <p:spPr>
          <a:xfrm>
            <a:off x="609480" y="1821960"/>
            <a:ext cx="4723560" cy="29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Marcador de contenido 2"/>
          <p:cNvSpPr/>
          <p:nvPr/>
        </p:nvSpPr>
        <p:spPr>
          <a:xfrm>
            <a:off x="1981080" y="1417680"/>
            <a:ext cx="4402440" cy="49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360"/>
              </a:spcBef>
            </a:pPr>
            <a:endParaRPr lang="es-C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27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28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9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30" name="Imagen 7"/>
          <p:cNvPicPr/>
          <p:nvPr/>
        </p:nvPicPr>
        <p:blipFill>
          <a:blip r:embed="rId2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n 8"/>
          <p:cNvPicPr/>
          <p:nvPr/>
        </p:nvPicPr>
        <p:blipFill>
          <a:blip r:embed="rId3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Imagen 12"/>
          <p:cNvPicPr/>
          <p:nvPr/>
        </p:nvPicPr>
        <p:blipFill>
          <a:blip r:embed="rId4"/>
          <a:stretch/>
        </p:blipFill>
        <p:spPr>
          <a:xfrm>
            <a:off x="6095880" y="1732320"/>
            <a:ext cx="4234320" cy="348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Especificación de Casos de Uso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34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35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6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37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35216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Especificación del caso de uso, describe la forma en que el actor interactúa con el sistema, listando las funciones o tareas, los datos de entrada, información que necesita recibir el actor del sistema, información sobre eventos o cambios inesperados, entre otros.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Especificación de Casos de Uso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41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42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3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44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6" name="Tabla 2"/>
          <p:cNvGraphicFramePr/>
          <p:nvPr/>
        </p:nvGraphicFramePr>
        <p:xfrm>
          <a:off x="1289880" y="1530360"/>
          <a:ext cx="7686000" cy="5009040"/>
        </p:xfrm>
        <a:graphic>
          <a:graphicData uri="http://schemas.openxmlformats.org/drawingml/2006/table">
            <a:tbl>
              <a:tblPr/>
              <a:tblGrid>
                <a:gridCol w="1138320"/>
                <a:gridCol w="3158280"/>
                <a:gridCol w="328680"/>
                <a:gridCol w="3060360"/>
              </a:tblGrid>
              <a:tr h="20412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CU-01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Obtener Indicadores por Nivel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304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Descripción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Sistema deberá permitir al usuario en cualquier momento pueda visualizar indicadores según el año seleccionado: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Precondición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marL="343080" indent="-343080" algn="just" defTabSz="914400">
                        <a:lnSpc>
                          <a:spcPts val="1199"/>
                        </a:lnSpc>
                        <a:buClr>
                          <a:srgbClr val="000000"/>
                        </a:buClr>
                        <a:buFont typeface="Symbol" charset="2"/>
                        <a:buChar char=""/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El usuario debe estar logueado en el sistema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343080" indent="-343080" algn="just" defTabSz="914400">
                        <a:lnSpc>
                          <a:spcPts val="1199"/>
                        </a:lnSpc>
                        <a:buClr>
                          <a:srgbClr val="000000"/>
                        </a:buClr>
                        <a:buFont typeface="Symbol" charset="2"/>
                        <a:buChar char=""/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Seleccionar opción del sistema “Indicadores”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rowSpan="8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Secuencia Normal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Paso 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Acción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Sistema: Despliega niveles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Seleccionar Nivel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182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5"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2.1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Usuario: Selecciona nivel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2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2.2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Sistema: Despliega años disponibles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  <a:tr h="3182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2.3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Usuario: Selecciona Año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2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2.4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Usuario: Selecciona Procesar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  <a:tr h="3225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2.5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Sistema: obtiene los datos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256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Postcondición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 término del proceso el sistema cargará los datos obtenidos y los mostrará al usuario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row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Excepciones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Paso 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Acción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182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No hay excepciones para el caso de uso descrito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0412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Comentarios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17440">
                <a:tc row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Historial: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Analista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Fecha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174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Nombre del analista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02/05/2025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174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Sistema de Biblioteca Online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48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49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0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51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25100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Una biblioteca universitaria quiere implementar un sistema web donde los estudiantes puedan buscar libros, reservarlos y devolverlos. El personal bibliotecario podrá registrar nuevos libros, actualizar su información y ver el estado de las reservas. Solo los usuarios registrados podrán usar el sistema.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Sistema de Biblioteca Online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55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56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7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58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25100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Requerimientos funcionales</a:t>
            </a:r>
            <a:endParaRPr lang="es-CL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estudiante debe poder registrarse e iniciar sesión.</a:t>
            </a:r>
            <a:endParaRPr lang="es-CL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estudiante puede buscar libros por título, autor o categoría.</a:t>
            </a:r>
            <a:endParaRPr lang="es-CL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estudiante puede reservar un libro disponible.</a:t>
            </a:r>
            <a:endParaRPr lang="es-CL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estudiante puede cancelar una reserva antes de recoger el libro.</a:t>
            </a:r>
            <a:endParaRPr lang="es-CL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bibliotecario puede registrar nuevos libros en el sistema.</a:t>
            </a:r>
            <a:endParaRPr lang="es-CL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bibliotecario puede modificar o eliminar libros.</a:t>
            </a:r>
            <a:endParaRPr lang="es-CL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bibliotecario puede ver todas las reservas activas.</a:t>
            </a:r>
            <a:endParaRPr lang="es-CL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Sistema de Biblioteca Online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62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63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4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65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25100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Requerimientos no funcionales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sistema debe estar disponible el 99% del tiempo mensual.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Las búsquedas deben retornar resultados en menos de 2 segundos.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sistema debe ser accesible desde navegadores modernos (Chrome, Firefox, Edge).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contraseña del usuario debe almacenarse cifrada.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sistema debe permitir al menos 100 usuarios concurrentes.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C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Diagrama de Casos de Uso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69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70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1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72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Marcador de contenido 3"/>
          <p:cNvPicPr/>
          <p:nvPr/>
        </p:nvPicPr>
        <p:blipFill>
          <a:blip r:embed="rId3"/>
          <a:stretch/>
        </p:blipFill>
        <p:spPr>
          <a:xfrm>
            <a:off x="3528000" y="1600200"/>
            <a:ext cx="4413240" cy="452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8160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C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Especificación de Caso de Uso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76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77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8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79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81" name="Tabla 10"/>
          <p:cNvGraphicFramePr/>
          <p:nvPr/>
        </p:nvGraphicFramePr>
        <p:xfrm>
          <a:off x="1289880" y="1530360"/>
          <a:ext cx="7686000" cy="4285080"/>
        </p:xfrm>
        <a:graphic>
          <a:graphicData uri="http://schemas.openxmlformats.org/drawingml/2006/table">
            <a:tbl>
              <a:tblPr/>
              <a:tblGrid>
                <a:gridCol w="1138320"/>
                <a:gridCol w="865080"/>
                <a:gridCol w="2292840"/>
                <a:gridCol w="3389040"/>
              </a:tblGrid>
              <a:tr h="20412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CU-03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Buscar libro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304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Descripción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Sistema deberá permitir al usuario pueda </a:t>
                      </a: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buscar libros por título, autor o categoría</a:t>
                      </a: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, según se describe en el siguiente caso de uso: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Precondición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marL="343080" indent="-343080" algn="just" defTabSz="914400">
                        <a:lnSpc>
                          <a:spcPts val="1199"/>
                        </a:lnSpc>
                        <a:buClr>
                          <a:srgbClr val="000000"/>
                        </a:buClr>
                        <a:buFont typeface="Symbol" charset="2"/>
                        <a:buChar char=""/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El usuario debe estar logueado en el sistema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343080" indent="-343080" algn="just" defTabSz="914400">
                        <a:lnSpc>
                          <a:spcPts val="1199"/>
                        </a:lnSpc>
                        <a:buClr>
                          <a:srgbClr val="000000"/>
                        </a:buClr>
                        <a:buFont typeface="Symbol" charset="2"/>
                        <a:buChar char=""/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Seleccionar una opción “titulo”, “autor” o “categoría”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rowSpan="4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Secuencia Normal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Paso 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Acción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El usuario ingresa un texto de búsqueda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2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El usuario debe presionar el botón buscar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3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  <a:tabLst>
                          <a:tab algn="l" pos="0"/>
                        </a:tabLst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El sistema valida que se haya ingresado al menos un texto de búsqueda.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endParaRPr lang="es-CL" sz="14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4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El sistema consulta la base de datos según el texto ingresado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endParaRPr lang="es-CL" sz="1400" b="1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  <a:ea typeface="Times New Roman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5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El sistema devuelve el resultado de la consulta al usuario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2256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Postcondición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Al término del proceso el sistema cargará los datos de libros obtenidos y los mostrará en una tabla al usuario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9080">
                <a:tc row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Excepciones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Paso 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Acción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2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ctr" defTabSz="914400">
                        <a:lnSpc>
                          <a:spcPts val="1199"/>
                        </a:lnSpc>
                      </a:pPr>
                      <a:r>
                        <a:rPr lang="es-MX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3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En caso de haber ingresado texto al campo de búsqueda, debe mostrar un mensaje de error al usuario.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  <a:tr h="204120">
                <a:tc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Comentarios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17440">
                <a:tc rowSpan="3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Historial: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Analista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Fecha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  <a:tr h="2174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Nombre del analista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02/05/2025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74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20520" rIns="20520" tIns="0" bIns="0" anchor="ctr">
                      <a:noAutofit/>
                    </a:bodyPr>
                    <a:p>
                      <a:pPr algn="just" defTabSz="914400">
                        <a:lnSpc>
                          <a:spcPts val="1199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20520" rIns="2052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s-E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0520" marR="20520" marT="0" marB="0">
                    <a:lnL w="6480">
                      <a:solidFill>
                        <a:srgbClr val="5b9bd5"/>
                      </a:solidFill>
                      <a:prstDash val="solid"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711828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Actividad</a:t>
            </a:r>
            <a:endParaRPr lang="es-C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c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Realizar el diagrama de caso de uso</a:t>
            </a:r>
            <a:r>
              <a:rPr lang="es-C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junto con su especificación.</a:t>
            </a:r>
            <a:endParaRPr lang="es-C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84" name="Agrupar 2"/>
          <p:cNvGrpSpPr/>
          <p:nvPr/>
        </p:nvGrpSpPr>
        <p:grpSpPr>
          <a:xfrm>
            <a:off x="0" y="6469920"/>
            <a:ext cx="12191760" cy="387720"/>
            <a:chOff x="0" y="6469920"/>
            <a:chExt cx="12191760" cy="387720"/>
          </a:xfrm>
        </p:grpSpPr>
        <p:sp>
          <p:nvSpPr>
            <p:cNvPr id="185" name="Rectángulo 5"/>
            <p:cNvSpPr/>
            <p:nvPr/>
          </p:nvSpPr>
          <p:spPr>
            <a:xfrm>
              <a:off x="0" y="6469920"/>
              <a:ext cx="6248160" cy="38772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6" name="Rectángulo 6"/>
            <p:cNvSpPr/>
            <p:nvPr/>
          </p:nvSpPr>
          <p:spPr>
            <a:xfrm>
              <a:off x="5943600" y="6761160"/>
              <a:ext cx="6248160" cy="96480"/>
            </a:xfrm>
            <a:prstGeom prst="rect">
              <a:avLst/>
            </a:prstGeom>
            <a:solidFill>
              <a:srgbClr val="004c8b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s-ES_tradnl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87" name="Imagen 7"/>
          <p:cNvPicPr/>
          <p:nvPr/>
        </p:nvPicPr>
        <p:blipFill>
          <a:blip r:embed="rId1"/>
          <a:stretch/>
        </p:blipFill>
        <p:spPr>
          <a:xfrm>
            <a:off x="8872200" y="575640"/>
            <a:ext cx="2486520" cy="86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Imagen 8"/>
          <p:cNvPicPr/>
          <p:nvPr/>
        </p:nvPicPr>
        <p:blipFill>
          <a:blip r:embed="rId2"/>
          <a:stretch/>
        </p:blipFill>
        <p:spPr>
          <a:xfrm>
            <a:off x="10962000" y="3607560"/>
            <a:ext cx="511560" cy="286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Box 8"/>
          <p:cNvSpPr/>
          <p:nvPr/>
        </p:nvSpPr>
        <p:spPr>
          <a:xfrm>
            <a:off x="3303360" y="5887440"/>
            <a:ext cx="6857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ARICA - CHILE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n 11"/>
          <p:cNvPicPr/>
          <p:nvPr/>
        </p:nvPicPr>
        <p:blipFill>
          <a:blip r:embed="rId1"/>
          <a:stretch/>
        </p:blipFill>
        <p:spPr>
          <a:xfrm>
            <a:off x="0" y="1080"/>
            <a:ext cx="12191760" cy="643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Rectangle 18"/>
          <p:cNvSpPr/>
          <p:nvPr/>
        </p:nvSpPr>
        <p:spPr>
          <a:xfrm flipV="1">
            <a:off x="0" y="12600"/>
            <a:ext cx="5972040" cy="6417000"/>
          </a:xfrm>
          <a:prstGeom prst="rect">
            <a:avLst/>
          </a:prstGeom>
          <a:gradFill rotWithShape="0">
            <a:gsLst>
              <a:gs pos="32000">
                <a:srgbClr val="0070c0"/>
              </a:gs>
              <a:gs pos="100000">
                <a:srgbClr val="f6f8fc">
                  <a:alpha val="0"/>
                </a:srgb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s-CL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18"/>
          <p:cNvSpPr/>
          <p:nvPr/>
        </p:nvSpPr>
        <p:spPr>
          <a:xfrm flipV="1">
            <a:off x="0" y="5687640"/>
            <a:ext cx="12191760" cy="1169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s-CL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3" name="Imagen 16"/>
          <p:cNvPicPr/>
          <p:nvPr/>
        </p:nvPicPr>
        <p:blipFill>
          <a:blip r:embed="rId2"/>
          <a:stretch/>
        </p:blipFill>
        <p:spPr>
          <a:xfrm>
            <a:off x="6732360" y="2950920"/>
            <a:ext cx="4281840" cy="149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Imagen 2"/>
          <p:cNvPicPr/>
          <p:nvPr/>
        </p:nvPicPr>
        <p:blipFill>
          <a:blip r:embed="rId3">
            <a:alphaModFix amt="31000"/>
          </a:blip>
          <a:stretch/>
        </p:blipFill>
        <p:spPr>
          <a:xfrm>
            <a:off x="0" y="2419560"/>
            <a:ext cx="5965920" cy="162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Imagen 4" descr="Interfaz de usuario gráfica, Aplicación&#10;&#10;Descripción generada automáticamente"/>
          <p:cNvPicPr/>
          <p:nvPr/>
        </p:nvPicPr>
        <p:blipFill>
          <a:blip r:embed="rId4"/>
          <a:stretch/>
        </p:blipFill>
        <p:spPr>
          <a:xfrm>
            <a:off x="953280" y="4230000"/>
            <a:ext cx="4059720" cy="14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3575</TotalTime>
  <Application>LibreOffice/25.8.6.2$Linux_X86_64 LibreOffice_project/a46b460d1686bb49c718d2ef5f88b83ff2dc4981</Application>
  <AppVersion>15.0000</AppVersion>
  <Words>957</Words>
  <Paragraphs>168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2019-05-21T16:47:52Z</dcterms:created>
  <dc:creator>Alejandro Rodriguez</dc:creator>
  <dc:description/>
  <dc:language>es-ES</dc:language>
  <cp:lastModifiedBy/>
  <dcterms:modified xsi:type="dcterms:W3CDTF">2026-04-20T16:17:54Z</dcterms:modified>
  <cp:revision>223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Panorámica</vt:lpwstr>
  </property>
  <property fmtid="{D5CDD505-2E9C-101B-9397-08002B2CF9AE}" pid="4" name="Slides">
    <vt:i4>17</vt:i4>
  </property>
</Properties>
</file>