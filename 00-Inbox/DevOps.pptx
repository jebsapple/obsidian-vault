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340" r:id="rId2"/>
    <p:sldId id="335" r:id="rId3"/>
    <p:sldId id="260" r:id="rId4"/>
    <p:sldId id="364" r:id="rId5"/>
    <p:sldId id="365" r:id="rId6"/>
    <p:sldId id="366" r:id="rId7"/>
    <p:sldId id="367" r:id="rId8"/>
    <p:sldId id="368" r:id="rId9"/>
    <p:sldId id="369" r:id="rId10"/>
    <p:sldId id="374" r:id="rId11"/>
    <p:sldId id="370" r:id="rId12"/>
    <p:sldId id="371" r:id="rId13"/>
    <p:sldId id="372" r:id="rId14"/>
    <p:sldId id="373" r:id="rId15"/>
    <p:sldId id="375" r:id="rId16"/>
    <p:sldId id="376" r:id="rId17"/>
    <p:sldId id="377" r:id="rId18"/>
    <p:sldId id="320" r:id="rId19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orge Díaz Ramirez" initials="JDR" lastIdx="1" clrIdx="0">
    <p:extLst>
      <p:ext uri="{19B8F6BF-5375-455C-9EA6-DF929625EA0E}">
        <p15:presenceInfo xmlns:p15="http://schemas.microsoft.com/office/powerpoint/2012/main" userId="S::jdiazr@utaicin.onmicrosoft.com::24a050a3-dd5e-4216-aec0-1116f1ad970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C8B"/>
    <a:srgbClr val="E59356"/>
    <a:srgbClr val="313967"/>
    <a:srgbClr val="21B7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91" autoAdjust="0"/>
    <p:restoredTop sz="95154" autoAdjust="0"/>
  </p:normalViewPr>
  <p:slideViewPr>
    <p:cSldViewPr snapToGrid="0">
      <p:cViewPr varScale="1">
        <p:scale>
          <a:sx n="93" d="100"/>
          <a:sy n="93" d="100"/>
        </p:scale>
        <p:origin x="973" y="7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690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0DEBD1-2A31-CD48-AEF6-F7D6115C2ADE}" type="datetimeFigureOut">
              <a:rPr lang="es-ES_tradnl" smtClean="0"/>
              <a:t>30/03/2025</a:t>
            </a:fld>
            <a:endParaRPr lang="es-ES_tradn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_tradnl"/>
              <a:t>Haga clic para modificar los estilos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8C247B-BF22-8347-871C-504C859AB74A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87993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8C247B-BF22-8347-871C-504C859AB74A}" type="slidenum">
              <a:rPr lang="es-ES_tradnl" smtClean="0"/>
              <a:t>1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7565369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8C247B-BF22-8347-871C-504C859AB74A}" type="slidenum">
              <a:rPr lang="es-ES_tradnl" smtClean="0"/>
              <a:t>2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480772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Sugerencia: Reemplazar con temas y subtemas</a:t>
            </a:r>
          </a:p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3F6B-FD3D-4789-A80B-DDBE7372AE8C}" type="slidenum">
              <a:rPr lang="es-CL" smtClean="0"/>
              <a:t>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814198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36AA2-A664-7EA2-C66B-22D6114D8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C251E9D-57F0-C87D-E4AD-441EAF9B93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7991D43-7B08-09B2-D4E5-30DAF0EE7B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Sugerencia: Reemplazar con temas y subtemas</a:t>
            </a:r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07474D4-F647-82BE-7F53-A1501E0950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3F6B-FD3D-4789-A80B-DDBE7372AE8C}" type="slidenum">
              <a:rPr lang="es-CL" smtClean="0"/>
              <a:t>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676709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024A6-51D8-B03E-E100-3D9219014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AD0B567-4E72-E300-B8BD-27A42CCE09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E6618A7-190A-277A-F8F3-87AC267BA9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Sugerencia: Reemplazar con temas y subtemas</a:t>
            </a:r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22FD493-B2FC-150B-B30F-F63BF8A6E9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3F6B-FD3D-4789-A80B-DDBE7372AE8C}" type="slidenum">
              <a:rPr lang="es-CL" smtClean="0"/>
              <a:t>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993461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9DEB1-781A-958D-7BE6-E8C12A64B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D1B827F-A272-EEB9-8ECD-D5668C458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BB2C567-A21B-EB86-1363-1CE7C6492B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Sugerencia: Reemplazar con temas y subtemas</a:t>
            </a:r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9F6553C-76A6-95EC-A876-4EF0CE60E5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3F6B-FD3D-4789-A80B-DDBE7372AE8C}" type="slidenum">
              <a:rPr lang="es-CL" smtClean="0"/>
              <a:t>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688257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30EF5-7523-9E5D-73DA-2AEA60160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E71C600-BC38-B7E2-ED48-344552D3E5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1D6E8FF-BD76-F21A-68C2-0055AFD9BA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Sugerencia: Reemplazar con temas y subtemas</a:t>
            </a:r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E85E17B-1EBC-FFBA-2067-60E26F47A9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3F6B-FD3D-4789-A80B-DDBE7372AE8C}" type="slidenum">
              <a:rPr lang="es-CL" smtClean="0"/>
              <a:t>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565025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71DBA-F82A-32AA-5C92-DEF4DC201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52088CB-E97D-F469-8B4C-9C558EA2D1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D3665CC-A8CB-5545-5742-FF80B56383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Sugerencia: Reemplazar con temas y subtemas</a:t>
            </a:r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8C5B11A-A0F1-6AFB-5346-89C18EBCE4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3F6B-FD3D-4789-A80B-DDBE7372AE8C}" type="slidenum">
              <a:rPr lang="es-CL" smtClean="0"/>
              <a:t>8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47165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3A58B-52F5-5FCF-FCD0-5596CBEE9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98C0D9F-710C-BA17-E854-0436D7B027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69346EB-F081-9390-E931-AC9ACB0351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Sugerencia: Reemplazar con temas y subtemas</a:t>
            </a:r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D8E03AD-EE11-2A41-5820-1825AC6F61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3F6B-FD3D-4789-A80B-DDBE7372AE8C}" type="slidenum">
              <a:rPr lang="es-CL" smtClean="0"/>
              <a:t>9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503160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15D0F-68FC-7BD0-97F9-BC1F5346B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CB97AF5-8B16-6FB3-BA06-A6D95B2EC0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EB8C108-CC22-27E0-A4DC-5A70DBF980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Sugerencia: Reemplazar con temas y subtemas</a:t>
            </a:r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E18F801-F261-9B71-B093-1D1272B043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3F6B-FD3D-4789-A80B-DDBE7372AE8C}" type="slidenum">
              <a:rPr lang="es-CL" smtClean="0"/>
              <a:t>10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791164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E115D-5D27-F764-57B1-C0061BC7C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04379BE-6249-2438-70BA-1D2109665B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6788617-6C57-FAB1-F194-0FA8C6C002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Sugerencia: Reemplazar con temas y subtemas</a:t>
            </a:r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F520558-05C9-9254-8D9A-3FA82A2ED8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3F6B-FD3D-4789-A80B-DDBE7372AE8C}" type="slidenum">
              <a:rPr lang="es-CL" smtClean="0"/>
              <a:t>11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029623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907E4-2B79-A340-13F4-55A8695F5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EF4C686-E56F-9AE9-4DA3-F6FBF6B483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54ADD31-C61D-2706-3932-F3D42F8D1A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Sugerencia: Reemplazar con temas y subtemas</a:t>
            </a:r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14E615D-1F0F-3AB1-80A4-1BE6A93B3A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3F6B-FD3D-4789-A80B-DDBE7372AE8C}" type="slidenum">
              <a:rPr lang="es-CL" smtClean="0"/>
              <a:t>12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093411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318A3-8C6E-3ED6-D928-A445C39DE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16901B4-7C5D-F5A5-902A-9C72A24AE1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C1DCDA1-A1E8-F014-37DC-BAFEAD6508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Sugerencia: Reemplazar con temas y subtemas</a:t>
            </a:r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7EB05A6-C566-5B84-B229-21B2A387C5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3F6B-FD3D-4789-A80B-DDBE7372AE8C}" type="slidenum">
              <a:rPr lang="es-CL" smtClean="0"/>
              <a:t>13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956804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ED0D43-2C5C-6EF8-8017-B86365985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DBDF43A-C1F3-627D-E420-435EAEC3C8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A70B0FF-F6AB-8DA3-F181-1E1E80C32E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Sugerencia: Reemplazar con temas y subtemas</a:t>
            </a:r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18A26D0-FF73-DB3C-5224-B7BA707BCE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3F6B-FD3D-4789-A80B-DDBE7372AE8C}" type="slidenum">
              <a:rPr lang="es-CL" smtClean="0"/>
              <a:t>14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904949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524684-0093-7052-37E6-5E76B5B6A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07B6433-3560-AB5F-F71E-A5A2FE447D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B8EA257-5E34-5782-561A-F9ECFDEF9C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Sugerencia: Reemplazar con temas y subtemas</a:t>
            </a:r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70F55DD-41AD-3A7A-EB13-193429EC84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3F6B-FD3D-4789-A80B-DDBE7372AE8C}" type="slidenum">
              <a:rPr lang="es-CL" smtClean="0"/>
              <a:t>15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089453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2523F4-FA42-E88C-2E10-A0FFCEA77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DAFCFD7-941C-2ADA-5CBC-2E496C386C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71B223D-8DE2-7C82-E3D4-493CAAA7C6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Sugerencia: Reemplazar con temas y subtemas</a:t>
            </a:r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623440D-88BD-E4BE-45B6-F0980F239B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3F6B-FD3D-4789-A80B-DDBE7372AE8C}" type="slidenum">
              <a:rPr lang="es-CL" smtClean="0"/>
              <a:t>16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649535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E88E0-4B9B-E19C-32EB-4F5D8535F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6EF230E-4E09-434A-FD0C-63B46C7A6A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FCF13AF-E444-5C6E-B042-F647DA732E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Sugerencia: Reemplazar con temas y subtemas</a:t>
            </a:r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0EB72EA-9633-7ABC-BFE6-2F71BB2FBF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3F6B-FD3D-4789-A80B-DDBE7372AE8C}" type="slidenum">
              <a:rPr lang="es-CL" smtClean="0"/>
              <a:t>17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769992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/>
              <a:t> </a:t>
            </a:r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8C247B-BF22-8347-871C-504C859AB74A}" type="slidenum">
              <a:rPr lang="es-ES_tradnl" smtClean="0"/>
              <a:t>18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6466250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2FD61C-0A90-4B9A-A315-3352DD7666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BDDF5D3-A263-4863-96AA-6D12D8E5C3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AF12CE5-C309-4B2D-BD10-0B7E82ABC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9C6B0-6393-4131-9540-C068361BDDD0}" type="datetimeFigureOut">
              <a:rPr lang="es-CL" smtClean="0"/>
              <a:t>30-03-2025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4B1AD1E-A33A-461A-BED1-AAFF577C5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513482-8FCA-43F3-ACFF-A812379D4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D1CF-B5AB-4551-A2BB-1D29A214764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61483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B6DE8B-6551-4B7F-B63E-815A6341C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2A0A3D7-77B3-46D3-AE54-4F9D6BEA82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4F2BFCD-DDD8-4F96-82E2-713C08732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9C6B0-6393-4131-9540-C068361BDDD0}" type="datetimeFigureOut">
              <a:rPr lang="es-CL" smtClean="0"/>
              <a:t>30-03-2025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B40AEEB-1DA1-4197-96DA-AD62BE8B0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89690DF-3D9A-4C6A-AD36-5A24BB909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D1CF-B5AB-4551-A2BB-1D29A214764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77046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94D864-4966-49DA-B249-8501969AB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C3EA68D-43FF-4618-AB62-E544AE9DD5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9B8C3B9-76FF-4222-99FB-9217B8D65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9C6B0-6393-4131-9540-C068361BDDD0}" type="datetimeFigureOut">
              <a:rPr lang="es-CL" smtClean="0"/>
              <a:t>30-03-2025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FBA531C-D6D2-49A3-91F5-6D96EA9AC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2AA51F6-8B98-4630-BB14-C36D0F555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D1CF-B5AB-4551-A2BB-1D29A214764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912015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AA0161-C576-4CEA-B1E9-8FA285235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19F4BF3-C1AF-4910-9597-5A55AC4390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748A99F-4AD1-4C69-9A10-919EB711C7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EB02A-C1AC-418C-A930-C585FF05E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9C6B0-6393-4131-9540-C068361BDDD0}" type="datetimeFigureOut">
              <a:rPr lang="es-CL" smtClean="0"/>
              <a:t>30-03-2025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E74E7B3-D0B5-433B-857E-25A13C04E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54B8614-7433-45BC-8EC8-56E68443B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D1CF-B5AB-4551-A2BB-1D29A214764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207754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7A9C18-7D1B-4166-9AEE-545CA1761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7F95075-0256-468A-AD8F-A1F61BD082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BB9E5E0-11B2-4B05-8789-85B0EE1FEE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E901DD3-B34A-4DD8-97CA-E2987EF30F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47AAD9E-A074-42CF-9F72-8E1E7DFC5D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FD3C18F-D681-4F6D-BE42-609E88392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9C6B0-6393-4131-9540-C068361BDDD0}" type="datetimeFigureOut">
              <a:rPr lang="es-CL" smtClean="0"/>
              <a:t>30-03-2025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3EC7256-E19E-4965-8F6B-EFBABFABA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74FF0C1-9153-4A2B-8E4F-F4152A4F9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D1CF-B5AB-4551-A2BB-1D29A214764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46147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039F0E-B6B3-413D-B8D5-3EBC57D14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2873099-B246-4157-B167-31A34CBF0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9C6B0-6393-4131-9540-C068361BDDD0}" type="datetimeFigureOut">
              <a:rPr lang="es-CL" smtClean="0"/>
              <a:t>30-03-2025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69BD8DC-CF8D-421C-B582-E2834B329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E83B244-BE08-415F-A652-086EC5A82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D1CF-B5AB-4551-A2BB-1D29A214764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5030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E583E29-A1E4-4FC8-B85D-6BE7C231A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9C6B0-6393-4131-9540-C068361BDDD0}" type="datetimeFigureOut">
              <a:rPr lang="es-CL" smtClean="0"/>
              <a:t>30-03-2025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46CF79B-BA17-4D6D-BA75-5945303F7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890813B-FF99-42BE-A591-72FF11813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D1CF-B5AB-4551-A2BB-1D29A214764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925780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EF088D-2BE3-4F1B-987C-8B905E083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B5BA28C-FB6A-486F-B219-12DC33399E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93A24BF-DD2F-442E-BB2E-79EB056568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B195DAA-3224-49BF-B596-C1113FBBE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9C6B0-6393-4131-9540-C068361BDDD0}" type="datetimeFigureOut">
              <a:rPr lang="es-CL" smtClean="0"/>
              <a:t>30-03-2025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5C48EA5-0BD0-4552-BA61-0390B0F05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B22A88C-7103-4730-8BB6-AF641F0D0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D1CF-B5AB-4551-A2BB-1D29A214764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94258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FE449A-69B1-4F86-96DA-B146C800A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C1A6C1D-C402-4DEF-8993-5ADD947C47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53F710F-DB16-4B8C-AD3D-F16A5E7BE1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9293B3C-6CA9-4BD6-91F2-9DBFEA739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9C6B0-6393-4131-9540-C068361BDDD0}" type="datetimeFigureOut">
              <a:rPr lang="es-CL" smtClean="0"/>
              <a:t>30-03-2025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C81912F-C394-4F33-9CE7-44AD534CC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8308917-DFFC-4144-833E-8D05F22B8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D1CF-B5AB-4551-A2BB-1D29A214764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883620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A03DF0-44BB-459D-A838-EF8CDA879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B7B1C5A-66F0-408C-BC62-0DA1AFF38A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55D2308-48DE-4E9C-9E15-BEFCC70A9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9C6B0-6393-4131-9540-C068361BDDD0}" type="datetimeFigureOut">
              <a:rPr lang="es-CL" smtClean="0"/>
              <a:t>30-03-2025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30F8CE-545A-4BD0-895C-230FB50BF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4A02F44-FB0E-4A1A-80B4-D8CEC3A23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D1CF-B5AB-4551-A2BB-1D29A214764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67412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780EC09-2B9E-40D2-93FB-147D12F01C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F58EEA2-F90F-4403-88FA-A9DF1626D5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11CCB10-1A32-4DA2-B6B5-FCD7DDDC9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9C6B0-6393-4131-9540-C068361BDDD0}" type="datetimeFigureOut">
              <a:rPr lang="es-CL" smtClean="0"/>
              <a:t>30-03-2025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864AA77-03F2-4456-AA16-C71D986CF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10BDE9E-A2E7-4823-88CC-A641B66DB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D1CF-B5AB-4551-A2BB-1D29A214764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625662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118581" cy="1143000"/>
          </a:xfrm>
        </p:spPr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>
              <a:defRPr/>
            </a:pPr>
            <a:fld id="{AC604C90-5466-0B48-96CB-E2890ED738F2}" type="datetimeFigureOut">
              <a:rPr lang="es-ES" smtClean="0">
                <a:solidFill>
                  <a:prstClr val="black">
                    <a:tint val="75000"/>
                  </a:prstClr>
                </a:solidFill>
              </a:rPr>
              <a:pPr defTabSz="457200">
                <a:defRPr/>
              </a:pPr>
              <a:t>30/03/2025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>
              <a:defRPr/>
            </a:pPr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>
              <a:defRPr/>
            </a:pPr>
            <a:fld id="{9DC25825-B1DE-1B44-BAFE-9EA3DBC1CEEA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 defTabSz="457200">
                <a:defRPr/>
              </a:pPr>
              <a:t>‹Nº›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Marcador de contenido 2"/>
          <p:cNvSpPr>
            <a:spLocks noGrp="1"/>
          </p:cNvSpPr>
          <p:nvPr>
            <p:ph idx="13"/>
          </p:nvPr>
        </p:nvSpPr>
        <p:spPr>
          <a:xfrm>
            <a:off x="609600" y="1600201"/>
            <a:ext cx="10972800" cy="4525963"/>
          </a:xfrm>
        </p:spPr>
        <p:txBody>
          <a:bodyPr>
            <a:normAutofit/>
          </a:bodyPr>
          <a:lstStyle>
            <a:lvl1pPr>
              <a:buClr>
                <a:srgbClr val="C00000"/>
              </a:buClr>
              <a:defRPr sz="2800"/>
            </a:lvl1pPr>
            <a:lvl2pPr>
              <a:buClr>
                <a:srgbClr val="C00000"/>
              </a:buClr>
              <a:defRPr sz="2400"/>
            </a:lvl2pPr>
            <a:lvl3pPr>
              <a:buClr>
                <a:srgbClr val="C00000"/>
              </a:buClr>
              <a:defRPr sz="2000"/>
            </a:lvl3pPr>
            <a:lvl4pPr>
              <a:buClr>
                <a:srgbClr val="C00000"/>
              </a:buClr>
              <a:defRPr sz="1800"/>
            </a:lvl4pPr>
            <a:lvl5pPr>
              <a:buClr>
                <a:srgbClr val="C00000"/>
              </a:buCl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 dirty="0"/>
              <a:t>Haga clic para modificar el estilo de texto del patrón</a:t>
            </a:r>
          </a:p>
          <a:p>
            <a:pPr lvl="1"/>
            <a:r>
              <a:rPr lang="es-ES_tradnl" dirty="0"/>
              <a:t>Segundo nivel</a:t>
            </a:r>
          </a:p>
          <a:p>
            <a:pPr lvl="2"/>
            <a:r>
              <a:rPr lang="es-ES_tradnl" dirty="0"/>
              <a:t>Tercer nivel</a:t>
            </a:r>
          </a:p>
          <a:p>
            <a:pPr lvl="3"/>
            <a:r>
              <a:rPr lang="es-ES_tradnl" dirty="0"/>
              <a:t>Cuarto nivel</a:t>
            </a:r>
          </a:p>
          <a:p>
            <a:pPr lvl="4"/>
            <a:r>
              <a:rPr lang="es-ES_tradnl" dirty="0"/>
              <a:t>Quinto nivel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110658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5409B45-06C2-4FB9-B509-A3427AB24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99B8760-EA6E-4D6E-B268-4352C5049F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558343C-E792-4C94-A41E-2EF624E8F8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79C6B0-6393-4131-9540-C068361BDDD0}" type="datetimeFigureOut">
              <a:rPr lang="es-CL" smtClean="0"/>
              <a:t>30-03-2025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4EAAD5A-6B54-414C-9F0A-B594F6AC79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1633233-6333-443C-BD19-C54F679A2C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3AD1CF-B5AB-4551-A2BB-1D29A214764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32743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6183" y="2826327"/>
            <a:ext cx="10875818" cy="2227783"/>
          </a:xfrm>
          <a:prstGeom prst="rect">
            <a:avLst/>
          </a:prstGeom>
        </p:spPr>
      </p:pic>
      <p:sp>
        <p:nvSpPr>
          <p:cNvPr id="10" name="Rectangle 18">
            <a:extLst>
              <a:ext uri="{FF2B5EF4-FFF2-40B4-BE49-F238E27FC236}">
                <a16:creationId xmlns:a16="http://schemas.microsoft.com/office/drawing/2014/main" id="{996DAE91-E53D-4FFB-8098-8AFE46881F1D}"/>
              </a:ext>
            </a:extLst>
          </p:cNvPr>
          <p:cNvSpPr/>
          <p:nvPr/>
        </p:nvSpPr>
        <p:spPr>
          <a:xfrm flipV="1">
            <a:off x="1" y="-16914"/>
            <a:ext cx="12192000" cy="354751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12" name="Imagen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901" y="5803165"/>
            <a:ext cx="2745501" cy="940998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5">
            <a:alphaModFix am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73477"/>
            <a:ext cx="12192000" cy="3312629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30600"/>
            <a:ext cx="3393948" cy="3327400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255" y="1073299"/>
            <a:ext cx="2672079" cy="933791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1" y="1050420"/>
            <a:ext cx="5303520" cy="281940"/>
          </a:xfrm>
          <a:prstGeom prst="rect">
            <a:avLst/>
          </a:prstGeom>
        </p:spPr>
      </p:pic>
      <p:pic>
        <p:nvPicPr>
          <p:cNvPr id="3" name="Imagen 2" descr="Imagen que contiene alimentos&#10;&#10;Descripción generada automáticamente">
            <a:extLst>
              <a:ext uri="{FF2B5EF4-FFF2-40B4-BE49-F238E27FC236}">
                <a16:creationId xmlns:a16="http://schemas.microsoft.com/office/drawing/2014/main" id="{5B34141F-EC2F-144F-8268-7D4182D95AA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8054" y="5356904"/>
            <a:ext cx="2971800" cy="107950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202FC531-FC77-0243-AE81-8F245A6FA785}"/>
              </a:ext>
            </a:extLst>
          </p:cNvPr>
          <p:cNvSpPr txBox="1"/>
          <p:nvPr/>
        </p:nvSpPr>
        <p:spPr>
          <a:xfrm>
            <a:off x="8616096" y="6468320"/>
            <a:ext cx="34988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>
                <a:solidFill>
                  <a:srgbClr val="004C8B"/>
                </a:solidFill>
              </a:rPr>
              <a:t>INGENIERÍA CIVIL EN INFORMÁTICA</a:t>
            </a:r>
          </a:p>
        </p:txBody>
      </p:sp>
    </p:spTree>
    <p:extLst>
      <p:ext uri="{BB962C8B-B14F-4D97-AF65-F5344CB8AC3E}">
        <p14:creationId xmlns:p14="http://schemas.microsoft.com/office/powerpoint/2010/main" val="20822960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8">
            <a:extLst>
              <a:ext uri="{FF2B5EF4-FFF2-40B4-BE49-F238E27FC236}">
                <a16:creationId xmlns:a16="http://schemas.microsoft.com/office/drawing/2014/main" id="{8ADFA9A2-1A70-4586-A9E0-3C117E6A0C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3402" y="5887325"/>
            <a:ext cx="6858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rial" charset="0"/>
              </a:rPr>
              <a:t>ARICA - CHILE</a:t>
            </a:r>
            <a:endParaRPr lang="en-US" sz="2400" dirty="0">
              <a:solidFill>
                <a:schemeClr val="bg1"/>
              </a:solidFill>
              <a:latin typeface="Eurostile BoldExtendedTwo" charset="0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2171"/>
            <a:ext cx="12192000" cy="6890172"/>
          </a:xfrm>
          <a:prstGeom prst="rect">
            <a:avLst/>
          </a:prstGeom>
        </p:spPr>
      </p:pic>
      <p:pic>
        <p:nvPicPr>
          <p:cNvPr id="17" name="Imagen 1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673" y="1073299"/>
            <a:ext cx="2672079" cy="933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113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s-MX" dirty="0"/>
              <a:t>DevOps</a:t>
            </a:r>
            <a:endParaRPr lang="es-CL" dirty="0"/>
          </a:p>
        </p:txBody>
      </p:sp>
      <p:sp>
        <p:nvSpPr>
          <p:cNvPr id="3" name="Marcador de contenido 2"/>
          <p:cNvSpPr txBox="1">
            <a:spLocks/>
          </p:cNvSpPr>
          <p:nvPr/>
        </p:nvSpPr>
        <p:spPr>
          <a:xfrm>
            <a:off x="1981200" y="1417638"/>
            <a:ext cx="4402832" cy="493915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0000"/>
              </a:buClr>
            </a:pPr>
            <a:endParaRPr lang="es-CL" sz="1800" dirty="0"/>
          </a:p>
        </p:txBody>
      </p:sp>
      <p:grpSp>
        <p:nvGrpSpPr>
          <p:cNvPr id="5" name="Agrupar 2">
            <a:extLst>
              <a:ext uri="{FF2B5EF4-FFF2-40B4-BE49-F238E27FC236}">
                <a16:creationId xmlns:a16="http://schemas.microsoft.com/office/drawing/2014/main" id="{A0F68CF3-2050-4A6F-AF5F-CB6DCB46DCEE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B13D1E45-2E41-49FD-8CBC-ECAD056683EC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BC3B1013-3A74-4808-9459-EF0A0BE2B450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56108630-1BE7-4C16-ACBC-7DAC474851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808AAB99-AA43-457A-BFA2-8B68AFA22B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  <p:sp>
        <p:nvSpPr>
          <p:cNvPr id="10" name="Marcador de contenido 9">
            <a:extLst>
              <a:ext uri="{FF2B5EF4-FFF2-40B4-BE49-F238E27FC236}">
                <a16:creationId xmlns:a16="http://schemas.microsoft.com/office/drawing/2014/main" id="{2838EC33-5FC3-4C82-4713-17A7E7F7478A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" y="1600201"/>
            <a:ext cx="10213910" cy="4525963"/>
          </a:xfrm>
        </p:spPr>
        <p:txBody>
          <a:bodyPr>
            <a:normAutofit/>
          </a:bodyPr>
          <a:lstStyle/>
          <a:p>
            <a:pPr algn="just"/>
            <a:r>
              <a:rPr lang="es-MX" dirty="0"/>
              <a:t>Patrick </a:t>
            </a:r>
            <a:r>
              <a:rPr lang="es-MX" dirty="0" err="1"/>
              <a:t>DeBois</a:t>
            </a:r>
            <a:r>
              <a:rPr lang="es-MX" dirty="0"/>
              <a:t> creó DevOps para combinar el desarrollo  y las operaciones.</a:t>
            </a:r>
          </a:p>
          <a:p>
            <a:pPr algn="just"/>
            <a:r>
              <a:rPr lang="es-MX" dirty="0"/>
              <a:t>DevOps intenta aplicar los principios del desarrollo ágil en toda la cadena de suministro de software.</a:t>
            </a:r>
          </a:p>
          <a:p>
            <a:pPr algn="just"/>
            <a:r>
              <a:rPr lang="es-MX" dirty="0"/>
              <a:t>Principales prácticas en DevOps:</a:t>
            </a:r>
          </a:p>
          <a:p>
            <a:pPr lvl="1" algn="just"/>
            <a:r>
              <a:rPr lang="es-MX" i="1" dirty="0"/>
              <a:t>Desarrollo continuo</a:t>
            </a:r>
          </a:p>
          <a:p>
            <a:pPr lvl="1" algn="just"/>
            <a:r>
              <a:rPr lang="es-MX" i="1" dirty="0"/>
              <a:t>Prueba continua</a:t>
            </a:r>
          </a:p>
          <a:p>
            <a:pPr lvl="1" algn="just"/>
            <a:r>
              <a:rPr lang="es-MX" i="1" dirty="0"/>
              <a:t>Integración continua</a:t>
            </a:r>
          </a:p>
          <a:p>
            <a:pPr lvl="1" algn="just"/>
            <a:r>
              <a:rPr lang="es-MX" i="1" dirty="0"/>
              <a:t>Entrega continua</a:t>
            </a:r>
          </a:p>
          <a:p>
            <a:pPr lvl="1" algn="just"/>
            <a:r>
              <a:rPr lang="es-MX" i="1" dirty="0"/>
              <a:t>Monitoreo continuo</a:t>
            </a:r>
          </a:p>
          <a:p>
            <a:endParaRPr lang="es-CL"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5EA2C836-826F-FF9C-CA7A-F121198BACE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5735" y="4041977"/>
            <a:ext cx="5859794" cy="1993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598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0457B5-6BF8-492F-20B9-FA77E5A06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1B2EF8-108E-F401-C3CF-ABBA344CC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s-MX" dirty="0"/>
              <a:t>Desarrollo continuo</a:t>
            </a:r>
            <a:endParaRPr lang="es-CL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F37412E-0643-8A8C-9133-576E96C43F20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" y="1600201"/>
            <a:ext cx="10352394" cy="4525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MX" noProof="0" dirty="0"/>
              <a:t>Los entregables de software se desglosan y desarrollan en varios </a:t>
            </a:r>
            <a:r>
              <a:rPr lang="es-MX" noProof="0" dirty="0" err="1"/>
              <a:t>sprints</a:t>
            </a:r>
            <a:r>
              <a:rPr lang="es-MX" noProof="0" dirty="0"/>
              <a:t>; los incrementos se entregan a los miembros de aseguramiento de la calidad del equipo.</a:t>
            </a:r>
            <a:endParaRPr lang="es-CL" noProof="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3B1D953-A66F-69C6-D54F-D837E7CFB190}"/>
              </a:ext>
            </a:extLst>
          </p:cNvPr>
          <p:cNvSpPr txBox="1">
            <a:spLocks/>
          </p:cNvSpPr>
          <p:nvPr/>
        </p:nvSpPr>
        <p:spPr>
          <a:xfrm>
            <a:off x="1981200" y="1417638"/>
            <a:ext cx="4402832" cy="493915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0000"/>
              </a:buClr>
            </a:pPr>
            <a:endParaRPr lang="es-CL" sz="1800" dirty="0"/>
          </a:p>
        </p:txBody>
      </p:sp>
      <p:grpSp>
        <p:nvGrpSpPr>
          <p:cNvPr id="5" name="Agrupar 2">
            <a:extLst>
              <a:ext uri="{FF2B5EF4-FFF2-40B4-BE49-F238E27FC236}">
                <a16:creationId xmlns:a16="http://schemas.microsoft.com/office/drawing/2014/main" id="{5352C14E-28AA-C3EC-AB95-38E33A211EAB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C407FB98-EE7E-9AE1-E508-ED3D5FC58F91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CADA5D36-CB84-825F-CEB8-E1E9ECF6B815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151E72C5-C190-C7F4-2D61-3AF92DF948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53724543-C986-9B81-95DC-63C2A1F758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7870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A69509-14B3-4409-62F8-FF15B3EB1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3B54BD-152D-A323-A85F-74651B908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s-MX" dirty="0"/>
              <a:t>Prueba continua</a:t>
            </a:r>
            <a:endParaRPr lang="es-CL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3D50351-C079-5628-5C9A-3E80EFA43EF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" y="1600201"/>
            <a:ext cx="10352394" cy="4525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MX" dirty="0"/>
              <a:t>Se usan herramientas de prueba automatizadas para que los miembros del equipo evalúen varios incrementos de código al mismo tiempo para asegurar que estén libres de defectos antes de la integración.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3521842-4F77-680E-6149-39FE1DCF6028}"/>
              </a:ext>
            </a:extLst>
          </p:cNvPr>
          <p:cNvSpPr txBox="1">
            <a:spLocks/>
          </p:cNvSpPr>
          <p:nvPr/>
        </p:nvSpPr>
        <p:spPr>
          <a:xfrm>
            <a:off x="1981200" y="1417638"/>
            <a:ext cx="4402832" cy="493915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0000"/>
              </a:buClr>
            </a:pPr>
            <a:endParaRPr lang="es-CL" sz="1800" dirty="0"/>
          </a:p>
        </p:txBody>
      </p:sp>
      <p:grpSp>
        <p:nvGrpSpPr>
          <p:cNvPr id="5" name="Agrupar 2">
            <a:extLst>
              <a:ext uri="{FF2B5EF4-FFF2-40B4-BE49-F238E27FC236}">
                <a16:creationId xmlns:a16="http://schemas.microsoft.com/office/drawing/2014/main" id="{DD008DA0-0400-2AD0-E75C-9877BBA8014A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4039293E-A343-4EA3-ABBB-7CD68BB164FE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AD285CC8-6E18-0D3C-C887-773B883A2DB7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8077B5F2-2BA0-6284-BE96-B4556CA9B6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3D90D368-4468-FC26-7ECF-BD1479B5AF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5922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B0169-F4B3-A631-4BD8-0146FB38A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0CCCD8-5096-D998-72B3-C4FA6348E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s-MX" noProof="0" dirty="0"/>
              <a:t>Integración continua (CI)</a:t>
            </a:r>
            <a:endParaRPr lang="es-CL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41F61D3-137A-61CE-5607-5FB05D0E4F6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" y="1600201"/>
            <a:ext cx="10352394" cy="4525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MX" dirty="0"/>
              <a:t>Las piezas de código con nueva funcionalidad se agregan al código existente y al entorno en tiempo de ejecución; posteriormente se revisan para asegurar que no haya errores después de la implementación.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1E85328-142F-FE63-DC30-F54693F3F69F}"/>
              </a:ext>
            </a:extLst>
          </p:cNvPr>
          <p:cNvSpPr txBox="1">
            <a:spLocks/>
          </p:cNvSpPr>
          <p:nvPr/>
        </p:nvSpPr>
        <p:spPr>
          <a:xfrm>
            <a:off x="1981200" y="1417638"/>
            <a:ext cx="4402832" cy="493915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0000"/>
              </a:buClr>
            </a:pPr>
            <a:endParaRPr lang="es-CL" sz="1800" dirty="0"/>
          </a:p>
        </p:txBody>
      </p:sp>
      <p:grpSp>
        <p:nvGrpSpPr>
          <p:cNvPr id="5" name="Agrupar 2">
            <a:extLst>
              <a:ext uri="{FF2B5EF4-FFF2-40B4-BE49-F238E27FC236}">
                <a16:creationId xmlns:a16="http://schemas.microsoft.com/office/drawing/2014/main" id="{A6DFDB32-BE83-82AE-5E72-7983EAF4B9B8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4456E2A1-DE76-EB56-0EB4-E44C3EF86A2C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9AB1F13D-80B4-891A-16CB-7156491DD9AC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D7BF5AB9-5EFE-618A-1A2B-AC16EEDB3E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9AAE2365-CEA4-F0D9-0882-A1F4F898A3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7986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B0BE9-5137-2387-455B-9937E17BA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835260-2AC8-A0A8-9495-BC3ECCBF0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s-MX" noProof="0" dirty="0"/>
              <a:t>Entrega continua (CD)</a:t>
            </a:r>
            <a:endParaRPr lang="es-CL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82F7AF4-ACF5-8B76-B7DF-02FAA665903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" y="1600201"/>
            <a:ext cx="10260563" cy="4525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MX" dirty="0"/>
              <a:t>Se refiere al proceso de automatizar el despliegue de código en entornos de prueba o producción, asegurando que el software pueda ser entregado con alta frecuencia y sin interrupciones.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4E70C05-1819-3CC3-1AF9-F061AE08D76E}"/>
              </a:ext>
            </a:extLst>
          </p:cNvPr>
          <p:cNvSpPr txBox="1">
            <a:spLocks/>
          </p:cNvSpPr>
          <p:nvPr/>
        </p:nvSpPr>
        <p:spPr>
          <a:xfrm>
            <a:off x="1981200" y="1417638"/>
            <a:ext cx="4402832" cy="493915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0000"/>
              </a:buClr>
            </a:pPr>
            <a:endParaRPr lang="es-CL" sz="1800" dirty="0"/>
          </a:p>
        </p:txBody>
      </p:sp>
      <p:grpSp>
        <p:nvGrpSpPr>
          <p:cNvPr id="5" name="Agrupar 2">
            <a:extLst>
              <a:ext uri="{FF2B5EF4-FFF2-40B4-BE49-F238E27FC236}">
                <a16:creationId xmlns:a16="http://schemas.microsoft.com/office/drawing/2014/main" id="{3A66CB27-4E0A-9BED-878B-1472D98C0BA5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694D7926-C5D2-3BD3-6B9D-E4032CF90035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78A71525-AE51-C40C-6FFC-D8A97B79DA4E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1604A2C4-C150-BAEC-0F1A-547F47C6B4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BFDC866E-BCBE-7B34-070E-F38463ABDE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6300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D3729-B72B-7CC3-6D28-0DB957FFB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5226E9-67BC-53C5-A08B-3F62DC6E1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s-MX" dirty="0"/>
              <a:t>Monitoreo continuo</a:t>
            </a:r>
            <a:endParaRPr lang="es-CL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C4C4CED-16F5-8DC8-BFAB-44E4E5743CF5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" y="1600201"/>
            <a:ext cx="10352394" cy="4525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MX" dirty="0"/>
              <a:t>Ayuda a mejorar la calidad del software mediante un monitoreo de su rendimiento en el entorno de producción; además se busca de forma proactiva posibles problemas antes de que los usuarios los encuentren.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D99B4D9-DDC6-00ED-DC48-6461FF1C0AF3}"/>
              </a:ext>
            </a:extLst>
          </p:cNvPr>
          <p:cNvSpPr txBox="1">
            <a:spLocks/>
          </p:cNvSpPr>
          <p:nvPr/>
        </p:nvSpPr>
        <p:spPr>
          <a:xfrm>
            <a:off x="1981200" y="1417638"/>
            <a:ext cx="4402832" cy="493915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0000"/>
              </a:buClr>
            </a:pPr>
            <a:endParaRPr lang="es-CL" sz="1800" dirty="0"/>
          </a:p>
        </p:txBody>
      </p:sp>
      <p:grpSp>
        <p:nvGrpSpPr>
          <p:cNvPr id="5" name="Agrupar 2">
            <a:extLst>
              <a:ext uri="{FF2B5EF4-FFF2-40B4-BE49-F238E27FC236}">
                <a16:creationId xmlns:a16="http://schemas.microsoft.com/office/drawing/2014/main" id="{74544B4D-9A86-DC9D-BD4B-71CF1D8A189D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A6EAA63B-A176-6F50-7A9F-8A0E1584E153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8F9D8986-CC3E-43D8-B14B-D8887112E0C6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4B0FF7C1-5962-E198-FCBA-6970CCC0CC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9898A3EF-1D5F-C57B-928D-12D409A4BF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5552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84D15-A717-709D-08FB-C7CA2CADB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944363-6B78-63A2-1BC6-DD97E935E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s-MX" dirty="0"/>
              <a:t>DevOps</a:t>
            </a:r>
            <a:endParaRPr lang="es-CL" dirty="0"/>
          </a:p>
        </p:txBody>
      </p:sp>
      <p:pic>
        <p:nvPicPr>
          <p:cNvPr id="11" name="Marcador de contenido 10">
            <a:extLst>
              <a:ext uri="{FF2B5EF4-FFF2-40B4-BE49-F238E27FC236}">
                <a16:creationId xmlns:a16="http://schemas.microsoft.com/office/drawing/2014/main" id="{0FD65979-1E3E-EC80-7036-E9284A1AA37D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184" y="1600200"/>
            <a:ext cx="9764920" cy="4525963"/>
          </a:xfr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08E2F2F-A950-BB10-19E2-5C49060140A0}"/>
              </a:ext>
            </a:extLst>
          </p:cNvPr>
          <p:cNvSpPr txBox="1">
            <a:spLocks/>
          </p:cNvSpPr>
          <p:nvPr/>
        </p:nvSpPr>
        <p:spPr>
          <a:xfrm>
            <a:off x="1981200" y="1417638"/>
            <a:ext cx="4402832" cy="493915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0000"/>
              </a:buClr>
            </a:pPr>
            <a:endParaRPr lang="es-CL" sz="1800" dirty="0"/>
          </a:p>
        </p:txBody>
      </p:sp>
      <p:grpSp>
        <p:nvGrpSpPr>
          <p:cNvPr id="5" name="Agrupar 2">
            <a:extLst>
              <a:ext uri="{FF2B5EF4-FFF2-40B4-BE49-F238E27FC236}">
                <a16:creationId xmlns:a16="http://schemas.microsoft.com/office/drawing/2014/main" id="{7D782DA2-8A3A-DF3A-82D9-6E40ED1173D6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9BBA84EA-2478-414E-F24E-34119D997667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629DFF92-6698-39B0-69AC-C63B04806B8E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72D09660-201E-8715-E1C0-A4B535EB42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7FC6654-62E5-0E86-ABC0-19037716CEB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9867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D5502-6C8F-181A-806F-57796DC4B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B2FA70-4932-68F9-D051-E792E4E01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es-MX" dirty="0"/>
              <a:t>Plan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AE74FCC-4B14-0C33-140E-F2823885FD78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" y="1600201"/>
            <a:ext cx="10352394" cy="4525963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s-MX" b="1" dirty="0"/>
              <a:t>Objetivo</a:t>
            </a:r>
            <a:r>
              <a:rPr lang="es-MX" dirty="0"/>
              <a:t>: Definir lo que se va a construir.</a:t>
            </a:r>
          </a:p>
          <a:p>
            <a:pPr marL="0" indent="0" algn="just">
              <a:buNone/>
            </a:pPr>
            <a:r>
              <a:rPr lang="es-MX" dirty="0"/>
              <a:t>Esta fase implica planificar y priorizar las tareas que deben realizarse, lo cual se hace mediante la gestión de requerimientos. </a:t>
            </a:r>
          </a:p>
          <a:p>
            <a:pPr marL="0" indent="0" algn="just">
              <a:buNone/>
            </a:pPr>
            <a:r>
              <a:rPr lang="es-MX" dirty="0"/>
              <a:t>Aquí se tratan temas como:</a:t>
            </a:r>
          </a:p>
          <a:p>
            <a:pPr lvl="1" algn="just"/>
            <a:r>
              <a:rPr lang="es-MX" i="1" dirty="0"/>
              <a:t>Requisitos de negocio.</a:t>
            </a:r>
          </a:p>
          <a:p>
            <a:pPr lvl="1" algn="just"/>
            <a:r>
              <a:rPr lang="es-MX" i="1" dirty="0"/>
              <a:t>Definición de nuevas funcionalidades.</a:t>
            </a:r>
          </a:p>
          <a:p>
            <a:pPr lvl="1" algn="just"/>
            <a:r>
              <a:rPr lang="es-MX" i="1" dirty="0"/>
              <a:t>Backlog de tareas o historias de usuario (en Scrum).</a:t>
            </a:r>
          </a:p>
          <a:p>
            <a:pPr marL="0" indent="0" algn="just">
              <a:buNone/>
            </a:pPr>
            <a:r>
              <a:rPr lang="es-MX" dirty="0"/>
              <a:t>Planificación del alcance y tiempos.</a:t>
            </a:r>
          </a:p>
          <a:p>
            <a:pPr lvl="1" algn="just"/>
            <a:r>
              <a:rPr lang="es-MX" i="1" dirty="0"/>
              <a:t>Herramientas comunes:</a:t>
            </a:r>
          </a:p>
          <a:p>
            <a:pPr lvl="1" algn="just"/>
            <a:r>
              <a:rPr lang="es-MX" i="1" dirty="0"/>
              <a:t>Jira</a:t>
            </a:r>
          </a:p>
          <a:p>
            <a:pPr lvl="1" algn="just"/>
            <a:r>
              <a:rPr lang="es-MX" i="1" dirty="0"/>
              <a:t>Trello</a:t>
            </a:r>
            <a:endParaRPr lang="es-CL" i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E802FD2-022F-4541-8EA1-444E1C1D8C1C}"/>
              </a:ext>
            </a:extLst>
          </p:cNvPr>
          <p:cNvSpPr txBox="1">
            <a:spLocks/>
          </p:cNvSpPr>
          <p:nvPr/>
        </p:nvSpPr>
        <p:spPr>
          <a:xfrm>
            <a:off x="1981200" y="1417638"/>
            <a:ext cx="4402832" cy="493915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0000"/>
              </a:buClr>
            </a:pPr>
            <a:endParaRPr lang="es-CL" sz="1800" dirty="0"/>
          </a:p>
        </p:txBody>
      </p:sp>
      <p:grpSp>
        <p:nvGrpSpPr>
          <p:cNvPr id="5" name="Agrupar 2">
            <a:extLst>
              <a:ext uri="{FF2B5EF4-FFF2-40B4-BE49-F238E27FC236}">
                <a16:creationId xmlns:a16="http://schemas.microsoft.com/office/drawing/2014/main" id="{9D966CF6-B819-9A17-4069-BE1C8E2F7988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D66D8693-5C91-6100-5579-078347997C38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A1B7282A-AEFA-EF6F-E39F-9531B8858168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05739CC6-E518-FA92-442C-7AF5315576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AF5F922C-F3A8-E724-F3A2-D34B1FEDCD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4824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0B4DA-BA15-DD89-E9D3-21EF393AC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7FA537-C866-8F40-06B3-DF7D198FE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dirty="0" err="1"/>
              <a:t>Code</a:t>
            </a:r>
            <a:endParaRPr lang="es-MX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762CC6A-E0DB-5CBB-046F-F1FEA5CE66DF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" y="1600201"/>
            <a:ext cx="10352394" cy="4525963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s-MX" b="1" dirty="0"/>
              <a:t>Objetivo</a:t>
            </a:r>
            <a:r>
              <a:rPr lang="es-MX" dirty="0"/>
              <a:t>: Escribir el código del software.</a:t>
            </a:r>
          </a:p>
          <a:p>
            <a:pPr marL="0" indent="0" algn="just">
              <a:buNone/>
            </a:pPr>
            <a:r>
              <a:rPr lang="es-MX" dirty="0"/>
              <a:t>En esta fase los desarrolladores escriben el código fuente de la aplicación. El código es almacenado y gestionado en un repositorio de código fuente usando herramientas de control de versiones, generalmente Git. </a:t>
            </a:r>
          </a:p>
          <a:p>
            <a:pPr marL="0" indent="0" algn="just">
              <a:buNone/>
            </a:pPr>
            <a:r>
              <a:rPr lang="es-MX" dirty="0"/>
              <a:t>Las actividades aquí incluyen:</a:t>
            </a:r>
          </a:p>
          <a:p>
            <a:pPr lvl="1"/>
            <a:r>
              <a:rPr lang="es-MX" i="1" dirty="0"/>
              <a:t>Desarrollo de nuevas funcionalidades.</a:t>
            </a:r>
          </a:p>
          <a:p>
            <a:pPr lvl="1"/>
            <a:r>
              <a:rPr lang="es-MX" i="1" dirty="0"/>
              <a:t>Refactorización de código.</a:t>
            </a:r>
          </a:p>
          <a:p>
            <a:pPr lvl="1"/>
            <a:r>
              <a:rPr lang="es-MX" i="1" dirty="0"/>
              <a:t>Colaboración entre desarrolladores en ramas del repositorio.</a:t>
            </a:r>
          </a:p>
          <a:p>
            <a:pPr marL="0" indent="0">
              <a:buNone/>
            </a:pPr>
            <a:r>
              <a:rPr lang="es-MX" dirty="0"/>
              <a:t>Herramientas comunes:</a:t>
            </a:r>
          </a:p>
          <a:p>
            <a:pPr lvl="1"/>
            <a:r>
              <a:rPr lang="es-MX" i="1" dirty="0"/>
              <a:t>Git (GitHub, </a:t>
            </a:r>
            <a:r>
              <a:rPr lang="es-MX" i="1" dirty="0" err="1"/>
              <a:t>GitLab</a:t>
            </a:r>
            <a:r>
              <a:rPr lang="es-MX" i="1" dirty="0"/>
              <a:t>, </a:t>
            </a:r>
            <a:r>
              <a:rPr lang="es-MX" i="1" dirty="0" err="1"/>
              <a:t>Bitbucket</a:t>
            </a:r>
            <a:r>
              <a:rPr lang="es-MX" i="1" dirty="0"/>
              <a:t>)</a:t>
            </a:r>
          </a:p>
          <a:p>
            <a:pPr lvl="1"/>
            <a:r>
              <a:rPr lang="es-MX" i="1" dirty="0"/>
              <a:t>IDE (Visual Studio </a:t>
            </a:r>
            <a:r>
              <a:rPr lang="es-MX" i="1" dirty="0" err="1"/>
              <a:t>Code</a:t>
            </a:r>
            <a:r>
              <a:rPr lang="es-MX" i="1" dirty="0"/>
              <a:t>, IntelliJ IDEA, Eclipse)</a:t>
            </a:r>
            <a:endParaRPr lang="es-CL" i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7834946-C2A6-009C-C8B1-3A54948ED609}"/>
              </a:ext>
            </a:extLst>
          </p:cNvPr>
          <p:cNvSpPr txBox="1">
            <a:spLocks/>
          </p:cNvSpPr>
          <p:nvPr/>
        </p:nvSpPr>
        <p:spPr>
          <a:xfrm>
            <a:off x="1981200" y="1417638"/>
            <a:ext cx="4402832" cy="493915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0000"/>
              </a:buClr>
            </a:pPr>
            <a:endParaRPr lang="es-CL" sz="1800" dirty="0"/>
          </a:p>
        </p:txBody>
      </p:sp>
      <p:grpSp>
        <p:nvGrpSpPr>
          <p:cNvPr id="5" name="Agrupar 2">
            <a:extLst>
              <a:ext uri="{FF2B5EF4-FFF2-40B4-BE49-F238E27FC236}">
                <a16:creationId xmlns:a16="http://schemas.microsoft.com/office/drawing/2014/main" id="{81E73051-7D28-4C92-753E-21945214CF49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872F20D7-73CB-6A08-A718-B70719538FA3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D06001F0-088A-2311-8EEF-6A93E5489F21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F53E24EC-3FF8-5035-3E09-8AD660ABF0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BECBF32-8BDA-083C-F846-71CC595BF3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9045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6F4AD-3AC2-5329-46C3-CCEB1D03C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F976E4-59A9-1323-205B-07659F675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MX" dirty="0" err="1"/>
              <a:t>Build</a:t>
            </a:r>
            <a:endParaRPr lang="es-MX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1DB0FCA-DAFB-BE20-D789-C5091186F970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" y="1600201"/>
            <a:ext cx="10352394" cy="4525963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s-MX" b="1" dirty="0"/>
              <a:t>Objetivo</a:t>
            </a:r>
            <a:r>
              <a:rPr lang="es-MX" dirty="0"/>
              <a:t>: Compilar el código en artefactos ejecutables.</a:t>
            </a:r>
          </a:p>
          <a:p>
            <a:pPr marL="0" indent="0" algn="just">
              <a:buNone/>
            </a:pPr>
            <a:r>
              <a:rPr lang="es-MX" dirty="0"/>
              <a:t>Esta fase implica compilar el código para que pueda ser ejecutado y probado. Dependiendo del lenguaje de programación y la tecnología utilizada, puede incluir:</a:t>
            </a:r>
          </a:p>
          <a:p>
            <a:pPr lvl="1" algn="just"/>
            <a:r>
              <a:rPr lang="es-MX" i="1" dirty="0"/>
              <a:t>Compilación de código fuente en binarios o ejecutables.</a:t>
            </a:r>
          </a:p>
          <a:p>
            <a:pPr lvl="1" algn="just"/>
            <a:r>
              <a:rPr lang="es-MX" i="1" dirty="0"/>
              <a:t>Generación de artefactos como archivos WAR, JAR, Docker </a:t>
            </a:r>
            <a:r>
              <a:rPr lang="es-MX" i="1" dirty="0" err="1"/>
              <a:t>images</a:t>
            </a:r>
            <a:r>
              <a:rPr lang="es-MX" i="1" dirty="0"/>
              <a:t>, etc.</a:t>
            </a:r>
          </a:p>
          <a:p>
            <a:pPr lvl="1" algn="just"/>
            <a:r>
              <a:rPr lang="es-MX" i="1" dirty="0"/>
              <a:t>Resolución de dependencias y otros recursos necesarios.</a:t>
            </a:r>
          </a:p>
          <a:p>
            <a:pPr marL="0" indent="0" algn="just">
              <a:buNone/>
            </a:pPr>
            <a:r>
              <a:rPr lang="es-MX" dirty="0"/>
              <a:t>Herramientas comunes:</a:t>
            </a:r>
          </a:p>
          <a:p>
            <a:pPr lvl="1" algn="just"/>
            <a:r>
              <a:rPr lang="es-MX" i="1" dirty="0"/>
              <a:t>Maven, </a:t>
            </a:r>
            <a:r>
              <a:rPr lang="es-MX" i="1" dirty="0" err="1"/>
              <a:t>Gradle</a:t>
            </a:r>
            <a:r>
              <a:rPr lang="es-MX" i="1" dirty="0"/>
              <a:t> (para proyectos Java)</a:t>
            </a:r>
          </a:p>
          <a:p>
            <a:pPr lvl="1" algn="just"/>
            <a:r>
              <a:rPr lang="es-MX" i="1" dirty="0"/>
              <a:t>Docker (para contenedores)</a:t>
            </a:r>
          </a:p>
          <a:p>
            <a:pPr lvl="1" algn="just"/>
            <a:r>
              <a:rPr lang="es-MX" i="1" dirty="0" err="1"/>
              <a:t>Make</a:t>
            </a:r>
            <a:r>
              <a:rPr lang="es-MX" i="1" dirty="0"/>
              <a:t>, NPM, </a:t>
            </a:r>
            <a:r>
              <a:rPr lang="es-MX" i="1" dirty="0" err="1"/>
              <a:t>Webpack</a:t>
            </a:r>
            <a:endParaRPr lang="es-CL" i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5FB2619-0514-AFBA-6866-36A7B88983FB}"/>
              </a:ext>
            </a:extLst>
          </p:cNvPr>
          <p:cNvSpPr txBox="1">
            <a:spLocks/>
          </p:cNvSpPr>
          <p:nvPr/>
        </p:nvSpPr>
        <p:spPr>
          <a:xfrm>
            <a:off x="1981200" y="1417638"/>
            <a:ext cx="4402832" cy="493915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0000"/>
              </a:buClr>
            </a:pPr>
            <a:endParaRPr lang="es-CL" sz="1800" dirty="0"/>
          </a:p>
        </p:txBody>
      </p:sp>
      <p:grpSp>
        <p:nvGrpSpPr>
          <p:cNvPr id="5" name="Agrupar 2">
            <a:extLst>
              <a:ext uri="{FF2B5EF4-FFF2-40B4-BE49-F238E27FC236}">
                <a16:creationId xmlns:a16="http://schemas.microsoft.com/office/drawing/2014/main" id="{3C6DD439-58A7-864C-1D88-C018A1990D90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A88588F4-DD2D-E170-7FA8-065B83F3AFDA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6442B1F4-5843-68FA-6746-28BC2F60A5CD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3B30468D-7A76-36D9-9F5F-54D7F98733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CD6A98E-C558-543A-0AA6-A6DDFBC96D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7195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D0E17-7B39-F6F4-768C-893063F14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397895-8D61-43A5-49A8-3E4CFA8FB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s-MX" noProof="0" dirty="0"/>
              <a:t>Test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08DB0AF-EA1E-E619-A4B0-E5E00A72AA7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" y="1600201"/>
            <a:ext cx="10352394" cy="4525963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s-MX" b="1" dirty="0"/>
              <a:t>Objetivo</a:t>
            </a:r>
            <a:r>
              <a:rPr lang="es-MX" dirty="0"/>
              <a:t>: Verificar la calidad y el funcionamiento del software.</a:t>
            </a:r>
          </a:p>
          <a:p>
            <a:pPr marL="0" indent="0" algn="just">
              <a:buNone/>
            </a:pPr>
            <a:r>
              <a:rPr lang="es-MX" dirty="0"/>
              <a:t>En esta fase se ejecutan pruebas para asegurar que el código funciona como se espera y no introduzca errores. </a:t>
            </a:r>
          </a:p>
          <a:p>
            <a:pPr marL="0" indent="0" algn="just">
              <a:buNone/>
            </a:pPr>
            <a:r>
              <a:rPr lang="es-MX" dirty="0"/>
              <a:t>Se pueden realizar diferentes tipos de pruebas:</a:t>
            </a:r>
          </a:p>
          <a:p>
            <a:pPr lvl="1" algn="just"/>
            <a:r>
              <a:rPr lang="es-MX" i="1" dirty="0"/>
              <a:t>Pruebas unitarias (comprobación de funciones o métodos individuales).</a:t>
            </a:r>
          </a:p>
          <a:p>
            <a:pPr lvl="1" algn="just"/>
            <a:r>
              <a:rPr lang="es-MX" i="1" dirty="0"/>
              <a:t>Pruebas de integración (verificación de la interacción entre diferentes componentes).</a:t>
            </a:r>
          </a:p>
          <a:p>
            <a:pPr lvl="1" algn="just"/>
            <a:r>
              <a:rPr lang="es-MX" i="1" dirty="0"/>
              <a:t>Pruebas funcionales y de aceptación (comprobación de que el software cumple con los requisitos).</a:t>
            </a:r>
          </a:p>
          <a:p>
            <a:pPr marL="0" indent="0" algn="just">
              <a:buNone/>
            </a:pPr>
            <a:r>
              <a:rPr lang="es-MX" dirty="0"/>
              <a:t>Herramientas comunes:</a:t>
            </a:r>
          </a:p>
          <a:p>
            <a:pPr lvl="1" algn="just"/>
            <a:r>
              <a:rPr lang="es-MX" i="1" dirty="0" err="1"/>
              <a:t>JUnit</a:t>
            </a:r>
            <a:r>
              <a:rPr lang="es-MX" i="1" dirty="0"/>
              <a:t>, </a:t>
            </a:r>
            <a:r>
              <a:rPr lang="es-MX" i="1" dirty="0" err="1"/>
              <a:t>TestNG</a:t>
            </a:r>
            <a:r>
              <a:rPr lang="es-MX" i="1" dirty="0"/>
              <a:t> (para Java)</a:t>
            </a:r>
          </a:p>
          <a:p>
            <a:pPr lvl="1" algn="just"/>
            <a:r>
              <a:rPr lang="es-MX" i="1" dirty="0" err="1"/>
              <a:t>Selenium</a:t>
            </a:r>
            <a:r>
              <a:rPr lang="es-MX" i="1" dirty="0"/>
              <a:t>, </a:t>
            </a:r>
            <a:r>
              <a:rPr lang="es-MX" i="1" dirty="0" err="1"/>
              <a:t>Cypress</a:t>
            </a:r>
            <a:r>
              <a:rPr lang="es-MX" i="1" dirty="0"/>
              <a:t> (para pruebas de </a:t>
            </a:r>
            <a:r>
              <a:rPr lang="es-MX" i="1" dirty="0" err="1"/>
              <a:t>frontend</a:t>
            </a:r>
            <a:r>
              <a:rPr lang="es-MX" i="1" dirty="0"/>
              <a:t>)</a:t>
            </a:r>
          </a:p>
          <a:p>
            <a:pPr lvl="1" algn="just"/>
            <a:r>
              <a:rPr lang="es-MX" i="1" dirty="0" err="1"/>
              <a:t>Postman</a:t>
            </a:r>
            <a:r>
              <a:rPr lang="es-MX" i="1" dirty="0"/>
              <a:t> (para pruebas de API)</a:t>
            </a:r>
          </a:p>
          <a:p>
            <a:pPr lvl="1" algn="just"/>
            <a:r>
              <a:rPr lang="es-MX" i="1" dirty="0"/>
              <a:t>SonarQube (para análisis estático de código)</a:t>
            </a:r>
            <a:endParaRPr lang="es-CL" i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F744888-8242-7DE7-17EF-8B058933C0AD}"/>
              </a:ext>
            </a:extLst>
          </p:cNvPr>
          <p:cNvSpPr txBox="1">
            <a:spLocks/>
          </p:cNvSpPr>
          <p:nvPr/>
        </p:nvSpPr>
        <p:spPr>
          <a:xfrm>
            <a:off x="1981200" y="1417638"/>
            <a:ext cx="4402832" cy="493915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0000"/>
              </a:buClr>
            </a:pPr>
            <a:endParaRPr lang="es-CL" sz="1800" dirty="0"/>
          </a:p>
        </p:txBody>
      </p:sp>
      <p:grpSp>
        <p:nvGrpSpPr>
          <p:cNvPr id="5" name="Agrupar 2">
            <a:extLst>
              <a:ext uri="{FF2B5EF4-FFF2-40B4-BE49-F238E27FC236}">
                <a16:creationId xmlns:a16="http://schemas.microsoft.com/office/drawing/2014/main" id="{AE3E3A1D-47C9-6FD7-F49B-80BB491696CC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CEB4366B-E356-5ED1-2464-7442B02CC53C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EF6EB5FE-F3DB-81D3-E287-3D868B45149E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20E2075B-8C24-A97C-EA10-143ADB71BC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FEF92883-9497-ECF2-8C0B-BA165B955B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6999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A5E58-F21C-F6CF-FA72-766C5AAFD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748CB5-AB5D-EEC2-6963-B2EA142F7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MX" noProof="0" dirty="0" err="1"/>
              <a:t>Release</a:t>
            </a:r>
            <a:endParaRPr lang="es-MX" noProof="0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AD060FC-3B2E-2003-BF77-DD50899F82B0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" y="1600201"/>
            <a:ext cx="10352394" cy="4525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MX" b="1" dirty="0"/>
              <a:t>Objetivo</a:t>
            </a:r>
            <a:r>
              <a:rPr lang="es-MX" dirty="0"/>
              <a:t>: Preparar el software para su distribución.</a:t>
            </a:r>
          </a:p>
          <a:p>
            <a:pPr marL="0" indent="0" algn="just">
              <a:buNone/>
            </a:pPr>
            <a:r>
              <a:rPr lang="es-MX" dirty="0"/>
              <a:t>En esta fase, el software se prepara para ser liberado a los usuarios finales. Las actividades incluyen:</a:t>
            </a:r>
          </a:p>
          <a:p>
            <a:pPr lvl="1" algn="just"/>
            <a:r>
              <a:rPr lang="es-MX" i="1" dirty="0"/>
              <a:t>Versionado del código.</a:t>
            </a:r>
          </a:p>
          <a:p>
            <a:pPr lvl="1" algn="just"/>
            <a:r>
              <a:rPr lang="es-MX" i="1" dirty="0"/>
              <a:t>Etiquetado en el sistema de control de versiones.</a:t>
            </a:r>
          </a:p>
          <a:p>
            <a:pPr lvl="1" algn="just"/>
            <a:r>
              <a:rPr lang="es-MX" i="1" dirty="0"/>
              <a:t>Revisión final de artefactos antes de su despliegue.</a:t>
            </a:r>
          </a:p>
          <a:p>
            <a:pPr marL="0" indent="0" algn="just">
              <a:buNone/>
            </a:pPr>
            <a:r>
              <a:rPr lang="es-MX" dirty="0"/>
              <a:t>Herramientas comunes:</a:t>
            </a:r>
          </a:p>
          <a:p>
            <a:pPr lvl="1" algn="just"/>
            <a:r>
              <a:rPr lang="es-MX" i="1" dirty="0"/>
              <a:t>Git, GitHub</a:t>
            </a:r>
          </a:p>
          <a:p>
            <a:pPr lvl="1" algn="just"/>
            <a:r>
              <a:rPr lang="es-MX" i="1" dirty="0"/>
              <a:t>Jenkins, </a:t>
            </a:r>
            <a:r>
              <a:rPr lang="es-MX" i="1" dirty="0" err="1"/>
              <a:t>GitLab</a:t>
            </a:r>
            <a:r>
              <a:rPr lang="es-MX" i="1" dirty="0"/>
              <a:t> CI/CD</a:t>
            </a:r>
            <a:endParaRPr lang="es-CL" i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BB9DF9C-378C-E191-7479-53EBE37A722A}"/>
              </a:ext>
            </a:extLst>
          </p:cNvPr>
          <p:cNvSpPr txBox="1">
            <a:spLocks/>
          </p:cNvSpPr>
          <p:nvPr/>
        </p:nvSpPr>
        <p:spPr>
          <a:xfrm>
            <a:off x="1981200" y="1417638"/>
            <a:ext cx="4402832" cy="493915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0000"/>
              </a:buClr>
            </a:pPr>
            <a:endParaRPr lang="es-CL" sz="1800" dirty="0"/>
          </a:p>
        </p:txBody>
      </p:sp>
      <p:grpSp>
        <p:nvGrpSpPr>
          <p:cNvPr id="5" name="Agrupar 2">
            <a:extLst>
              <a:ext uri="{FF2B5EF4-FFF2-40B4-BE49-F238E27FC236}">
                <a16:creationId xmlns:a16="http://schemas.microsoft.com/office/drawing/2014/main" id="{94107EDD-9B38-7E2D-064E-F0272F4D5D34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D5D70AA3-83DA-A83C-99F2-F55A70C4CB6B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D36CFEC7-AFEF-D28F-3DF4-9251586A17E4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8CEF5566-AFEB-D6BA-D945-5BBDBF5DFC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AB6F8E9D-9E18-B94F-5F7F-224227F013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3741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F4799-AF7E-77A2-B433-39F30B9F5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3CC07D-33E4-7A2A-3001-01D7BC12F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MX" i="1" dirty="0" err="1"/>
              <a:t>Deploy</a:t>
            </a:r>
            <a:endParaRPr lang="es-MX" i="1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C2943D9-FAB8-861A-893C-B4774B1A989A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" y="1600201"/>
            <a:ext cx="10352394" cy="4525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MX" b="1" dirty="0"/>
              <a:t>Objetivo</a:t>
            </a:r>
            <a:r>
              <a:rPr lang="es-MX" dirty="0"/>
              <a:t>: Colocar el software en el entorno de producción.</a:t>
            </a:r>
          </a:p>
          <a:p>
            <a:pPr marL="0" indent="0" algn="just">
              <a:buNone/>
            </a:pPr>
            <a:r>
              <a:rPr lang="es-MX" dirty="0"/>
              <a:t>El despliegue implica mover el software a un entorno de producción, donde estará disponible para los usuarios finales. </a:t>
            </a:r>
          </a:p>
          <a:p>
            <a:pPr marL="0" indent="0" algn="just">
              <a:buNone/>
            </a:pPr>
            <a:r>
              <a:rPr lang="es-MX" dirty="0"/>
              <a:t>Este proceso puede ser:</a:t>
            </a:r>
          </a:p>
          <a:p>
            <a:pPr lvl="1" algn="just"/>
            <a:r>
              <a:rPr lang="es-MX" i="1" dirty="0"/>
              <a:t>Despliegue automático o manual.</a:t>
            </a:r>
          </a:p>
          <a:p>
            <a:pPr lvl="1" algn="just"/>
            <a:r>
              <a:rPr lang="es-MX" i="1" dirty="0"/>
              <a:t>Despliegue continuo en entornos de producción a medida que se hacen cambios.</a:t>
            </a:r>
          </a:p>
          <a:p>
            <a:pPr marL="0" indent="0" algn="just">
              <a:buNone/>
            </a:pPr>
            <a:r>
              <a:rPr lang="es-MX" dirty="0"/>
              <a:t>Herramientas comunes:</a:t>
            </a:r>
          </a:p>
          <a:p>
            <a:pPr lvl="1" algn="just"/>
            <a:r>
              <a:rPr lang="es-MX" i="1" dirty="0"/>
              <a:t>Jenkins, </a:t>
            </a:r>
            <a:r>
              <a:rPr lang="es-MX" i="1" dirty="0" err="1"/>
              <a:t>GitLab</a:t>
            </a:r>
            <a:r>
              <a:rPr lang="es-MX" i="1" dirty="0"/>
              <a:t> CI/CD</a:t>
            </a:r>
          </a:p>
          <a:p>
            <a:pPr lvl="1" algn="just"/>
            <a:r>
              <a:rPr lang="es-MX" i="1" dirty="0" err="1"/>
              <a:t>Kubernetes</a:t>
            </a:r>
            <a:r>
              <a:rPr lang="es-MX" i="1" dirty="0"/>
              <a:t>, Docker (para gestionar contenedores y clústeres)</a:t>
            </a:r>
            <a:endParaRPr lang="es-CL" i="1" dirty="0"/>
          </a:p>
        </p:txBody>
      </p:sp>
      <p:grpSp>
        <p:nvGrpSpPr>
          <p:cNvPr id="5" name="Agrupar 2">
            <a:extLst>
              <a:ext uri="{FF2B5EF4-FFF2-40B4-BE49-F238E27FC236}">
                <a16:creationId xmlns:a16="http://schemas.microsoft.com/office/drawing/2014/main" id="{39C9D0F9-8C7C-1FED-CB2B-EC799F7CD41C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5F1BC664-C102-771F-60AB-6663E1CCF23F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D1DD202E-74DE-D35C-072F-5A30D99B6C40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7D245BE4-E1F9-9299-D8C5-81D0F744B6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3341DE14-1A5E-0157-F0A4-52DAD76AB3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2028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98DD4-3EFA-B2BF-56ED-FAF28FA2F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9B6239-74BC-130F-7220-4305DF503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MX" noProof="0" dirty="0" err="1"/>
              <a:t>Operate</a:t>
            </a:r>
            <a:endParaRPr lang="es-MX" noProof="0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668EACB-877D-627C-4758-9E186649826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599" y="1600202"/>
            <a:ext cx="10216763" cy="4869872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s-MX" b="1" dirty="0"/>
              <a:t>Objetivo</a:t>
            </a:r>
            <a:r>
              <a:rPr lang="es-MX" dirty="0"/>
              <a:t>: Gestionar el software en producción.</a:t>
            </a:r>
          </a:p>
          <a:p>
            <a:pPr algn="just">
              <a:buNone/>
            </a:pPr>
            <a:r>
              <a:rPr lang="es-MX" dirty="0"/>
              <a:t>En esta fase, el software ya está en producción y es operado y mantenido. </a:t>
            </a:r>
          </a:p>
          <a:p>
            <a:pPr algn="just">
              <a:buNone/>
            </a:pPr>
            <a:r>
              <a:rPr lang="es-MX" dirty="0"/>
              <a:t>Las actividades principales incluyen:</a:t>
            </a:r>
          </a:p>
          <a:p>
            <a:pPr lvl="1" algn="just"/>
            <a:r>
              <a:rPr lang="es-MX" i="1" dirty="0"/>
              <a:t>Monitoreo de la infraestructura y el rendimiento del software.</a:t>
            </a:r>
          </a:p>
          <a:p>
            <a:pPr lvl="1" algn="just"/>
            <a:r>
              <a:rPr lang="es-MX" i="1" dirty="0"/>
              <a:t>Resolución de incidentes o problemas que surjan.</a:t>
            </a:r>
          </a:p>
          <a:p>
            <a:pPr lvl="1" algn="just"/>
            <a:r>
              <a:rPr lang="es-MX" i="1" dirty="0"/>
              <a:t>Aplicación de parches y actualizaciones cuando sea necesario.</a:t>
            </a:r>
          </a:p>
          <a:p>
            <a:pPr algn="just">
              <a:buNone/>
            </a:pPr>
            <a:r>
              <a:rPr lang="es-MX" dirty="0"/>
              <a:t>Herramientas comunes:</a:t>
            </a:r>
          </a:p>
          <a:p>
            <a:pPr lvl="1" algn="just"/>
            <a:r>
              <a:rPr lang="es-MX" i="1" dirty="0" err="1"/>
              <a:t>Kubernetes</a:t>
            </a:r>
            <a:r>
              <a:rPr lang="es-MX" i="1" dirty="0"/>
              <a:t> (para orquestación de contenedores)</a:t>
            </a:r>
          </a:p>
          <a:p>
            <a:pPr lvl="1" algn="just"/>
            <a:r>
              <a:rPr lang="es-MX" i="1" dirty="0"/>
              <a:t>AWS, Azure, Google Cloud (plataformas en la nube)</a:t>
            </a:r>
          </a:p>
          <a:p>
            <a:pPr lvl="1" algn="just"/>
            <a:r>
              <a:rPr lang="es-MX" i="1" dirty="0"/>
              <a:t>Nagios, </a:t>
            </a:r>
            <a:r>
              <a:rPr lang="es-MX" i="1" dirty="0" err="1"/>
              <a:t>Zabbix</a:t>
            </a:r>
            <a:r>
              <a:rPr lang="es-MX" i="1" dirty="0"/>
              <a:t>, </a:t>
            </a:r>
            <a:r>
              <a:rPr lang="es-MX" i="1" dirty="0" err="1"/>
              <a:t>Prometheus</a:t>
            </a:r>
            <a:r>
              <a:rPr lang="es-MX" i="1" dirty="0"/>
              <a:t> (para monitoreo)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C560F3B-B9EB-833A-3238-AD790C0F7644}"/>
              </a:ext>
            </a:extLst>
          </p:cNvPr>
          <p:cNvSpPr txBox="1">
            <a:spLocks/>
          </p:cNvSpPr>
          <p:nvPr/>
        </p:nvSpPr>
        <p:spPr>
          <a:xfrm>
            <a:off x="1981200" y="1417638"/>
            <a:ext cx="4402832" cy="493915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0000"/>
              </a:buClr>
            </a:pPr>
            <a:endParaRPr lang="es-CL" sz="1800" dirty="0"/>
          </a:p>
        </p:txBody>
      </p:sp>
      <p:grpSp>
        <p:nvGrpSpPr>
          <p:cNvPr id="5" name="Agrupar 2">
            <a:extLst>
              <a:ext uri="{FF2B5EF4-FFF2-40B4-BE49-F238E27FC236}">
                <a16:creationId xmlns:a16="http://schemas.microsoft.com/office/drawing/2014/main" id="{0B525BEB-199A-F452-1F54-79366834F5A0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C07A63CC-2E15-8E6B-8EB4-BD1495D331AC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BE5724FD-AE7A-3904-7F0E-0B3503227183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1D462C96-4DBC-DECC-4E3E-1D00498A1D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8C91B403-3B50-6FA6-0195-2009A7BBF4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0686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1F84D-5B59-AE4C-51D8-9A8B3602F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458E35-1262-2A98-DFA7-9759531C7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MX" noProof="0" dirty="0"/>
              <a:t>Monitor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C71DF56-2EF4-D01C-6F8E-49E7AABD435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" y="1600201"/>
            <a:ext cx="10352394" cy="4525963"/>
          </a:xfrm>
        </p:spPr>
        <p:txBody>
          <a:bodyPr>
            <a:normAutofit fontScale="92500" lnSpcReduction="10000"/>
          </a:bodyPr>
          <a:lstStyle/>
          <a:p>
            <a:pPr algn="just">
              <a:buNone/>
            </a:pPr>
            <a:r>
              <a:rPr lang="es-MX" b="1" dirty="0"/>
              <a:t>Objetivo</a:t>
            </a:r>
            <a:r>
              <a:rPr lang="es-MX" dirty="0"/>
              <a:t>: Supervisar el rendimiento y la estabilidad del software.</a:t>
            </a:r>
          </a:p>
          <a:p>
            <a:pPr algn="just">
              <a:buNone/>
            </a:pPr>
            <a:r>
              <a:rPr lang="es-MX" dirty="0"/>
              <a:t>Después del despliegue, el monitoreo continuo es esencial para garantizar el rendimiento y detectar posibles fallos. </a:t>
            </a:r>
          </a:p>
          <a:p>
            <a:pPr algn="just">
              <a:buNone/>
            </a:pPr>
            <a:r>
              <a:rPr lang="es-MX" dirty="0"/>
              <a:t>Las actividades en esta fase incluyen:</a:t>
            </a:r>
          </a:p>
          <a:p>
            <a:pPr lvl="1" algn="just"/>
            <a:r>
              <a:rPr lang="es-MX" i="1" dirty="0"/>
              <a:t>Monitoreo de logs y métricas en tiempo real.</a:t>
            </a:r>
          </a:p>
          <a:p>
            <a:pPr lvl="1" algn="just"/>
            <a:r>
              <a:rPr lang="es-MX" i="1" dirty="0"/>
              <a:t>Análisis de rendimiento de la aplicación.</a:t>
            </a:r>
          </a:p>
          <a:p>
            <a:pPr lvl="1" algn="just"/>
            <a:r>
              <a:rPr lang="es-MX" i="1" dirty="0"/>
              <a:t>Alertas proactivas cuando algo sale mal (errores, sobrecarga del sistema, etc.).</a:t>
            </a:r>
          </a:p>
          <a:p>
            <a:pPr algn="just">
              <a:buNone/>
            </a:pPr>
            <a:r>
              <a:rPr lang="es-MX" dirty="0"/>
              <a:t>Herramientas comunes:</a:t>
            </a:r>
          </a:p>
          <a:p>
            <a:pPr lvl="1" algn="just"/>
            <a:r>
              <a:rPr lang="es-MX" i="1" dirty="0" err="1"/>
              <a:t>Prometheus</a:t>
            </a:r>
            <a:r>
              <a:rPr lang="es-MX" i="1" dirty="0"/>
              <a:t>, </a:t>
            </a:r>
            <a:r>
              <a:rPr lang="es-MX" i="1" dirty="0" err="1"/>
              <a:t>Grafana</a:t>
            </a:r>
            <a:r>
              <a:rPr lang="es-MX" i="1" dirty="0"/>
              <a:t> (para monitoreo y visualización)</a:t>
            </a:r>
          </a:p>
          <a:p>
            <a:pPr lvl="1" algn="just"/>
            <a:r>
              <a:rPr lang="es-MX" i="1" dirty="0"/>
              <a:t>ELK </a:t>
            </a:r>
            <a:r>
              <a:rPr lang="es-MX" i="1" dirty="0" err="1"/>
              <a:t>Stack</a:t>
            </a:r>
            <a:r>
              <a:rPr lang="es-MX" i="1" dirty="0"/>
              <a:t> (</a:t>
            </a:r>
            <a:r>
              <a:rPr lang="es-MX" i="1" dirty="0" err="1"/>
              <a:t>Elasticsearch</a:t>
            </a:r>
            <a:r>
              <a:rPr lang="es-MX" i="1" dirty="0"/>
              <a:t>, </a:t>
            </a:r>
            <a:r>
              <a:rPr lang="es-MX" i="1" dirty="0" err="1"/>
              <a:t>Logstash</a:t>
            </a:r>
            <a:r>
              <a:rPr lang="es-MX" i="1" dirty="0"/>
              <a:t>, </a:t>
            </a:r>
            <a:r>
              <a:rPr lang="es-MX" i="1" dirty="0" err="1"/>
              <a:t>Kibana</a:t>
            </a:r>
            <a:r>
              <a:rPr lang="es-MX" i="1" dirty="0"/>
              <a:t>) (de pago)</a:t>
            </a:r>
          </a:p>
          <a:p>
            <a:pPr lvl="1" algn="just"/>
            <a:r>
              <a:rPr lang="es-MX" i="1" dirty="0"/>
              <a:t>New </a:t>
            </a:r>
            <a:r>
              <a:rPr lang="es-MX" i="1" dirty="0" err="1"/>
              <a:t>Relic</a:t>
            </a:r>
            <a:r>
              <a:rPr lang="es-MX" i="1" dirty="0"/>
              <a:t>.</a:t>
            </a:r>
          </a:p>
          <a:p>
            <a:pPr lvl="1" algn="just"/>
            <a:r>
              <a:rPr lang="es-CL" i="1" dirty="0"/>
              <a:t>Amazon </a:t>
            </a:r>
            <a:r>
              <a:rPr lang="es-CL" i="1" dirty="0" err="1"/>
              <a:t>CloudWatch</a:t>
            </a:r>
            <a:r>
              <a:rPr lang="es-CL" i="1" dirty="0"/>
              <a:t>.</a:t>
            </a:r>
            <a:endParaRPr lang="es-MX" i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FE2C8B9-D141-21D0-D2A8-1E14A302078B}"/>
              </a:ext>
            </a:extLst>
          </p:cNvPr>
          <p:cNvSpPr txBox="1">
            <a:spLocks/>
          </p:cNvSpPr>
          <p:nvPr/>
        </p:nvSpPr>
        <p:spPr>
          <a:xfrm>
            <a:off x="1981200" y="1417638"/>
            <a:ext cx="4402832" cy="493915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0000"/>
              </a:buClr>
            </a:pPr>
            <a:endParaRPr lang="es-CL" sz="1800" dirty="0"/>
          </a:p>
        </p:txBody>
      </p:sp>
      <p:grpSp>
        <p:nvGrpSpPr>
          <p:cNvPr id="5" name="Agrupar 2">
            <a:extLst>
              <a:ext uri="{FF2B5EF4-FFF2-40B4-BE49-F238E27FC236}">
                <a16:creationId xmlns:a16="http://schemas.microsoft.com/office/drawing/2014/main" id="{08540504-A222-465D-4F5F-2A1594844279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6287B6F7-FE0C-6DC6-92A1-B24D5C560908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1932CFB1-8E05-7B2C-EC0A-FAB9BBF95FBA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70535D83-341E-7096-B29E-5E8137C7CC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44D2BE6D-7B65-7824-0B30-FB03CC42C7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24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8">
            <a:extLst>
              <a:ext uri="{FF2B5EF4-FFF2-40B4-BE49-F238E27FC236}">
                <a16:creationId xmlns:a16="http://schemas.microsoft.com/office/drawing/2014/main" id="{8ADFA9A2-1A70-4586-A9E0-3C117E6A0C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3402" y="5887325"/>
            <a:ext cx="6858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rial" charset="0"/>
              </a:rPr>
              <a:t>ARICA - CHILE</a:t>
            </a:r>
            <a:endParaRPr lang="en-US" sz="2400" dirty="0">
              <a:solidFill>
                <a:schemeClr val="bg1"/>
              </a:solidFill>
              <a:latin typeface="Eurostile BoldExtendedTwo" charset="0"/>
            </a:endParaRPr>
          </a:p>
        </p:txBody>
      </p:sp>
      <p:pic>
        <p:nvPicPr>
          <p:cNvPr id="12" name="Imagen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18"/>
            <a:ext cx="12192000" cy="6430945"/>
          </a:xfrm>
          <a:prstGeom prst="rect">
            <a:avLst/>
          </a:prstGeom>
          <a:ln>
            <a:noFill/>
          </a:ln>
        </p:spPr>
      </p:pic>
      <p:sp>
        <p:nvSpPr>
          <p:cNvPr id="13" name="Rectangle 18">
            <a:extLst>
              <a:ext uri="{FF2B5EF4-FFF2-40B4-BE49-F238E27FC236}">
                <a16:creationId xmlns:a16="http://schemas.microsoft.com/office/drawing/2014/main" id="{996DAE91-E53D-4FFB-8098-8AFE46881F1D}"/>
              </a:ext>
            </a:extLst>
          </p:cNvPr>
          <p:cNvSpPr/>
          <p:nvPr/>
        </p:nvSpPr>
        <p:spPr>
          <a:xfrm flipV="1">
            <a:off x="1" y="13618"/>
            <a:ext cx="5972452" cy="6417325"/>
          </a:xfrm>
          <a:prstGeom prst="rect">
            <a:avLst/>
          </a:prstGeom>
          <a:gradFill>
            <a:gsLst>
              <a:gs pos="100000">
                <a:schemeClr val="accent1">
                  <a:lumMod val="5000"/>
                  <a:lumOff val="95000"/>
                  <a:alpha val="0"/>
                </a:schemeClr>
              </a:gs>
              <a:gs pos="32000">
                <a:srgbClr val="0070C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8" name="Rectangle 18">
            <a:extLst>
              <a:ext uri="{FF2B5EF4-FFF2-40B4-BE49-F238E27FC236}">
                <a16:creationId xmlns:a16="http://schemas.microsoft.com/office/drawing/2014/main" id="{996DAE91-E53D-4FFB-8098-8AFE46881F1D}"/>
              </a:ext>
            </a:extLst>
          </p:cNvPr>
          <p:cNvSpPr/>
          <p:nvPr/>
        </p:nvSpPr>
        <p:spPr>
          <a:xfrm flipV="1">
            <a:off x="1" y="5688710"/>
            <a:ext cx="12192000" cy="116990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17" name="Imagen 1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402" y="2951018"/>
            <a:ext cx="4282247" cy="1496484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5">
            <a:alphaModFix amt="3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19690"/>
            <a:ext cx="5966423" cy="1621108"/>
          </a:xfrm>
          <a:prstGeom prst="rect">
            <a:avLst/>
          </a:prstGeom>
        </p:spPr>
      </p:pic>
      <p:pic>
        <p:nvPicPr>
          <p:cNvPr id="5" name="Imagen 4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56F54D0E-9772-4A28-255B-A44403E3D99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184" y="4230126"/>
            <a:ext cx="4060054" cy="1439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56294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3625</TotalTime>
  <Words>1039</Words>
  <Application>Microsoft Office PowerPoint</Application>
  <PresentationFormat>Panorámica</PresentationFormat>
  <Paragraphs>141</Paragraphs>
  <Slides>18</Slides>
  <Notes>18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Eurostile BoldExtendedTwo</vt:lpstr>
      <vt:lpstr>Tema de Office</vt:lpstr>
      <vt:lpstr>Presentación de PowerPoint</vt:lpstr>
      <vt:lpstr>Presentación de PowerPoint</vt:lpstr>
      <vt:lpstr>DevOps</vt:lpstr>
      <vt:lpstr>Desarrollo continuo</vt:lpstr>
      <vt:lpstr>Prueba continua</vt:lpstr>
      <vt:lpstr>Integración continua (CI)</vt:lpstr>
      <vt:lpstr>Entrega continua (CD)</vt:lpstr>
      <vt:lpstr>Monitoreo continuo</vt:lpstr>
      <vt:lpstr>DevOps</vt:lpstr>
      <vt:lpstr>Plan</vt:lpstr>
      <vt:lpstr>Code</vt:lpstr>
      <vt:lpstr>Build</vt:lpstr>
      <vt:lpstr>Test</vt:lpstr>
      <vt:lpstr>Release</vt:lpstr>
      <vt:lpstr>Deploy</vt:lpstr>
      <vt:lpstr>Operate</vt:lpstr>
      <vt:lpstr>Monitor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Alejandro Rodriguez</dc:creator>
  <cp:lastModifiedBy>Diego Supanta</cp:lastModifiedBy>
  <cp:revision>221</cp:revision>
  <dcterms:created xsi:type="dcterms:W3CDTF">2019-05-21T16:47:52Z</dcterms:created>
  <dcterms:modified xsi:type="dcterms:W3CDTF">2025-03-31T01:55:23Z</dcterms:modified>
</cp:coreProperties>
</file>