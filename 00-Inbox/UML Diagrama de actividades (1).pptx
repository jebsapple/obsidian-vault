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284AF9C-72AE-4A12-91F9-D2A7D2A6CD6E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A97525-CB1A-4BDC-9695-AF50D067DD26}" type="slidenum">
              <a: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7F3AC-90A7-4A43-9566-0975407ECAAA}" type="slidenum">
              <a: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76AA66-D5E4-4A8D-BD2A-55425EA01AC1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A6D144-96C0-481A-9F86-36BAE162AD32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D177AD-9D27-477D-9701-3D28CB654BDA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5FE034-75F7-4D57-8E33-F3D8BB46409F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CBD3B2-130C-4DBD-A1D6-347022898073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s-ES_trad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3D2C59-1B1D-44B0-9BEC-919B357E08D7}" type="slidenum">
              <a: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26EF4B-686A-457C-B35E-98E076EFC2EC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27996-707F-47D8-B2C4-45CF60A5D001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8851E7-B7F4-404A-91A2-9B5A1B2B3FB3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711828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_trad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 para editar título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s-E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406DAF-AFEA-45A3-AE0D-12CFF609E9F3}" type="slidenum">
              <a:rPr lang="es-E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6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ES_tradn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el estilo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</a:pPr>
            <a:r>
              <a:rPr lang="es-ES_tradn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</a:pPr>
            <a:r>
              <a:rPr lang="es-ES_tradn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</a:pPr>
            <a:r>
              <a:rPr lang="es-ES_tradn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</a:pPr>
            <a:r>
              <a:rPr lang="es-ES_tradn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DB254F-5662-4387-A413-280F421542C8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8DF7F3-8AB6-4D9F-83B8-D69F63BE7994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BF4EC4-1940-42AC-8301-05466519B10C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D95295-C165-4818-B3CD-19FF3D48F5E3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74CD3D-60DB-4EE1-9F2F-CD75FED8A5B5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94BBF4-1C4B-48A1-BAE5-077615C0BC55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2AE232-9A4F-4C15-A2FC-8648C32E635F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76CD5D-B618-4E72-BC54-751FBAD9AF20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n 12"/>
          <p:cNvPicPr/>
          <p:nvPr/>
        </p:nvPicPr>
        <p:blipFill>
          <a:blip r:embed="rId1"/>
          <a:stretch/>
        </p:blipFill>
        <p:spPr>
          <a:xfrm>
            <a:off x="1316160" y="2826360"/>
            <a:ext cx="10875600" cy="222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Rectangle 18"/>
          <p:cNvSpPr/>
          <p:nvPr/>
        </p:nvSpPr>
        <p:spPr>
          <a:xfrm flipV="1">
            <a:off x="0" y="-17640"/>
            <a:ext cx="12191760" cy="3547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s-CL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Imagen 11"/>
          <p:cNvPicPr/>
          <p:nvPr/>
        </p:nvPicPr>
        <p:blipFill>
          <a:blip r:embed="rId2"/>
          <a:stretch/>
        </p:blipFill>
        <p:spPr>
          <a:xfrm>
            <a:off x="558000" y="5803200"/>
            <a:ext cx="2745000" cy="94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Imagen 4"/>
          <p:cNvPicPr/>
          <p:nvPr/>
        </p:nvPicPr>
        <p:blipFill>
          <a:blip r:embed="rId3">
            <a:alphaModFix amt="6000"/>
          </a:blip>
          <a:stretch/>
        </p:blipFill>
        <p:spPr>
          <a:xfrm>
            <a:off x="0" y="373320"/>
            <a:ext cx="12191760" cy="331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Imagen 8"/>
          <p:cNvPicPr/>
          <p:nvPr/>
        </p:nvPicPr>
        <p:blipFill>
          <a:blip r:embed="rId4"/>
          <a:stretch/>
        </p:blipFill>
        <p:spPr>
          <a:xfrm>
            <a:off x="0" y="3530520"/>
            <a:ext cx="3393720" cy="332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Imagen 10"/>
          <p:cNvPicPr/>
          <p:nvPr/>
        </p:nvPicPr>
        <p:blipFill>
          <a:blip r:embed="rId5"/>
          <a:stretch/>
        </p:blipFill>
        <p:spPr>
          <a:xfrm>
            <a:off x="928080" y="1073160"/>
            <a:ext cx="2671560" cy="93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Imagen 7"/>
          <p:cNvPicPr/>
          <p:nvPr/>
        </p:nvPicPr>
        <p:blipFill>
          <a:blip r:embed="rId6"/>
          <a:stretch/>
        </p:blipFill>
        <p:spPr>
          <a:xfrm>
            <a:off x="6095880" y="1050480"/>
            <a:ext cx="5303160" cy="28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n 2" descr="Imagen que contiene alimentos&#10;&#10;Descripción generada automáticamente"/>
          <p:cNvPicPr/>
          <p:nvPr/>
        </p:nvPicPr>
        <p:blipFill>
          <a:blip r:embed="rId7"/>
          <a:stretch/>
        </p:blipFill>
        <p:spPr>
          <a:xfrm>
            <a:off x="8798040" y="5356800"/>
            <a:ext cx="2971440" cy="10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CuadroTexto 3"/>
          <p:cNvSpPr/>
          <p:nvPr/>
        </p:nvSpPr>
        <p:spPr>
          <a:xfrm>
            <a:off x="8616240" y="6468480"/>
            <a:ext cx="3498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CL" sz="1800" b="0" u="none" strike="noStrike">
                <a:solidFill>
                  <a:srgbClr val="004c8b"/>
                </a:solidFill>
                <a:effectLst/>
                <a:uFillTx/>
                <a:latin typeface="Calibri"/>
              </a:rPr>
              <a:t>INGENIERÍA CIVIL EN INFORMÁTICA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8"/>
          <p:cNvSpPr/>
          <p:nvPr/>
        </p:nvSpPr>
        <p:spPr>
          <a:xfrm>
            <a:off x="3303360" y="5887440"/>
            <a:ext cx="6857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ARICA - CHILE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n 3"/>
          <p:cNvPicPr/>
          <p:nvPr/>
        </p:nvPicPr>
        <p:blipFill>
          <a:blip r:embed="rId1"/>
          <a:stretch/>
        </p:blipFill>
        <p:spPr>
          <a:xfrm>
            <a:off x="0" y="-32040"/>
            <a:ext cx="12191760" cy="688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Imagen 16"/>
          <p:cNvPicPr/>
          <p:nvPr/>
        </p:nvPicPr>
        <p:blipFill>
          <a:blip r:embed="rId2"/>
          <a:stretch/>
        </p:blipFill>
        <p:spPr>
          <a:xfrm>
            <a:off x="8603640" y="1073160"/>
            <a:ext cx="2671560" cy="93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Diagrama de actividades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85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86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7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88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35216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diagrama de actividades es un tipo de diagrama de UML que representa el flujo de actividades o pasos que se siguen para completar un proceso.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Este tipo de diagrama se usa en análisis y diseño de sistemas para modelar procesos: por ejemplo, cómo fluye un caso de uso dentro de una app, o cómo interactúan varios usuarios (clientes, empleados, sistema).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Elementos del diagrama de actividades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92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93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4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95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Actividades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Flujos de control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Nodo inicial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Nodo final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Imagen 3"/>
          <p:cNvPicPr/>
          <p:nvPr/>
        </p:nvPicPr>
        <p:blipFill>
          <a:blip r:embed="rId3"/>
          <a:stretch/>
        </p:blipFill>
        <p:spPr>
          <a:xfrm>
            <a:off x="4402080" y="1599480"/>
            <a:ext cx="713880" cy="43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Imagen 11"/>
          <p:cNvPicPr/>
          <p:nvPr/>
        </p:nvPicPr>
        <p:blipFill>
          <a:blip r:embed="rId4"/>
          <a:stretch/>
        </p:blipFill>
        <p:spPr>
          <a:xfrm>
            <a:off x="6510600" y="1586160"/>
            <a:ext cx="2790360" cy="47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Imagen 13"/>
          <p:cNvPicPr/>
          <p:nvPr/>
        </p:nvPicPr>
        <p:blipFill>
          <a:blip r:embed="rId5"/>
          <a:stretch/>
        </p:blipFill>
        <p:spPr>
          <a:xfrm>
            <a:off x="4402080" y="3591720"/>
            <a:ext cx="184752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Imagen 15"/>
          <p:cNvPicPr/>
          <p:nvPr/>
        </p:nvPicPr>
        <p:blipFill>
          <a:blip r:embed="rId6"/>
          <a:stretch/>
        </p:blipFill>
        <p:spPr>
          <a:xfrm>
            <a:off x="4402080" y="4753080"/>
            <a:ext cx="219996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Imagen 19"/>
          <p:cNvPicPr/>
          <p:nvPr/>
        </p:nvPicPr>
        <p:blipFill>
          <a:blip r:embed="rId7"/>
          <a:stretch/>
        </p:blipFill>
        <p:spPr>
          <a:xfrm>
            <a:off x="4234320" y="2325600"/>
            <a:ext cx="3723120" cy="117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Ejemplo diagrama de actividades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04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05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6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07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Marcador de contenido 2"/>
          <p:cNvPicPr/>
          <p:nvPr/>
        </p:nvPicPr>
        <p:blipFill>
          <a:blip r:embed="rId3"/>
          <a:stretch/>
        </p:blipFill>
        <p:spPr>
          <a:xfrm>
            <a:off x="609480" y="1883520"/>
            <a:ext cx="10972440" cy="366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Diagrama de actividades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11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12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3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14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1- Registro de usuario en una aplicación web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 usuario quiere crear una cuenta. Debe ingresar sus datos, validarlos, aceptar los términos y confirmar el registro a través de un correo electrónico.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2- Proceso de compra en una tienda online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cliente navega por productos, selecciona uno, lo agrega al carrito, ingresa datos de pago, confirma la compra y recibe un correo de confirmación.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3- Ingreso de un alumno a clases virtuales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estudiante entra al sistema, inicia sesión, verifica la disponibilidad de la clase, accede al aula virtual o espera si aún no está habilitada.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4- Solicitud de vacaciones en una empresa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empleado solicita días de vacaciones. El jefe revisa la solicitud y la aprueba o la rechaza. Si se aprueba, Recursos Humanos actualiza el calendario laboral.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5- Proceso de devolución de producto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cliente inicia una devolución, explica el motivo, el sistema verifica si está dentro del plazo. Si se aprueba, se emite una guía de envío.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6- Publicación de un artículo en un blog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autor redacta un artículo, lo guarda como borrador, lo revisa un editor, y si está aprobado, se publica. Si no, vuelve a revisión.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Diagrama de clases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18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19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21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2787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7- Proceso de inscripción a materias en una universidad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alumno inicia sesión en el sistema, consulta las materias disponibles, selecciona las materias, verifica si hay cupo y confirma la inscripción.</a:t>
            </a:r>
            <a:endParaRPr lang="es-C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8- Envío de un correo electrónico con archivo adjunto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usuario redacta un mensaje, adjunta un archivo, el sistema valida el tamaño y el formato, y si todo está correcto, lo envía. Si hay error, muestra advertencia.</a:t>
            </a:r>
            <a:endParaRPr lang="es-C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9- Pago de una factura de servicios (luz, agua, etc.)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usuario ingresa al portal de pagos, selecciona el servicio, revisa la factura, elige método de pago, paga y recibe comprobante.</a:t>
            </a:r>
            <a:endParaRPr lang="es-C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10- Evaluación de un examen online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estudiante ingresa al sistema, realiza el examen dentro del tiempo, el sistema evalúa automáticamente las respuestas y muestra el resultado final.</a:t>
            </a:r>
            <a:endParaRPr lang="es-C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11- Reserva de turno en un centro médico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paciente inicia sesión, selecciona especialidad, elige médico y horario disponible, confirma el turno y recibe notificación por correo.</a:t>
            </a:r>
            <a:endParaRPr lang="es-C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Box 8"/>
          <p:cNvSpPr/>
          <p:nvPr/>
        </p:nvSpPr>
        <p:spPr>
          <a:xfrm>
            <a:off x="3303360" y="5887440"/>
            <a:ext cx="6857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ARICA - CHILE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n 11"/>
          <p:cNvPicPr/>
          <p:nvPr/>
        </p:nvPicPr>
        <p:blipFill>
          <a:blip r:embed="rId1"/>
          <a:stretch/>
        </p:blipFill>
        <p:spPr>
          <a:xfrm>
            <a:off x="0" y="1080"/>
            <a:ext cx="12191760" cy="643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Rectangle 18"/>
          <p:cNvSpPr/>
          <p:nvPr/>
        </p:nvSpPr>
        <p:spPr>
          <a:xfrm flipV="1">
            <a:off x="0" y="12600"/>
            <a:ext cx="5972040" cy="6417000"/>
          </a:xfrm>
          <a:prstGeom prst="rect">
            <a:avLst/>
          </a:prstGeom>
          <a:gradFill rotWithShape="0">
            <a:gsLst>
              <a:gs pos="32000">
                <a:srgbClr val="0070c0"/>
              </a:gs>
              <a:gs pos="100000">
                <a:srgbClr val="f6f8fc">
                  <a:alpha val="0"/>
                </a:srgb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s-CL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18"/>
          <p:cNvSpPr/>
          <p:nvPr/>
        </p:nvSpPr>
        <p:spPr>
          <a:xfrm flipV="1">
            <a:off x="0" y="5687640"/>
            <a:ext cx="12191760" cy="1169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s-CL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8" name="Imagen 16"/>
          <p:cNvPicPr/>
          <p:nvPr/>
        </p:nvPicPr>
        <p:blipFill>
          <a:blip r:embed="rId2"/>
          <a:stretch/>
        </p:blipFill>
        <p:spPr>
          <a:xfrm>
            <a:off x="6732360" y="2950920"/>
            <a:ext cx="4281840" cy="149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Imagen 2"/>
          <p:cNvPicPr/>
          <p:nvPr/>
        </p:nvPicPr>
        <p:blipFill>
          <a:blip r:embed="rId3">
            <a:alphaModFix amt="31000"/>
          </a:blip>
          <a:stretch/>
        </p:blipFill>
        <p:spPr>
          <a:xfrm>
            <a:off x="0" y="2419560"/>
            <a:ext cx="5965920" cy="162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Imagen 4" descr="Interfaz de usuario gráfica, Aplicación&#10;&#10;Descripción generada automáticamente"/>
          <p:cNvPicPr/>
          <p:nvPr/>
        </p:nvPicPr>
        <p:blipFill>
          <a:blip r:embed="rId4"/>
          <a:stretch/>
        </p:blipFill>
        <p:spPr>
          <a:xfrm>
            <a:off x="953280" y="4230000"/>
            <a:ext cx="4059720" cy="143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3469</TotalTime>
  <Application>LibreOffice/25.8.6.2$Linux_X86_64 LibreOffice_project/a46b460d1686bb49c718d2ef5f88b83ff2dc4981</Application>
  <AppVersion>15.0000</AppVersion>
  <Words>552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2019-05-21T16:47:52Z</dcterms:created>
  <dc:creator>Alejandro Rodriguez</dc:creator>
  <dc:description/>
  <dc:language>es-ES</dc:language>
  <cp:lastModifiedBy/>
  <dcterms:modified xsi:type="dcterms:W3CDTF">2026-04-20T14:49:02Z</dcterms:modified>
  <cp:revision>225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Panorámica</vt:lpwstr>
  </property>
  <property fmtid="{D5CDD505-2E9C-101B-9397-08002B2CF9AE}" pid="4" name="Slides">
    <vt:i4>8</vt:i4>
  </property>
</Properties>
</file>