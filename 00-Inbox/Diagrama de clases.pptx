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40" r:id="rId2"/>
    <p:sldId id="335" r:id="rId3"/>
    <p:sldId id="375" r:id="rId4"/>
    <p:sldId id="376" r:id="rId5"/>
    <p:sldId id="382" r:id="rId6"/>
    <p:sldId id="392" r:id="rId7"/>
    <p:sldId id="391" r:id="rId8"/>
    <p:sldId id="377" r:id="rId9"/>
    <p:sldId id="378" r:id="rId10"/>
    <p:sldId id="390" r:id="rId11"/>
    <p:sldId id="379" r:id="rId12"/>
    <p:sldId id="389" r:id="rId13"/>
    <p:sldId id="380" r:id="rId14"/>
    <p:sldId id="388" r:id="rId15"/>
    <p:sldId id="381" r:id="rId16"/>
    <p:sldId id="387" r:id="rId17"/>
    <p:sldId id="383" r:id="rId18"/>
    <p:sldId id="394" r:id="rId19"/>
    <p:sldId id="393" r:id="rId20"/>
    <p:sldId id="373" r:id="rId21"/>
    <p:sldId id="384" r:id="rId22"/>
    <p:sldId id="385" r:id="rId23"/>
    <p:sldId id="320" r:id="rId2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rge Díaz Ramirez" initials="JDR" lastIdx="1" clrIdx="0">
    <p:extLst>
      <p:ext uri="{19B8F6BF-5375-455C-9EA6-DF929625EA0E}">
        <p15:presenceInfo xmlns:p15="http://schemas.microsoft.com/office/powerpoint/2012/main" userId="S::jdiazr@utaicin.onmicrosoft.com::24a050a3-dd5e-4216-aec0-1116f1ad97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B"/>
    <a:srgbClr val="E59356"/>
    <a:srgbClr val="313967"/>
    <a:srgbClr val="21B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91" autoAdjust="0"/>
    <p:restoredTop sz="95154" autoAdjust="0"/>
  </p:normalViewPr>
  <p:slideViewPr>
    <p:cSldViewPr snapToGrid="0">
      <p:cViewPr varScale="1">
        <p:scale>
          <a:sx n="89" d="100"/>
          <a:sy n="89" d="100"/>
        </p:scale>
        <p:origin x="1043" y="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EBD1-2A31-CD48-AEF6-F7D6115C2ADE}" type="datetimeFigureOut">
              <a:rPr lang="es-ES_tradnl" smtClean="0"/>
              <a:t>21/04/2026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C247B-BF22-8347-871C-504C859AB74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79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653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7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A2C1-9BE9-A1C4-9DF9-EBE897F6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B69360-87C5-8315-B622-08C72E95D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E82922-7D9A-9C1B-7210-22EB01623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76D445-D6B7-2D80-687F-84001CA5F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15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C70FA-5BF8-7F54-6B1B-BD2EC674E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595F23-0D36-8111-F4F3-6927522EB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F5319A-C965-7076-D2FC-BA9FCC9DA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CF6028-D1F0-3EFE-8FEE-7B33F69F5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544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CA464-83AC-FFBC-2EE2-7C48FAC9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6323D1-40A3-C401-FE73-F128C2554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9773E7-6232-D3D2-BE94-B8A261664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203E51-A4F6-D15F-9DDC-0FACDC78B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2039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F07D2-A842-9B70-E5AF-57AA6FD8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5212DA-0127-BCB3-7804-26141ED15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EE1E856-DD7B-8761-C56C-6FA0ABDF3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6558E4-CE65-071B-9D6E-4E0E80204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8978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0908-72E9-62FC-20E3-59D23F23C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73E2AA-006B-09EE-9C68-9DC3346FD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EA00A4-E4F4-3353-4689-0A89E73CB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F03ABB-831D-30BF-CAB6-4C7FDE2CCE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8746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7FCA-04F0-F1CF-9E43-7394AA439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61814B-5807-E343-54E3-87ED36CB8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35E113-FFC7-4A28-ED66-AECFC95D4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C9F4F3-125D-AAB2-E757-B98150061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9549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B7B9D-9623-F7A4-51D8-5EB30BAD3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2FF287-B718-1FFB-4430-25A46EBFC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1516FDF-7F2B-3519-6A28-733B66137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B6653A-4600-BBD2-408D-07B6E6620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3446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FD24A-F7CB-58B7-3770-C6A36D2C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FE4A85-B29E-5851-1384-B90A15237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DB9C70-D542-182B-D20A-BDE791907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71F871-0C17-AEF2-4BB8-8A7ED85D7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650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AEB85-4CDC-1749-AC1D-36BE4C50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59A4C8-69A2-1440-F859-A06273091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5AC05D-9DD5-7F25-9B8F-1C4FD6B47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47708D-EE30-024F-C161-C480F29E61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6244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05728-BF2C-F09B-3AEE-D7D38F5E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C079EA-F931-4ABD-4AFF-3CF7AC4A8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FC7823-4AC8-C0CE-D306-C19D7E0AF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5E9B1C-D41A-1CAF-3279-C6D808B35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1837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D825-8D8A-D206-CE6A-5680C6D63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0ED299-9332-23CC-14D4-1A506FB35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64FB20-DD47-9800-CD88-A4D967690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9FF83C-DA28-BDFC-974D-5F28307F2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8852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DFFAB-9FFA-FF78-E1C5-45D4D258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5E4F18-6422-2928-AEC8-D6BA78D8E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8C739B3-8FBD-4E03-76BC-7DC97AF3C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8EFF31-BCBA-07EB-7541-2638A461A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6531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61A52-6D21-30B7-ED2E-385304122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ADD696-A44E-499A-0FEC-93DF4F387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8DEA205-6233-C932-4C7C-0E50DEDE0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4FB3EB-B15A-BAA1-DCB8-6DFCA81713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1276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79580-C8A7-A75C-8A87-18F2B44D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BFEBE8-4EB4-7D2B-0363-2C65B636E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E613DF-87F6-8459-DD67-E2F134E2F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96C7D0-D8EF-DBF6-B159-74AC81B57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7467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8C5FD-961C-589F-FFC8-24C34538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4C0920-01DC-E939-8A25-CACFFD05A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3102AD2-B940-3926-6B0A-0747FDC3B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67569B-2A15-5076-F94F-2C6E20C61F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0929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3000-9CF8-CB70-39D3-C1E3B751D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904CC0-A2BC-D16B-6497-BF63324BB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12B2D74-46C3-6AF3-3B35-24D0C7887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FC121F-E7A9-BB2F-D78B-48D64EBB33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29064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7FB3E-0FE9-FF50-2540-2898DF65D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FF45C87-B14C-52D8-53B8-A0195F32C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9C4D9E1-9E8D-7BCD-E282-92834D30A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D3B4F3-40AB-2441-0EE5-8C05C807F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59789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A2F6-AFE6-6A95-959B-B84A88A9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4C3911B-AEBD-4263-D60D-BB8A7067E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B6F589-90C8-0425-9CBB-F398DD50A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4FDAA8-F129-37D1-DA9C-BFDD0A9E0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05687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8678A-4D68-D1FB-BF09-9993FB9D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22BF612-0CC5-8D00-4909-A930CD784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16DCC1-27A3-0C1F-ED8E-3A983921E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50B080-08C1-F6C5-34C7-1C8E26D94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73445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34A88-7283-15D5-A7B1-6A35EA354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E1D066-5163-C9CA-D2BF-AB6E49004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FD65EB3-079D-9080-AB44-8B0B53AC1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C46D7E-491E-05D6-8D9A-E4DA54643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79568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 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662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FD61C-0A90-4B9A-A315-3352DD766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DF5D3-A263-4863-96AA-6D12D8E5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12CE5-C309-4B2D-BD10-0B7E82AB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1AD1E-A33A-461A-BED1-AAFF577C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513482-8FCA-43F3-ACFF-A812379D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148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6DE8B-6551-4B7F-B63E-815A6341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0A3D7-77B3-46D3-AE54-4F9D6BEA8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F2BFCD-DDD8-4F96-82E2-713C0873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40AEEB-1DA1-4197-96DA-AD62BE8B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690DF-3D9A-4C6A-AD36-5A24BB90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704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4D864-4966-49DA-B249-8501969A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3EA68D-43FF-4618-AB62-E544AE9DD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8C3B9-76FF-4222-99FB-9217B8D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BA531C-D6D2-49A3-91F5-6D96EA9A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A51F6-8B98-4630-BB14-C36D0F55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20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A0161-C576-4CEA-B1E9-8FA28523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F4BF3-C1AF-4910-9597-5A55AC439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48A99F-4AD1-4C69-9A10-919EB711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EB02A-C1AC-418C-A930-C585FF05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74E7B3-D0B5-433B-857E-25A13C04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4B8614-7433-45BC-8EC8-56E68443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77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A9C18-7D1B-4166-9AEE-545CA176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F95075-0256-468A-AD8F-A1F61BD0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B9E5E0-11B2-4B05-8789-85B0EE1F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901DD3-B34A-4DD8-97CA-E2987EF30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7AAD9E-A074-42CF-9F72-8E1E7DFC5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D3C18F-D681-4F6D-BE42-609E8839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EC7256-E19E-4965-8F6B-EFBABFAB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4FF0C1-9153-4A2B-8E4F-F4152A4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614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39F0E-B6B3-413D-B8D5-3EBC57D1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873099-B246-4157-B167-31A34CBF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9BD8DC-CF8D-421C-B582-E2834B32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83B244-BE08-415F-A652-086EC5A8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0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583E29-A1E4-4FC8-B85D-6BE7C231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6CF79B-BA17-4D6D-BA75-5945303F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90813B-FF99-42BE-A591-72FF118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257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F088D-2BE3-4F1B-987C-8B905E08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BA28C-FB6A-486F-B219-12DC3339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3A24BF-DD2F-442E-BB2E-79EB05656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195DAA-3224-49BF-B596-C1113FBB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C48EA5-0BD0-4552-BA61-0390B0F0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22A88C-7103-4730-8BB6-AF641F0D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425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E449A-69B1-4F86-96DA-B146C800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1A6C1D-C402-4DEF-8993-5ADD947C4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3F710F-DB16-4B8C-AD3D-F16A5E7BE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293B3C-6CA9-4BD6-91F2-9DBFEA73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81912F-C394-4F33-9CE7-44AD534C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308917-DFFC-4144-833E-8D05F22B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3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03DF0-44BB-459D-A838-EF8CDA87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7B1C5A-66F0-408C-BC62-0DA1AFF38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D2308-48DE-4E9C-9E15-BEFCC70A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0F8CE-545A-4BD0-895C-230FB50B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02F44-FB0E-4A1A-80B4-D8CEC3A2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741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0EC09-2B9E-40D2-93FB-147D12F01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58EEA2-F90F-4403-88FA-A9DF1626D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1CCB10-1A32-4DA2-B6B5-FCD7DDDC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64AA77-03F2-4456-AA16-C71D986C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0BDE9E-A2E7-4823-88CC-A641B66D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566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21/04/2026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contenido 2"/>
          <p:cNvSpPr>
            <a:spLocks noGrp="1"/>
          </p:cNvSpPr>
          <p:nvPr>
            <p:ph idx="13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defRPr sz="2800"/>
            </a:lvl1pPr>
            <a:lvl2pPr>
              <a:buClr>
                <a:srgbClr val="C00000"/>
              </a:buClr>
              <a:defRPr sz="2400"/>
            </a:lvl2pPr>
            <a:lvl3pPr>
              <a:buClr>
                <a:srgbClr val="C00000"/>
              </a:buClr>
              <a:defRPr sz="2000"/>
            </a:lvl3pPr>
            <a:lvl4pPr>
              <a:buClr>
                <a:srgbClr val="C00000"/>
              </a:buClr>
              <a:defRPr sz="1800"/>
            </a:lvl4pPr>
            <a:lvl5pPr>
              <a:buClr>
                <a:srgbClr val="C0000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106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409B45-06C2-4FB9-B509-A3427AB2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9B8760-EA6E-4D6E-B268-4352C5049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8343C-E792-4C94-A41E-2EF624E8F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AAD5A-6B54-414C-9F0A-B594F6AC7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33233-6333-443C-BD19-C54F679A2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274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83" y="2826327"/>
            <a:ext cx="10875818" cy="2227783"/>
          </a:xfrm>
          <a:prstGeom prst="rect">
            <a:avLst/>
          </a:prstGeom>
        </p:spPr>
      </p:pic>
      <p:sp>
        <p:nvSpPr>
          <p:cNvPr id="10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-16914"/>
            <a:ext cx="12192000" cy="35475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01" y="5803165"/>
            <a:ext cx="2745501" cy="940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3477"/>
            <a:ext cx="12192000" cy="331262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0600"/>
            <a:ext cx="3393948" cy="33274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5" y="1073299"/>
            <a:ext cx="2672079" cy="93379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050420"/>
            <a:ext cx="5303520" cy="281940"/>
          </a:xfrm>
          <a:prstGeom prst="rect">
            <a:avLst/>
          </a:prstGeom>
        </p:spPr>
      </p:pic>
      <p:pic>
        <p:nvPicPr>
          <p:cNvPr id="3" name="Imagen 2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5B34141F-EC2F-144F-8268-7D4182D95A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054" y="5356904"/>
            <a:ext cx="2971800" cy="10795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2FC531-FC77-0243-AE81-8F245A6FA785}"/>
              </a:ext>
            </a:extLst>
          </p:cNvPr>
          <p:cNvSpPr txBox="1"/>
          <p:nvPr/>
        </p:nvSpPr>
        <p:spPr>
          <a:xfrm>
            <a:off x="8616096" y="6468320"/>
            <a:ext cx="349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004C8B"/>
                </a:solidFill>
              </a:rPr>
              <a:t>INGENIERÍA CIVIL EN INFORMÁTICA</a:t>
            </a:r>
          </a:p>
        </p:txBody>
      </p:sp>
    </p:spTree>
    <p:extLst>
      <p:ext uri="{BB962C8B-B14F-4D97-AF65-F5344CB8AC3E}">
        <p14:creationId xmlns:p14="http://schemas.microsoft.com/office/powerpoint/2010/main" val="208229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171"/>
            <a:ext cx="12192000" cy="6890172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673" y="1073299"/>
            <a:ext cx="2672079" cy="93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CDB9F-67D5-C650-4F03-3371B694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C6EDD-E6FC-B5DB-D465-C228471BF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Diagrama de clases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F55B4DE5-40D4-2B10-5CCB-8022BCCC2D11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75BDB44-9E6F-F6B6-873B-7B3BEC531B3B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CBE4157-EDDA-DA8F-D77F-F7AE9AA9CEE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CA93F0E-614E-D21E-2BA0-1BD17D1BD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18B9C2A-F997-70F7-B84E-86813681C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88B1CCFF-6AC8-90D9-5F18-E1C24146726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Un diagrama de clases en UML es una representación gráfica que se utiliza para visualizar la estructura de un sistema.</a:t>
            </a:r>
          </a:p>
          <a:p>
            <a:pPr algn="just"/>
            <a:r>
              <a:rPr lang="es-MX" dirty="0"/>
              <a:t>Cada clase se representa con un rectángulo dividido en tres partes: el nombre de la clase, los atributos y los métodos.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6146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3D09-646E-341F-A451-3B0FEBF10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399DD-3689-6BC8-89F8-89F096E3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Elementos del diagrama de clase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EBF81EB2-9494-D7BB-0C37-F79A5F12103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53FF29D-D6C6-CE48-2122-6B1AB8704C74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2128AB4-A1DF-F2A2-40C3-58C0AABB6AC8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9C68866-06BA-82E5-B269-8A680059B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848691B-46EB-25D2-1E0A-E314C0AF3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0FEB6AAD-58EF-8A95-FB40-CBCD0278EEA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b="1" dirty="0"/>
              <a:t>Clase </a:t>
            </a:r>
            <a:r>
              <a:rPr lang="es-MX" dirty="0"/>
              <a:t>: Representada como un rectángulo dividido en tres secciones: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Nombre de la clase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Atributos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Métodos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FD5149-3B71-43B5-8F48-C46D40B0E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1993" y="3099781"/>
            <a:ext cx="3892813" cy="283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5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B17E-15C5-A965-3321-0EC60C38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E7552-E145-0836-13FE-2EC53742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Elementos del diagrama de clase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D7633071-FA07-7B7B-48C4-D2340E7910B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B102BF1-61AD-E6F6-E338-F2E7B3BE5C9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5EEDBB8-45DB-D51F-E01A-A03D0A4999A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CB140AC2-E62D-1F13-3601-EAC1AE5D2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2A76FBB-C9E1-1627-84CE-24D2CC2F6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22E68D58-EC33-61D9-5919-16B54FD6F62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CL" b="1" dirty="0"/>
              <a:t>Modificadores</a:t>
            </a:r>
          </a:p>
          <a:p>
            <a:pPr>
              <a:buNone/>
            </a:pPr>
            <a:r>
              <a:rPr lang="es-CL" dirty="0"/>
              <a:t>Símbolos utilizados para indicar modificadores de acceso para miembros de la clase: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+: Público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-: Privado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#: Protegido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/: Derivado (valor calculado o derivado)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~: Paquete (acceso predeterminado o a nivel de paquete)</a:t>
            </a:r>
          </a:p>
        </p:txBody>
      </p:sp>
    </p:spTree>
    <p:extLst>
      <p:ext uri="{BB962C8B-B14F-4D97-AF65-F5344CB8AC3E}">
        <p14:creationId xmlns:p14="http://schemas.microsoft.com/office/powerpoint/2010/main" val="390915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5FF6F-589A-F0F2-B98E-6127BF936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42165-98FE-7C3F-8767-E9EB8D57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Elementos del diagrama de clase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60D5DEB-71BA-64B7-8AA1-753E0B8E365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947C2B6-224E-6D6D-D7EC-1D8D3EABABEA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A37D6D5-A33E-E607-A33E-00EC8469E40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F07C9CF-3E1F-E398-90C5-0F53FD5DC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6646627-8C2A-5A61-112C-F769D70FA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8E27A3B5-85AD-4FC3-9EE7-005F0DDF6E4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b="1" dirty="0"/>
              <a:t>La relación de asociación simple</a:t>
            </a:r>
          </a:p>
          <a:p>
            <a:pPr>
              <a:buNone/>
            </a:pPr>
            <a:r>
              <a:rPr lang="es-MX" dirty="0"/>
              <a:t>Una asociación entre dos o más clases que están conectadas por una línea sólida simple.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F79D0C1-BF9A-1561-28EE-C0DAE5CAE0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567" y="3705001"/>
            <a:ext cx="5145319" cy="89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7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3245-04D2-AC44-7650-6801B7D39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3342C-6BA0-DAF6-4954-D7D15262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>
            <a:normAutofit fontScale="90000"/>
          </a:bodyPr>
          <a:lstStyle/>
          <a:p>
            <a:r>
              <a:rPr lang="es-MX" dirty="0"/>
              <a:t>Elementos del diagrama de clase</a:t>
            </a:r>
            <a:endParaRPr lang="es-CL" dirty="0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B049AC0A-5F2A-428E-838D-F0584488C42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0"/>
            <a:ext cx="10147069" cy="4525963"/>
          </a:xfrm>
        </p:spPr>
        <p:txBody>
          <a:bodyPr>
            <a:normAutofit/>
          </a:bodyPr>
          <a:lstStyle/>
          <a:p>
            <a:r>
              <a:rPr lang="es-MX" b="1" dirty="0"/>
              <a:t>La relación de asociación simple</a:t>
            </a:r>
          </a:p>
          <a:p>
            <a:pPr algn="just"/>
            <a:r>
              <a:rPr lang="es-MX" sz="2000" dirty="0">
                <a:effectLst/>
              </a:rPr>
              <a:t>La clase "Library" puede considerarse la clase fuente porque contiene una referencia a varias instancias de la clase "Book". Esta clase se consideraría la clase destino porque pertenece a una biblioteca específica.</a:t>
            </a:r>
          </a:p>
          <a:p>
            <a:endParaRPr lang="es-MX" sz="20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F3D588EF-5140-AE7D-4B74-9C9F4303F845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99E9875-79FB-CB28-E17F-1B0B8DCE798E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F42F536-BE39-FEB6-6770-73904A6CB643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5CDB804F-4E56-41C3-E352-6172B83A9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9B69B2C-1FFD-910B-D6D7-363ACA2AF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1B91426-B27D-D111-F15F-DA2FC699B6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7" r="11817"/>
          <a:stretch/>
        </p:blipFill>
        <p:spPr>
          <a:xfrm>
            <a:off x="3638939" y="3112951"/>
            <a:ext cx="4170783" cy="281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1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8D13-2CC9-CD6C-F433-0EE126B2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7E284-2681-A31D-0679-4F305EB12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>
            <a:normAutofit fontScale="90000"/>
          </a:bodyPr>
          <a:lstStyle/>
          <a:p>
            <a:r>
              <a:rPr lang="es-MX" dirty="0"/>
              <a:t>Elementos del diagrama de clase</a:t>
            </a:r>
            <a:endParaRPr lang="es-CL" dirty="0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A2BCE2A-0927-B1B3-1659-5C2E3C8271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0"/>
            <a:ext cx="1035239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/>
              <a:t>La relación de asociación dirigida</a:t>
            </a:r>
          </a:p>
          <a:p>
            <a:pPr algn="just"/>
            <a:r>
              <a:rPr lang="es-MX" sz="2000" dirty="0"/>
              <a:t>Consideremos un escenario donde una clase "Profesor" está asociada a una clase "Curso" en un sistema universitario. La flecha de asociación dirigida puede apuntar de la clase "Profesor" a la clase "Curso", lo que indica que un profesor está asociado con un curso específico o lo imparte.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98F1217D-04F2-43C0-C17E-DFAFD17E580D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BB542EC-0388-3A35-2AF7-55EFEB6E4426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98737A8-CF4A-AEA0-52E4-499A74409C4B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BCA270CE-2401-EBB3-6D0A-EAC6BB669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EA5D5FD-68B1-8DE3-3F2D-058827C393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D51B8E48-0744-19A9-031B-77F517D0AC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691" y="3075391"/>
            <a:ext cx="6683433" cy="334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92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DDDD2-9A9D-1375-6111-65D2800D8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DC31C-ABEB-874B-1952-8AC3DE1C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Elementos del diagrama de clase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E25386A-CB7A-260D-59DF-F1B7AF87145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F5DE584-7996-5BB4-A44D-06D616EF0ED5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8B2EA37-B309-4A97-DEEE-6BE68EDEDF0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C3BE988A-E964-34E7-26B0-F3D1FF257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74B139B-508B-45FD-92A9-1DE1A81CC2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A58C6B11-A67F-FBD1-C38D-BFA73F11DA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b="1" dirty="0"/>
              <a:t>La relación de </a:t>
            </a:r>
            <a:r>
              <a:rPr lang="es-CL" b="1" dirty="0">
                <a:effectLst/>
              </a:rPr>
              <a:t>Herencia</a:t>
            </a:r>
            <a:r>
              <a:rPr lang="es-CL" dirty="0">
                <a:effectLst/>
              </a:rPr>
              <a:t> (o generalización)</a:t>
            </a:r>
          </a:p>
          <a:p>
            <a:pPr>
              <a:buNone/>
            </a:pPr>
            <a:r>
              <a:rPr lang="es-MX" dirty="0"/>
              <a:t>Es un tipo de relación padre-hijo en la que un nivel tiene al menos una subclase. El hijo está conectado al padre a través de una línea sólida con una punta de flecha vacía.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6E6FCB-6A55-5040-9ADE-84E651ABF9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860" y="3429000"/>
            <a:ext cx="3291349" cy="281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01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9071D-78BC-D43F-8283-98CC91D6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74EAA-450D-3D4F-144B-F2B315B2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>
            <a:normAutofit fontScale="90000"/>
          </a:bodyPr>
          <a:lstStyle/>
          <a:p>
            <a:r>
              <a:rPr lang="es-MX" dirty="0"/>
              <a:t>Elementos del diagrama de clase</a:t>
            </a:r>
            <a:endParaRPr lang="es-CL" dirty="0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09607CEC-E97D-F287-B6AE-B3B24D02A7C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0"/>
            <a:ext cx="10097193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1" dirty="0"/>
              <a:t>La relación de </a:t>
            </a:r>
            <a:r>
              <a:rPr lang="es-CL" b="1" dirty="0">
                <a:effectLst/>
              </a:rPr>
              <a:t>Herencia</a:t>
            </a:r>
            <a:r>
              <a:rPr lang="es-CL" dirty="0">
                <a:effectLst/>
              </a:rPr>
              <a:t> (o generalización)</a:t>
            </a:r>
            <a:endParaRPr lang="es-MX" b="1" dirty="0"/>
          </a:p>
          <a:p>
            <a:pPr algn="just"/>
            <a:r>
              <a:rPr lang="es-MX" dirty="0"/>
              <a:t>En el ejemplo de las cuentas bancarias, podemos utilizar la generalización para representar diferentes tipos de cuentas, como cuentas corrientes, cuentas de ahorro y cuentas de crédito.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16E908D5-6374-B430-B028-80D39EAC231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8364B04-0EBB-45E8-33BC-5EB1B203C19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B2113EF-D4C9-34DF-1338-2FD1D48D243F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9D83044-D5D8-EEFC-8804-7BF464909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1BFED76-C129-ED30-24D5-CE8BF9640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5AFBB8F-CC5B-8419-F432-709F3A0629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9" r="5493"/>
          <a:stretch/>
        </p:blipFill>
        <p:spPr>
          <a:xfrm>
            <a:off x="3844212" y="3429000"/>
            <a:ext cx="3657600" cy="267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7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A8442-726F-46BD-6485-FD34F8DB1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7458E-9109-6B79-C626-F489F1E3F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Elementos del diagrama de clase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4F1C614-ADE2-697E-0A91-03722EECF876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F674DD5-49C2-2F92-A113-A69EA3179BE7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750F192-4B8C-CA5C-85DF-8B663D161FC8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A6420C0-D90A-7CF9-732D-CFEE0A1CD5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7656E85-3427-55A1-90AD-6397A9C714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B28E7319-F791-C4F1-F5C1-7946C5CC473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b="1" dirty="0"/>
              <a:t>La relación de agregación</a:t>
            </a:r>
          </a:p>
          <a:p>
            <a:pPr>
              <a:buNone/>
            </a:pPr>
            <a:r>
              <a:rPr lang="es-MX" dirty="0"/>
              <a:t>Tipo de relación en la que una clase forma parte de la otra. Algunas de las instancias que aparecen en una clase y están marcadas con * pueden asociarse a la otra clase. Una línea sólida une las dos clases con una punta de flecha en forma de diamante vacía conectada a la clase de compuesto.</a:t>
            </a:r>
          </a:p>
          <a:p>
            <a:pPr>
              <a:buNone/>
            </a:pPr>
            <a:endParaRPr lang="es-MX" dirty="0"/>
          </a:p>
          <a:p>
            <a:r>
              <a:rPr lang="es-MX" dirty="0"/>
              <a:t>La clase 2 es parte de la clase 1.</a:t>
            </a:r>
          </a:p>
          <a:p>
            <a:r>
              <a:rPr lang="es-MX" dirty="0"/>
              <a:t>Muchas instancias (indicadas por *) de Clase2 se pueden asociar con Clase1.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D41B455-7386-F674-B2AF-AE046366F8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881" y="4163352"/>
            <a:ext cx="5039754" cy="87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44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2780-7FFD-278C-2148-35AEAC4FE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AB0DD0-252E-5CC4-FB45-97DE90AF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>
            <a:normAutofit fontScale="90000"/>
          </a:bodyPr>
          <a:lstStyle/>
          <a:p>
            <a:r>
              <a:rPr lang="es-MX" dirty="0"/>
              <a:t>Elementos del diagrama de clase</a:t>
            </a:r>
            <a:endParaRPr lang="es-CL" dirty="0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4B14BC6F-F03D-EBDE-EA41-C842ACAC5E3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/>
              <a:t>La relación de agregación</a:t>
            </a:r>
          </a:p>
          <a:p>
            <a:pPr algn="just"/>
            <a:r>
              <a:rPr lang="es-MX" sz="2000" dirty="0"/>
              <a:t>La empresa puede considerarse como el todo, mientras que los empleados son las partes. Los empleados pertenecen a la empresa, y esta puede tener varios empleados. Sin embargo, si la empresa deja de existir, los empleados pueden seguir existiendo de forma independiente.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EB5655B9-8EB7-D5F3-DF72-A0C81E6871F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22FC6F9-ED55-3C3B-4876-1816FED9214B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D99A3A6-66B7-019C-50DA-4EB05E519A4B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09F26CA-A855-1CB3-115F-BB5881DD1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007A8F3-5FA1-9F9E-106F-5D86EF869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96448EF-E8BD-809F-2395-38D342874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459" y="3072780"/>
            <a:ext cx="6450676" cy="322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65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91C7-597E-13C4-D30E-CC4D8E98B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19B28-E5CE-2C3C-0E5C-CE6D44C67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Elementos del diagrama de clase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BB0B301-58AD-9477-A33F-9DB98C90AEA4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7B7C929-6E9D-B5C8-37AD-0EB15B56232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5449763-F56C-2E93-9615-5B2C8CAAC3E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04738C4-0DE8-36CE-8E98-3B378825A5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8EC7286-27A8-BEE4-B150-C63005778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986B5ABF-E429-B49A-4BC1-93032270494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b="1" dirty="0"/>
              <a:t>La relación de composición</a:t>
            </a:r>
          </a:p>
          <a:p>
            <a:pPr>
              <a:buNone/>
            </a:pPr>
            <a:r>
              <a:rPr lang="es-MX" dirty="0"/>
              <a:t>En este caso, las dos clases no pueden existir por sí solas y están conectadas por una línea que apunta a la clase compuesta con una punta de flecha en forma de diamante rellena.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dirty="0"/>
              <a:t>Los objetos de la clase 2 viven y mueren con la clase 1.</a:t>
            </a:r>
          </a:p>
          <a:p>
            <a:pPr>
              <a:buNone/>
            </a:pPr>
            <a:r>
              <a:rPr lang="es-MX" dirty="0"/>
              <a:t>La clase 2 no puede sostenerse por sí sola.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8028B8-AFE3-EC0B-82C1-4AF548E4FE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842" y="5076583"/>
            <a:ext cx="4687515" cy="81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627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B98AD-7359-8665-7803-0D839391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90620-B9A3-5ED8-6184-580594D3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>
            <a:normAutofit fontScale="90000"/>
          </a:bodyPr>
          <a:lstStyle/>
          <a:p>
            <a:r>
              <a:rPr lang="es-MX" dirty="0"/>
              <a:t>Elementos del diagrama de clase</a:t>
            </a:r>
            <a:endParaRPr lang="es-CL" dirty="0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15E2C2D6-688D-E61C-C9D7-2E512938A29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0"/>
            <a:ext cx="1035239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/>
              <a:t>La relación de composición</a:t>
            </a:r>
          </a:p>
          <a:p>
            <a:r>
              <a:rPr lang="es-MX" sz="2000" dirty="0"/>
              <a:t>Imagina una aplicación de agenda digital. La agenda es el todo, y cada entrada de contacto es una parte. Cada entrada de contacto es propiedad exclusiva de la agenda y está gestionada por ella. Si la agenda se elimina o destruye, también se eliminan todas las entradas asociadas.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25E23E17-0FE8-962D-1357-7C29FC9FCDED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98EBCF8-25C3-87FB-A319-E02B57127AA1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260A638-3843-69F3-BAAC-A2D7D202B4FB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023E80E-E333-6F2D-408A-F3F98B5AA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D9B26B4-3D5B-C090-2C4D-C82F806EC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9201E2F-6646-4FCD-DBE8-1C5DBE6B3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3108156"/>
            <a:ext cx="6248400" cy="31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249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B95F6-9C97-0537-9FF7-69A3C0AF9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AD7CA-A7AF-B609-CDA1-C47336AD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Elementos del diagrama de clase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5239600-6F9A-97DC-9DC5-841A83AFC14D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7E005AA-1128-A98A-296E-9093B9DAEC9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C13D471-8705-D52D-0F24-3EEFA4926CAE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E0C7555B-6A86-4F80-1B6A-813AABC94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4BC77DD-DDA8-2C64-F1A6-5250C789A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2D4C1ACC-DD83-9BBF-D108-748ACBED007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b="1" dirty="0"/>
              <a:t>La relación de dependencia</a:t>
            </a:r>
          </a:p>
          <a:p>
            <a:r>
              <a:rPr lang="es-MX" dirty="0"/>
              <a:t>Una línea discontinua con una punta de flecha abierta une dos clases.</a:t>
            </a:r>
          </a:p>
          <a:p>
            <a:endParaRPr lang="es-MX" dirty="0"/>
          </a:p>
          <a:p>
            <a:endParaRPr lang="es-MX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8A23BF8-E084-324C-1A56-C8D24DDCD5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110" y="3429000"/>
            <a:ext cx="5685720" cy="98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63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A17E9-80B4-38F5-7115-7097FD41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D2C12-E58F-2F1E-816B-9FE3F41D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Elementos del diagrama de clase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BE737009-81B2-3BD7-6342-F48F7B5D06E1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97C81CB-DC5B-909D-FBF3-C5A8DC9E47B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0E64C77-75B3-97AE-8460-7DE69F50313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B9802CC2-517A-2F74-21CC-43ED0FC52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6FB869E-5351-7688-64BB-26F8CE694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A5B4C054-D734-8F73-84DA-4637FBCE19F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sz="2000" b="1" dirty="0"/>
              <a:t>La relación de dependencia</a:t>
            </a:r>
          </a:p>
          <a:p>
            <a:r>
              <a:rPr lang="es-MX" sz="2000" dirty="0"/>
              <a:t>Clase Persona: Representa a una persona que lee un libro. La clase Persona depende de la clase Libro para acceder y leer el contenido.</a:t>
            </a:r>
          </a:p>
          <a:p>
            <a:r>
              <a:rPr lang="es-MX" sz="2000" dirty="0"/>
              <a:t>Clase Libro: Representa un libro que contiene contenido para ser leído por una persona. La clase Libro es independiente y puede existir sin la clase Persona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830C86F-80D0-629A-A4ED-70CB348610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870" y="3429000"/>
            <a:ext cx="5370022" cy="27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23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D0640-B834-8DCC-CCAF-83D9781CD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70B2A-2B38-E73C-8D8B-5B92F6FD5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Elementos del diagrama de clase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652D82DA-CBEF-558D-5884-757CD964F71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AC68B34-71BC-9A80-D4E5-28CC297901B1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C082DD0-D354-091A-58DB-C80BBDDF07D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7489B6FF-04EB-2099-3884-EDBAA10C2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55CA2A3-C044-AC26-8F21-9766CCFC9D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27E47DA7-5AB1-C676-8DF5-DB4171D4A7F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s-MX" b="1" dirty="0"/>
              <a:t>Multiplicidad</a:t>
            </a:r>
          </a:p>
          <a:p>
            <a:pPr algn="just"/>
            <a:r>
              <a:rPr lang="es-MX" dirty="0"/>
              <a:t>La multiplicidad representa el número de instancias. Estas instancias están asociadas una clase con otra clase. La multiplicidad se muestra como un rango (p. ej., 0..1, 1..*, etc.). Lo notará cerca del final de la línea de asociación.</a:t>
            </a:r>
          </a:p>
          <a:p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</a:rPr>
              <a:t>Exactamente uno: 1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</a:rPr>
              <a:t>Cero o uno: 0..1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</a:rPr>
              <a:t>Muchos: 0..* o *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</a:rPr>
              <a:t>Uno o más: 1..*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</a:rPr>
              <a:t>Número exacto, por ejemplo, 3, 4 o 6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</a:rPr>
              <a:t>O una relación compleja (por ejemplo, 0..1, 3..4, 6.*) significaría cualquier número de objetos distinto de 2 o 5.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9358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FAB27-5B90-1F53-EEF3-01ECE6268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FE2F1-F209-3A12-561D-5B7FAC3A6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Elementos del diagrama de clase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80CC17D3-BDD6-65CC-E799-3F2163CB43A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F24DB8B-4AB0-7113-38BC-BCFF9B1E411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BB327E2-529F-8E69-3D30-6BC2B4299AA6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A614FC2-C704-60F6-B98D-558BF0FE2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00EEC4C-879B-15C9-C029-1AE7867677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B58C9AB7-32DD-1F94-C43E-79A92C3A474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b="1" dirty="0"/>
              <a:t>Multiplicidad</a:t>
            </a:r>
          </a:p>
          <a:p>
            <a:pPr algn="just"/>
            <a:r>
              <a:rPr lang="es-MX" dirty="0"/>
              <a:t>Requisito: Un estudiante puede tomar muchos cursos y muchos estudiantes pueden estar inscritos en un curso.</a:t>
            </a:r>
          </a:p>
          <a:p>
            <a:pPr algn="just"/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7576E5-8279-E459-CE68-56AF022752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09" y="3607734"/>
            <a:ext cx="9081826" cy="146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70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FA4EF-4BA4-A24D-0972-B04C1F837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1764A-2671-1745-67C3-7B96D96D4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>
            <a:normAutofit/>
          </a:bodyPr>
          <a:lstStyle/>
          <a:p>
            <a:r>
              <a:rPr lang="es-MX" dirty="0"/>
              <a:t>Uso del diagrama de clase</a:t>
            </a:r>
            <a:endParaRPr lang="es-CL" dirty="0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6AB31182-A7E4-D410-A3F5-5EA6C45E84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0"/>
            <a:ext cx="10352394" cy="4525963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Los diagramas de clases muestran la estructura estática de un sistema de software, mostrando clases, atributos, métodos y relaciones.</a:t>
            </a:r>
          </a:p>
          <a:p>
            <a:pPr algn="just"/>
            <a:r>
              <a:rPr lang="es-MX" dirty="0"/>
              <a:t>Ayudan a visualizar y organizar los componentes del sistema, sirviendo como modelo para la implementación.</a:t>
            </a:r>
          </a:p>
          <a:p>
            <a:pPr algn="just"/>
            <a:r>
              <a:rPr lang="es-MX" dirty="0"/>
              <a:t>Fomentan las discusiones sobre el diseño del sistema, promoviendo una comprensión compartida entre los miembros del equipo.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E3FB231B-AD5A-313B-5A2D-F187E83DC28B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C1C0833-24F6-6C77-2E61-C146EE57142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CF8DB0A-6C3F-A245-D6B6-3BFC67558A5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6027616-228A-3010-B43C-8A5632F76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42971BA-FC04-BB66-EA50-666854E6F2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23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D60B-5D82-0561-94FB-FBC52690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AD14-F048-9539-BC4C-E9D7941F0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r>
              <a:rPr lang="es-MX" dirty="0"/>
              <a:t>Enunciado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DB746DCD-7B19-CE06-73A4-75A312D525B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D6F5218-5639-5C07-486C-A62ACBE91187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9B65D0C-ECF1-61CA-8DCD-A60CA6AC7667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6A9DC28B-71B4-E067-3349-800F49AF1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A761C5B-899F-3604-74BD-ECF7D38EA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8AB1E1D2-26B1-BD87-5841-63BC2AEA2F9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/>
          <a:lstStyle/>
          <a:p>
            <a:endParaRPr lang="es-MX" dirty="0"/>
          </a:p>
          <a:p>
            <a:pPr algn="just"/>
            <a:r>
              <a:rPr lang="es-MX" dirty="0"/>
              <a:t>Una biblioteca pública quiere desarrollar un sistema para gestionar los préstamos de libros. Cada libro tiene un título, un ISBN, un autor y una cantidad de ejemplares. Cada usuario de la biblioteca puede tomar prestado hasta 5 libros a la vez. El sistema debe registrar los préstamos, con la fecha de inicio, la fecha de devolución esperada y la fecha real de devolución (si ya fue devuelto).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1234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E2876-8CDD-FF1E-D593-1FA02D669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E5857-AA4A-1A07-20C8-D56B04CC0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r>
              <a:rPr lang="es-MX" dirty="0"/>
              <a:t>Enunciado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154B8519-FA96-3623-5F4A-C501BC1C7112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CB6CA0E-B851-FD0E-96AC-E32267D6DDE0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A5C1B3E-DB7B-D96B-3AC9-801FC8C45FCB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52A91DFD-AF72-6136-4712-D03F82564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1C1DF15-43BE-3537-F489-E240E129C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2BEA337D-60B8-B652-944D-2615802FEFB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>
              <a:buNone/>
            </a:pPr>
            <a:r>
              <a:rPr lang="es-MX" b="1" dirty="0"/>
              <a:t>Requerimientos Funcionales</a:t>
            </a:r>
          </a:p>
          <a:p>
            <a:pPr>
              <a:buFont typeface="+mj-lt"/>
              <a:buAutoNum type="arabicPeriod"/>
            </a:pPr>
            <a:r>
              <a:rPr lang="es-MX" dirty="0"/>
              <a:t>Registrar nuevos usuarios y libros.</a:t>
            </a:r>
          </a:p>
          <a:p>
            <a:pPr>
              <a:buFont typeface="+mj-lt"/>
              <a:buAutoNum type="arabicPeriod"/>
            </a:pPr>
            <a:r>
              <a:rPr lang="es-MX" dirty="0"/>
              <a:t>Permitir a los usuarios tomar libros en préstamo si tienen menos de 5 libros activos.</a:t>
            </a:r>
          </a:p>
          <a:p>
            <a:pPr>
              <a:buFont typeface="+mj-lt"/>
              <a:buAutoNum type="arabicPeriod"/>
            </a:pPr>
            <a:r>
              <a:rPr lang="es-MX" dirty="0"/>
              <a:t>Registrar la devolución de un libro.</a:t>
            </a:r>
          </a:p>
          <a:p>
            <a:pPr>
              <a:buFont typeface="+mj-lt"/>
              <a:buAutoNum type="arabicPeriod"/>
            </a:pPr>
            <a:r>
              <a:rPr lang="es-MX" dirty="0"/>
              <a:t>Consultar el estado de los préstamos (vigente, vencido, devuelto).</a:t>
            </a:r>
          </a:p>
        </p:txBody>
      </p:sp>
    </p:spTree>
    <p:extLst>
      <p:ext uri="{BB962C8B-B14F-4D97-AF65-F5344CB8AC3E}">
        <p14:creationId xmlns:p14="http://schemas.microsoft.com/office/powerpoint/2010/main" val="41764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8616-091D-8417-88DA-A1DFD9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33912-1C6C-4327-2B41-537D97CE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r>
              <a:rPr lang="es-MX" dirty="0"/>
              <a:t>Enunciado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FA3D0FE-BD9C-91A6-353B-EDE4127F226A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F7770C3-834F-C11A-C836-1D0C6697DD41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7D53E7DC-CF9D-22EC-CA79-2DB696A0733B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563A448-5FAD-2ABB-1782-6ACC65103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F06E4D-F49F-CBB1-C427-69441B28A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18B9718F-C266-2544-394F-539733EC3BE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>
              <a:buNone/>
            </a:pPr>
            <a:r>
              <a:rPr lang="es-MX" b="1" dirty="0"/>
              <a:t>Requerimientos No Funcionales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Interfaz amigable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Base de datos relacional</a:t>
            </a:r>
          </a:p>
        </p:txBody>
      </p:sp>
    </p:spTree>
    <p:extLst>
      <p:ext uri="{BB962C8B-B14F-4D97-AF65-F5344CB8AC3E}">
        <p14:creationId xmlns:p14="http://schemas.microsoft.com/office/powerpoint/2010/main" val="2575549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"/>
            <a:ext cx="12192000" cy="6430945"/>
          </a:xfrm>
          <a:prstGeom prst="rect">
            <a:avLst/>
          </a:prstGeom>
          <a:ln>
            <a:noFill/>
          </a:ln>
        </p:spPr>
      </p:pic>
      <p:sp>
        <p:nvSpPr>
          <p:cNvPr id="13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13618"/>
            <a:ext cx="5972452" cy="6417325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32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5688710"/>
            <a:ext cx="12192000" cy="11699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402" y="2951018"/>
            <a:ext cx="4282247" cy="149648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690"/>
            <a:ext cx="5966423" cy="1621108"/>
          </a:xfrm>
          <a:prstGeom prst="rect">
            <a:avLst/>
          </a:prstGeom>
        </p:spPr>
      </p:pic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6F54D0E-9772-4A28-255B-A44403E3D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4" y="4230126"/>
            <a:ext cx="4060054" cy="14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62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3744</TotalTime>
  <Words>1227</Words>
  <Application>Microsoft Office PowerPoint</Application>
  <PresentationFormat>Panorámica</PresentationFormat>
  <Paragraphs>133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Eurostile BoldExtendedTwo</vt:lpstr>
      <vt:lpstr>Tema de Office</vt:lpstr>
      <vt:lpstr>Presentación de PowerPoint</vt:lpstr>
      <vt:lpstr>Presentación de PowerPoint</vt:lpstr>
      <vt:lpstr>Diagrama de clases</vt:lpstr>
      <vt:lpstr>Elementos del diagrama de clase</vt:lpstr>
      <vt:lpstr>Elementos del diagrama de clase</vt:lpstr>
      <vt:lpstr>Elementos del diagrama de clase</vt:lpstr>
      <vt:lpstr>Elementos del diagrama de clase</vt:lpstr>
      <vt:lpstr>Elementos del diagrama de clase</vt:lpstr>
      <vt:lpstr>Elementos del diagrama de clase</vt:lpstr>
      <vt:lpstr>Elementos del diagrama de clase</vt:lpstr>
      <vt:lpstr>Elementos del diagrama de clase</vt:lpstr>
      <vt:lpstr>Elementos del diagrama de clase</vt:lpstr>
      <vt:lpstr>Elementos del diagrama de clase</vt:lpstr>
      <vt:lpstr>Elementos del diagrama de clase</vt:lpstr>
      <vt:lpstr>Elementos del diagrama de clase</vt:lpstr>
      <vt:lpstr>Elementos del diagrama de clase</vt:lpstr>
      <vt:lpstr>Elementos del diagrama de clase</vt:lpstr>
      <vt:lpstr>Elementos del diagrama de clase</vt:lpstr>
      <vt:lpstr>Uso del diagrama de clase</vt:lpstr>
      <vt:lpstr>Enunciado</vt:lpstr>
      <vt:lpstr>Enunciado</vt:lpstr>
      <vt:lpstr>Enunciado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Rodriguez</dc:creator>
  <cp:lastModifiedBy>Diego Supanta</cp:lastModifiedBy>
  <cp:revision>227</cp:revision>
  <dcterms:created xsi:type="dcterms:W3CDTF">2019-05-21T16:47:52Z</dcterms:created>
  <dcterms:modified xsi:type="dcterms:W3CDTF">2026-04-21T15:16:27Z</dcterms:modified>
</cp:coreProperties>
</file>